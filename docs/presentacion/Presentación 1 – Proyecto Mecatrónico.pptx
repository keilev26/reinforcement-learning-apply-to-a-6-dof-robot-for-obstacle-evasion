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Caleb Camargo y Leonardo Tupac. Presentamos nuestro proyecto: un planificador de movimiento para el brazo DOBOT Magician E6 que aprende a evitar obstáculos por refuerzo profundo, y que comparamos con los planificadores clásicos. Tiempo total previsto: 10 minutos.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Seguimos el formato del curso: situación y problema, estado del arte, justificación y objetivos, la solución con su metodología, el marco teórico, aplicaciones y viabilidad, cronograma y presupuesto, y por último el producto final y las conclusiones.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IFR contó unos 542 mil robots instalados en 2024 en el mundo, pero la mayoría va a grandes fábricas de producción en serie. En el Perú, PRODUCE registra unas 74 mil empresas metalmecánicas con más de 350 mil empleos; son pymes de alta variedad y bajo volumen. La IFR registraba solo 48 robots operativos en el Perú a fines de 2017; no hay una cifra más reciente, y ese dato lo citamos con esa reserva. El problema: cuando cambia un utillaje, hay que reprogramar el robot. Los proveedores estiman que la integración puede costar el triple del propio robot, pero esas cifras son de fabricantes.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general: limitada capacidad de los manipuladores de 6 grados de libertad para evitar obstáculos cuando cambia la celda, porque dependen de trayectorias fijas o de replanificar todo cada vez. La pregunta de ingeniería es qué consideraciones de diseño mecatrónico y de software hay que tener para un planificador reactivo basado en refuerzo en el DOBOT Magician E6, que reduzca el costo de reconfiguración.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Revisamos cuatro soluciones. RapidPlan y cuMotion son rápidas pero dependen de hardware propietario o de una GPU NVIDIA. RoboDK calcula rutas estáticas: si cambia el utillaje, hay que replanificar y reexportar. MoveIt con OMPL es abierto, pero replanifica desde cero y el tiempo es variable. Ninguna es una política aprendida ni mide cuánto se degrada ante geometrías nuevas. El robot del proyecto, el Magician E6, cuesta unos 6 995 dólares; en nuestro caso es prestado.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publicaciones revisadas, destacamos cuatro. Mao usa el mismo stack que nosotros, pero no compara con planificadores clásicos. Fidalgo hizo el benchmark más riguroso contra OMPL, pero su entorno no tiene obstáculos y sus propios autores reconocen que los clásicos conservan ventaja de adaptabilidad. Jurgenson trata la generalización, con entrada visual y sin OMPL. Liu usa un robot de 7 grados de libertad con un controlador intermedio. Ninguna reúne las cuatro cosas: es el vacío que ocupa el proyecto.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razones. Primero, permitir que la celda cambie sin que alguien reprograme el robot. Segundo, evitar licencias y GPU a bordo: todo es código abierto. Tercero, aportar una medición que falta en la literatura: cuánta variación geométrica tolera una política frente a OMPL. Cuarto, el proyecto obliga a resolver problemas de ingeniería reales: corregir el modelo del robot, diseñar la recompensa, entrenar con estabilidad y respetar el período de control de 30 milisegundos. Al ser simulación, no pone personas junto al robot; si se llevara a una celda real, aplicaría ISO 10218 y la ley peruana de seguridad y salud en el trabajo.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en positivo respecto al problema: desarrollar y evaluar un planificador reactivo basado en SAC para el Magician E6, que evite obstáculos de forma y posición variables en una celda de manufactura, y compararlo con los planificadores de OMPL en igualdad de condiciones. Tres ideas clave: evitar obstáculos variables, comparar de forma justa y medir hasta dónde generaliza.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objetivos específicos, cada uno con su indicador de logro. Los cuatro primeros ya están logrados: modelo del robot y celda, contrato de escenarios y métricas, línea base clásica medida y tres entrenamientos de un millón de pasos. El quinto, validar frente a OMPL y medir la generalización, está en curso; el sexto, el diseño electrónico de la integración con el controlador del E6, está pendiente. El método de validación es la prueba de Wilcoxon pareada con alfa de 0.05.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Funcionamiento paso a paso. Uno: el contrato de escenarios y la biblioteca CAD fijan la tarea, las métricas y las piezas de la celda. Dos: el generador compone las escenas. Tres: el entorno Gymnasium sobre PyBullet simula el E6 y entrega al agente 43 observaciones y una recompensa. Cuatro: el agente SAC responde con un incremento articular y se entrena en la PC con GPU. Cinco: las mismas escenas se planifican con MoveIt 2 y OMPL. Seis: un evaluador común calcula las cinco métricas para ambos métodos. Como trabajo adicional, fuera del alcance, la política se probaría en el E6 físico.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componentes principales. El robot es el Magician E6, de 6 grados de libertad no redundante; usamos el modelo oficial corregido. Entrenamos en PyBullet con Gymnasium y Stable-Baselines3, el mismo stack de la referencia directa. La línea base se mide con ROS 2, MoveIt 2, OMPL y Gazebo, un motor distinto, por eso hay que verificar la equivalencia. Elegimos SAC por su eficiencia de muestreo. Y el entrenamiento corre en una PC prestada con GTX 1080.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metodología tiene ocho etapas. Uno, el contrato experimental y las métricas. Dos, el modelo del robot y la celda. Tres, el entorno Gymnasium y el MDP. Cuatro, la línea base con MoveIt y OMPL. Cinco, el entrenamiento SAC con tres semillas. Seis, la evaluación, la generalización y la validación estadística, con Wilcoxon pareado. Siete, el diseño electrónico de la integración con el E6. Ocho, la ejecución en el robot físico, que queda como trabajo adicional. Hay un ciclo de retroalimentación entre evaluar y ajustar recompensa y muestreo.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Formulamos el problema como un proceso de decisión de Markov. El estado tiene 43 valores: posiciones articulares, el incremento anterior, el error de pose del efector y, para cada eslabón, la distancia y dirección al obstáculo más cercano. La acción son seis incrementos articulares acotados a 0.05 radianes cada 30 milisegundos, el período del controlador del E6. La recompensa combina progreso hacia la meta, orientación, un potencial de precisión, castigo por proximidad, suavidad y tiempo, con diez de premio por llegar y diez de castigo por chocar. Se maximiza el retorno descontado con gamma 0.99.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 es un método actor-crítico fuera de política que maximiza la recompensa más la entropía de la política, lo que favorece la exploración. Usa dos críticos y toma el mínimo para no sobreestimar el valor. El crítico minimiza el error cuadrático respecto al valor objetivo. El actor se entrena con reparametrización, con la acción como tangente hiperbólica de una media más ruido. La temperatura alfa se ajusta sola hacia una entropía objetivo de menos seis, la dimensión de la acción, y las redes objetivo se actualizan suavemente con tau 0.005. Los hiperparámetros son los estándar.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cinemática del E6 se obtiene con Denavit-Hartenberg. La manipulabilidad de Yoshikawa se anula en las singularidades; la de muñeca justifica que la acción sea un incremento articular acotado. El mapa muestra que las poses de recogida y depósito están en la zona fiable. La línea base usa RRT-Connect y LazyPRM de OMPL. Las cinco métricas son tasa de éxito, colisiones, longitud, tiempo y distancia mínima, y se comparan por pares con la prueba de Wilcoxon.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Aplicación directa: el abastecimiento de centros CNC y, en general, celdas con utillajes que cambian. Indirectas: un banco de pruebas y un marco de evaluación reutilizables para comparar planificadores, material docente y una base para trabajos con percepción real. Usuarios: pymes metalmecánicas de alta variedad, integradores de robots y laboratorios o escuelas de ingeniería. (15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viabilidad técnica se apoya en lo ya hecho: modelo del E6, entorno, línea base y tres entrenamientos. Resultados honestos: la mejor semilla llega a 87 por ciento de éxito en 100 escenas, pero la media de las tres semillas es 66 por ciento frente a 99 de RRT-Connect, y varía mucho entre semillas, de 43 a 87. En cambio, la política usa unas cinco veces menos cómputo, 19 milisegundos por episodio frente a 98, y deja más holgura a los obstáculos, 30 milímetros contra 4. Este es el punto de partida para mejorar el muestreo y la recompensa.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Económicamente, hasta hoy no hemos gastado nada: todo el equipo es prestado y el software es abierto. Socialmente, el proyecto abarata la automatización de producción variable y, al ser simulación, no pone personas junto al robot. Operativamente, hace falta una PC con GPU para entrenar, unas cuatro horas por corrida, y una CPU convencional para ejecutar la política. Descartamos Isaac Sim por su curva de aprendizaje, seguir con el UR5e porque no hay unidad física, y entrenar con demostraciones de OMPL para no comprometer la comparación.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cronograma cubre las 16 semanas. En verde lo realizado: el estado del arte, el diseño del modelo y la celda, la línea base, el entorno y el núcleo de entrenamiento. En ámbar lo que está en curso esta semana: la evaluación, el análisis de generalización y esta presentación. En gris lo pendiente: la segunda iteración del entrenamiento con mejor muestreo y recompensa, el diseño electrónico, la Presentación 2 en las semanas 11 y 12, el informe, y la presentación final en las semanas 15 y 16.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presupuesto: el robot, la PC de entrenamiento y la portátil son prestados o ya disponibles, y el software es de código abierto, así que el costo es cero. El único gasto previsto es la impresión de los entregables, estimado en 20 soles, que falta confirmar. La mano de obra de los dos estudiantes no se monetiza. Total invertido hasta hoy: cero; por invertir: unos 20 soles. (15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mismo diagrama, resaltando lo que se implementa en el curso: todo lo de simulación y la comparación, y dejando en gris el robot físico, que es trabajo adicional.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la metodología resaltada: las etapas uno a siete se realizan en el curso, y la ocho, el despliegue en el E6 físico, queda como trabajo adicional. El producto final es el conjunto de modelo, entorno, línea base, políticas evaluadas, demostración en vivo en simulación, diseño de la integración electrónica, informe y repositorio.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conclusiones de esta primera etapa. Uno, el problema es real y las soluciones comerciales dependen de licencias o GPU. Dos, ya tenemos la infraestructura completa: modelo, entorno, línea base y tres entrenamientos. Tres, con la formulación actual la política no iguala a OMPL: 66 por ciento de éxito frente a 99, con mucha variación entre semillas; a cambio usa unas cinco veces menos cómputo y deja más holgura. Cuatro, lo siguiente es mejorar el muestreo y la recompensa, validar con más escenas, diseñar la integración con el E6 y preparar la demostración. Gracias; quedamos atentos a sus preguntas.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principales, con autores y año. La lista completa en formato IEEE está en el informe técnico. Esta diapositiva no se expone, queda como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02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E24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06141"/>
            <a:ext cx="10566400" cy="4539059"/>
          </a:xfrm>
          <a:prstGeom prst="rect">
            <a:avLst/>
          </a:prstGeom>
          <a:noFill/>
          <a:ln/>
        </p:spPr>
        <p:txBody>
          <a:bodyPr wrap="square" lIns="0" tIns="0" rIns="0" bIns="0" rtlCol="0" anchor="t"/>
          <a:lstStyle>
            <a:lvl1pPr algn="l" indent="0" marL="0">
              <a:lnSpc>
                <a:spcPct val="140000"/>
              </a:lnSpc>
              <a:buNone/>
              <a:defRPr lang="en-US" sz="1600" dirty="0">
                <a:solidFill>
                  <a:srgbClr val="1E24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02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E24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06141"/>
            <a:ext cx="10566400" cy="4539059"/>
          </a:xfrm>
          <a:prstGeom prst="rect">
            <a:avLst/>
          </a:prstGeom>
          <a:noFill/>
          <a:ln/>
        </p:spPr>
        <p:txBody>
          <a:bodyPr wrap="square" lIns="0" tIns="0" rIns="0" bIns="0" rtlCol="0" anchor="t"/>
          <a:lstStyle>
            <a:lvl1pPr algn="l" indent="0" marL="0">
              <a:lnSpc>
                <a:spcPct val="140000"/>
              </a:lnSpc>
              <a:buNone/>
              <a:defRPr lang="en-US" sz="1600" dirty="0">
                <a:solidFill>
                  <a:srgbClr val="1E24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2.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7"/>
        </a:solidFill>
      </p:bgPr>
    </p:bg>
    <p:spTree>
      <p:nvGrpSpPr>
        <p:cNvPr id="1" name=""/>
        <p:cNvGrpSpPr/>
        <p:nvPr/>
      </p:nvGrpSpPr>
      <p:grpSpPr>
        <a:xfrm>
          <a:off x="0" y="0"/>
          <a:ext cx="0" cy="0"/>
          <a:chOff x="0" y="0"/>
          <a:chExt cx="0" cy="0"/>
        </a:xfrm>
      </p:grpSpPr>
      <p:pic>
        <p:nvPicPr>
          <p:cNvPr id="2" name="Image 0" descr="Escudo de la Universidad Nacional de Ingeniería">    </p:cNvPr>
          <p:cNvPicPr>
            <a:picLocks noChangeAspect="1"/>
          </p:cNvPicPr>
          <p:nvPr/>
        </p:nvPicPr>
        <p:blipFill>
          <a:blip r:embed="rId1"/>
          <a:srcRect l="-31" r="-31" t="0" b="0"/>
          <a:stretch/>
        </p:blipFill>
        <p:spPr>
          <a:xfrm>
            <a:off x="812800" y="1187450"/>
            <a:ext cx="3556000" cy="4330700"/>
          </a:xfrm>
          <a:prstGeom prst="rect">
            <a:avLst/>
          </a:prstGeom>
        </p:spPr>
      </p:pic>
      <p:sp>
        <p:nvSpPr>
          <p:cNvPr id="3" name="Text 0"/>
          <p:cNvSpPr/>
          <p:nvPr/>
        </p:nvSpPr>
        <p:spPr>
          <a:xfrm>
            <a:off x="4876800" y="1253034"/>
            <a:ext cx="6697472" cy="327620"/>
          </a:xfrm>
          <a:prstGeom prst="rect">
            <a:avLst/>
          </a:prstGeom>
          <a:noFill/>
          <a:ln/>
        </p:spPr>
        <p:txBody>
          <a:bodyPr wrap="square" lIns="0" tIns="0" rIns="0" bIns="0" rtlCol="0" anchor="t">
            <a:normAutofit/>
          </a:bodyPr>
          <a:lstStyle/>
          <a:p>
            <a:pPr algn="l" indent="0" marL="0">
              <a:lnSpc>
                <a:spcPts val="2380"/>
              </a:lnSpc>
              <a:buNone/>
            </a:pPr>
            <a:r>
              <a:rPr lang="en-US" sz="1700" b="1" spc="150" kern="0" dirty="0">
                <a:solidFill>
                  <a:srgbClr val="8A0000"/>
                </a:solidFill>
                <a:latin typeface="IBM Plex Sans" pitchFamily="34" charset="0"/>
                <a:ea typeface="IBM Plex Sans" pitchFamily="34" charset="-122"/>
                <a:cs typeface="IBM Plex Sans" pitchFamily="34" charset="-120"/>
              </a:rPr>
              <a:t>UNIVERSIDAD NACIONAL DE INGENIERÍA</a:t>
            </a:r>
            <a:endParaRPr lang="en-US" sz="1700" dirty="0"/>
          </a:p>
        </p:txBody>
      </p:sp>
      <p:sp>
        <p:nvSpPr>
          <p:cNvPr id="4" name="Text 1"/>
          <p:cNvSpPr/>
          <p:nvPr/>
        </p:nvSpPr>
        <p:spPr>
          <a:xfrm>
            <a:off x="4876800" y="1733054"/>
            <a:ext cx="669747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Facultad de Ingeniería Mecánica · Escuela Profesional de Ingeniería Mecatrónica</a:t>
            </a:r>
            <a:endParaRPr lang="en-US" sz="1300" dirty="0"/>
          </a:p>
        </p:txBody>
      </p:sp>
      <p:pic>
        <p:nvPicPr>
          <p:cNvPr id="5" name="Image 1" descr="line">    </p:cNvPr>
          <p:cNvPicPr>
            <a:picLocks noChangeAspect="1"/>
          </p:cNvPicPr>
          <p:nvPr/>
        </p:nvPicPr>
        <p:blipFill>
          <a:blip r:embed="rId2"/>
          <a:srcRect l="0" r="0" t="0" b="0"/>
          <a:stretch/>
        </p:blipFill>
        <p:spPr>
          <a:xfrm>
            <a:off x="4876800" y="2141934"/>
            <a:ext cx="1016000" cy="19050"/>
          </a:xfrm>
          <a:prstGeom prst="rect">
            <a:avLst/>
          </a:prstGeom>
        </p:spPr>
      </p:pic>
      <p:sp>
        <p:nvSpPr>
          <p:cNvPr id="6" name="Text 2"/>
          <p:cNvSpPr/>
          <p:nvPr>
            <p:ph type="title"/>
          </p:nvPr>
        </p:nvSpPr>
        <p:spPr>
          <a:xfrm>
            <a:off x="4876800" y="2338784"/>
            <a:ext cx="6697472" cy="2016720"/>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E2433"/>
                </a:solidFill>
                <a:latin typeface="Source Serif 4" pitchFamily="18" charset="0"/>
                <a:ea typeface="Source Serif 4" pitchFamily="18" charset="-122"/>
                <a:cs typeface="Source Serif 4" pitchFamily="18" charset="-120"/>
              </a:rPr>
              <a:t>Planificación de movimiento y evasión de obstáculos mediante aprendizaje por refuerzo profundo para un manipulador industrial de 6 GDL</a:t>
            </a:r>
            <a:endParaRPr lang="en-US" sz="2800" dirty="0"/>
          </a:p>
        </p:txBody>
      </p:sp>
      <p:sp>
        <p:nvSpPr>
          <p:cNvPr id="7" name="Text 3"/>
          <p:cNvSpPr/>
          <p:nvPr/>
        </p:nvSpPr>
        <p:spPr>
          <a:xfrm>
            <a:off x="4876800" y="4507905"/>
            <a:ext cx="66974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3"/>
                </a:solidFill>
                <a:latin typeface="IBM Plex Sans" pitchFamily="34" charset="0"/>
                <a:ea typeface="IBM Plex Sans" pitchFamily="34" charset="-122"/>
                <a:cs typeface="IBM Plex Sans" pitchFamily="34" charset="-120"/>
              </a:rPr>
              <a:t>Presentación 1 · MT818 Proyecto Mecatrónico · Sección A · 2026-2</a:t>
            </a:r>
            <a:endParaRPr lang="en-US" sz="1400" dirty="0"/>
          </a:p>
        </p:txBody>
      </p:sp>
      <p:sp>
        <p:nvSpPr>
          <p:cNvPr id="8" name="Text 4"/>
          <p:cNvSpPr/>
          <p:nvPr/>
        </p:nvSpPr>
        <p:spPr>
          <a:xfrm>
            <a:off x="4876800" y="4934545"/>
            <a:ext cx="669747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3"/>
                </a:solidFill>
                <a:latin typeface="IBM Plex Sans" pitchFamily="34" charset="0"/>
                <a:ea typeface="IBM Plex Sans" pitchFamily="34" charset="-122"/>
                <a:cs typeface="IBM Plex Sans" pitchFamily="34" charset="-120"/>
              </a:rPr>
              <a:t>Caleb Camargo Saavedra · Luis Leonardo Tupac Vásquez Cabrera</a:t>
            </a:r>
            <a:endParaRPr lang="en-US" sz="1400" dirty="0"/>
          </a:p>
        </p:txBody>
      </p:sp>
      <p:sp>
        <p:nvSpPr>
          <p:cNvPr id="9" name="Text 5"/>
          <p:cNvSpPr/>
          <p:nvPr/>
        </p:nvSpPr>
        <p:spPr>
          <a:xfrm>
            <a:off x="4876800" y="5221486"/>
            <a:ext cx="669747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Profesor: Ing. José Oliden Martínez · Octubre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TEMAS</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Lo que vamos a presentar</a:t>
            </a:r>
            <a:endParaRPr lang="en-US" sz="2800" dirty="0"/>
          </a:p>
        </p:txBody>
      </p:sp>
      <p:sp>
        <p:nvSpPr>
          <p:cNvPr id="4" name="Shape 2"/>
          <p:cNvSpPr/>
          <p:nvPr/>
        </p:nvSpPr>
        <p:spPr>
          <a:xfrm>
            <a:off x="815975" y="1433116"/>
            <a:ext cx="2520950" cy="1352550"/>
          </a:xfrm>
          <a:prstGeom prst="roundRect">
            <a:avLst>
              <a:gd name="adj" fmla="val 7277"/>
            </a:avLst>
          </a:prstGeom>
          <a:solidFill>
            <a:srgbClr val="FFFFFF"/>
          </a:solidFill>
          <a:ln w="6350">
            <a:solidFill>
              <a:srgbClr val="E3DFD6"/>
            </a:solidFill>
            <a:prstDash val="solid"/>
          </a:ln>
        </p:spPr>
      </p:sp>
      <p:sp>
        <p:nvSpPr>
          <p:cNvPr id="5" name="Text 3"/>
          <p:cNvSpPr/>
          <p:nvPr/>
        </p:nvSpPr>
        <p:spPr>
          <a:xfrm>
            <a:off x="1022350" y="1639491"/>
            <a:ext cx="217144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1</a:t>
            </a:r>
            <a:endParaRPr lang="en-US" sz="3200" dirty="0"/>
          </a:p>
        </p:txBody>
      </p:sp>
      <p:sp>
        <p:nvSpPr>
          <p:cNvPr id="6" name="Text 4"/>
          <p:cNvSpPr/>
          <p:nvPr/>
        </p:nvSpPr>
        <p:spPr>
          <a:xfrm>
            <a:off x="1022350" y="21220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Situación y problema</a:t>
            </a:r>
            <a:endParaRPr lang="en-US" sz="1500" dirty="0"/>
          </a:p>
        </p:txBody>
      </p:sp>
      <p:sp>
        <p:nvSpPr>
          <p:cNvPr id="7" name="Shape 5"/>
          <p:cNvSpPr/>
          <p:nvPr/>
        </p:nvSpPr>
        <p:spPr>
          <a:xfrm>
            <a:off x="3495675" y="1433116"/>
            <a:ext cx="2520950" cy="1352550"/>
          </a:xfrm>
          <a:prstGeom prst="roundRect">
            <a:avLst>
              <a:gd name="adj" fmla="val 7277"/>
            </a:avLst>
          </a:prstGeom>
          <a:solidFill>
            <a:srgbClr val="FFFFFF"/>
          </a:solidFill>
          <a:ln w="6350">
            <a:solidFill>
              <a:srgbClr val="E3DFD6"/>
            </a:solidFill>
            <a:prstDash val="solid"/>
          </a:ln>
        </p:spPr>
      </p:sp>
      <p:sp>
        <p:nvSpPr>
          <p:cNvPr id="8" name="Text 6"/>
          <p:cNvSpPr/>
          <p:nvPr/>
        </p:nvSpPr>
        <p:spPr>
          <a:xfrm>
            <a:off x="3702050" y="1639491"/>
            <a:ext cx="217144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2</a:t>
            </a:r>
            <a:endParaRPr lang="en-US" sz="3200" dirty="0"/>
          </a:p>
        </p:txBody>
      </p:sp>
      <p:sp>
        <p:nvSpPr>
          <p:cNvPr id="9" name="Text 7"/>
          <p:cNvSpPr/>
          <p:nvPr/>
        </p:nvSpPr>
        <p:spPr>
          <a:xfrm>
            <a:off x="3702050" y="21220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Estado del arte</a:t>
            </a:r>
            <a:endParaRPr lang="en-US" sz="1500" dirty="0"/>
          </a:p>
        </p:txBody>
      </p:sp>
      <p:sp>
        <p:nvSpPr>
          <p:cNvPr id="10" name="Shape 8"/>
          <p:cNvSpPr/>
          <p:nvPr/>
        </p:nvSpPr>
        <p:spPr>
          <a:xfrm>
            <a:off x="6175375" y="1433116"/>
            <a:ext cx="2520950" cy="1352550"/>
          </a:xfrm>
          <a:prstGeom prst="roundRect">
            <a:avLst>
              <a:gd name="adj" fmla="val 7277"/>
            </a:avLst>
          </a:prstGeom>
          <a:solidFill>
            <a:srgbClr val="FFFFFF"/>
          </a:solidFill>
          <a:ln w="6350">
            <a:solidFill>
              <a:srgbClr val="E3DFD6"/>
            </a:solidFill>
            <a:prstDash val="solid"/>
          </a:ln>
        </p:spPr>
      </p:sp>
      <p:sp>
        <p:nvSpPr>
          <p:cNvPr id="11" name="Text 9"/>
          <p:cNvSpPr/>
          <p:nvPr/>
        </p:nvSpPr>
        <p:spPr>
          <a:xfrm>
            <a:off x="6381750" y="1639491"/>
            <a:ext cx="217144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3</a:t>
            </a:r>
            <a:endParaRPr lang="en-US" sz="3200" dirty="0"/>
          </a:p>
        </p:txBody>
      </p:sp>
      <p:sp>
        <p:nvSpPr>
          <p:cNvPr id="12" name="Text 10"/>
          <p:cNvSpPr/>
          <p:nvPr/>
        </p:nvSpPr>
        <p:spPr>
          <a:xfrm>
            <a:off x="6381750" y="2122091"/>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Justificación y objetivos</a:t>
            </a:r>
            <a:endParaRPr lang="en-US" sz="1500" dirty="0"/>
          </a:p>
        </p:txBody>
      </p:sp>
      <p:sp>
        <p:nvSpPr>
          <p:cNvPr id="13" name="Shape 11"/>
          <p:cNvSpPr/>
          <p:nvPr/>
        </p:nvSpPr>
        <p:spPr>
          <a:xfrm>
            <a:off x="8855075" y="1433116"/>
            <a:ext cx="2520950" cy="1352550"/>
          </a:xfrm>
          <a:prstGeom prst="roundRect">
            <a:avLst>
              <a:gd name="adj" fmla="val 7277"/>
            </a:avLst>
          </a:prstGeom>
          <a:solidFill>
            <a:srgbClr val="FFFFFF"/>
          </a:solidFill>
          <a:ln w="6350">
            <a:solidFill>
              <a:srgbClr val="E3DFD6"/>
            </a:solidFill>
            <a:prstDash val="solid"/>
          </a:ln>
        </p:spPr>
      </p:sp>
      <p:sp>
        <p:nvSpPr>
          <p:cNvPr id="14" name="Text 12"/>
          <p:cNvSpPr/>
          <p:nvPr/>
        </p:nvSpPr>
        <p:spPr>
          <a:xfrm>
            <a:off x="9061450" y="1639491"/>
            <a:ext cx="217144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4</a:t>
            </a:r>
            <a:endParaRPr lang="en-US" sz="3200" dirty="0"/>
          </a:p>
        </p:txBody>
      </p:sp>
      <p:sp>
        <p:nvSpPr>
          <p:cNvPr id="15" name="Text 13"/>
          <p:cNvSpPr/>
          <p:nvPr/>
        </p:nvSpPr>
        <p:spPr>
          <a:xfrm>
            <a:off x="9061450" y="2122091"/>
            <a:ext cx="2311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Solución y metodología</a:t>
            </a:r>
            <a:endParaRPr lang="en-US" sz="1500" dirty="0"/>
          </a:p>
        </p:txBody>
      </p:sp>
      <p:sp>
        <p:nvSpPr>
          <p:cNvPr id="16" name="Shape 14"/>
          <p:cNvSpPr/>
          <p:nvPr/>
        </p:nvSpPr>
        <p:spPr>
          <a:xfrm>
            <a:off x="815975" y="2944416"/>
            <a:ext cx="2520950" cy="1352550"/>
          </a:xfrm>
          <a:prstGeom prst="roundRect">
            <a:avLst>
              <a:gd name="adj" fmla="val 7277"/>
            </a:avLst>
          </a:prstGeom>
          <a:solidFill>
            <a:srgbClr val="FFFFFF"/>
          </a:solidFill>
          <a:ln w="6350">
            <a:solidFill>
              <a:srgbClr val="E3DFD6"/>
            </a:solidFill>
            <a:prstDash val="solid"/>
          </a:ln>
        </p:spPr>
      </p:sp>
      <p:sp>
        <p:nvSpPr>
          <p:cNvPr id="17" name="Text 15"/>
          <p:cNvSpPr/>
          <p:nvPr/>
        </p:nvSpPr>
        <p:spPr>
          <a:xfrm>
            <a:off x="1022350" y="3150791"/>
            <a:ext cx="217144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5</a:t>
            </a:r>
            <a:endParaRPr lang="en-US" sz="3200" dirty="0"/>
          </a:p>
        </p:txBody>
      </p:sp>
      <p:sp>
        <p:nvSpPr>
          <p:cNvPr id="18" name="Text 16"/>
          <p:cNvSpPr/>
          <p:nvPr/>
        </p:nvSpPr>
        <p:spPr>
          <a:xfrm>
            <a:off x="1022350" y="36333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Marco teórico</a:t>
            </a:r>
            <a:endParaRPr lang="en-US" sz="1500" dirty="0"/>
          </a:p>
        </p:txBody>
      </p:sp>
      <p:sp>
        <p:nvSpPr>
          <p:cNvPr id="19" name="Shape 17"/>
          <p:cNvSpPr/>
          <p:nvPr/>
        </p:nvSpPr>
        <p:spPr>
          <a:xfrm>
            <a:off x="3495675" y="2944416"/>
            <a:ext cx="2520950" cy="1352550"/>
          </a:xfrm>
          <a:prstGeom prst="roundRect">
            <a:avLst>
              <a:gd name="adj" fmla="val 7277"/>
            </a:avLst>
          </a:prstGeom>
          <a:solidFill>
            <a:srgbClr val="FFFFFF"/>
          </a:solidFill>
          <a:ln w="6350">
            <a:solidFill>
              <a:srgbClr val="E3DFD6"/>
            </a:solidFill>
            <a:prstDash val="solid"/>
          </a:ln>
        </p:spPr>
      </p:sp>
      <p:sp>
        <p:nvSpPr>
          <p:cNvPr id="20" name="Text 18"/>
          <p:cNvSpPr/>
          <p:nvPr/>
        </p:nvSpPr>
        <p:spPr>
          <a:xfrm>
            <a:off x="3702050" y="3150791"/>
            <a:ext cx="217144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6</a:t>
            </a:r>
            <a:endParaRPr lang="en-US" sz="3200" dirty="0"/>
          </a:p>
        </p:txBody>
      </p:sp>
      <p:sp>
        <p:nvSpPr>
          <p:cNvPr id="21" name="Text 19"/>
          <p:cNvSpPr/>
          <p:nvPr/>
        </p:nvSpPr>
        <p:spPr>
          <a:xfrm>
            <a:off x="3702050" y="3633391"/>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Aplicaciones y viabilidad</a:t>
            </a:r>
            <a:endParaRPr lang="en-US" sz="1500" dirty="0"/>
          </a:p>
        </p:txBody>
      </p:sp>
      <p:sp>
        <p:nvSpPr>
          <p:cNvPr id="22" name="Shape 20"/>
          <p:cNvSpPr/>
          <p:nvPr/>
        </p:nvSpPr>
        <p:spPr>
          <a:xfrm>
            <a:off x="6175375" y="2944416"/>
            <a:ext cx="2520950" cy="1352550"/>
          </a:xfrm>
          <a:prstGeom prst="roundRect">
            <a:avLst>
              <a:gd name="adj" fmla="val 7277"/>
            </a:avLst>
          </a:prstGeom>
          <a:solidFill>
            <a:srgbClr val="FFFFFF"/>
          </a:solidFill>
          <a:ln w="6350">
            <a:solidFill>
              <a:srgbClr val="E3DFD6"/>
            </a:solidFill>
            <a:prstDash val="solid"/>
          </a:ln>
        </p:spPr>
      </p:sp>
      <p:sp>
        <p:nvSpPr>
          <p:cNvPr id="23" name="Text 21"/>
          <p:cNvSpPr/>
          <p:nvPr/>
        </p:nvSpPr>
        <p:spPr>
          <a:xfrm>
            <a:off x="6381750" y="3150791"/>
            <a:ext cx="217144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7</a:t>
            </a:r>
            <a:endParaRPr lang="en-US" sz="3200" dirty="0"/>
          </a:p>
        </p:txBody>
      </p:sp>
      <p:sp>
        <p:nvSpPr>
          <p:cNvPr id="24" name="Text 22"/>
          <p:cNvSpPr/>
          <p:nvPr/>
        </p:nvSpPr>
        <p:spPr>
          <a:xfrm>
            <a:off x="6381750" y="3633391"/>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Cronograma y presupuesto</a:t>
            </a:r>
            <a:endParaRPr lang="en-US" sz="1500" dirty="0"/>
          </a:p>
        </p:txBody>
      </p:sp>
      <p:sp>
        <p:nvSpPr>
          <p:cNvPr id="25" name="Shape 23"/>
          <p:cNvSpPr/>
          <p:nvPr/>
        </p:nvSpPr>
        <p:spPr>
          <a:xfrm>
            <a:off x="8855075" y="2944416"/>
            <a:ext cx="2520950" cy="1352550"/>
          </a:xfrm>
          <a:prstGeom prst="roundRect">
            <a:avLst>
              <a:gd name="adj" fmla="val 7277"/>
            </a:avLst>
          </a:prstGeom>
          <a:solidFill>
            <a:srgbClr val="FFFFFF"/>
          </a:solidFill>
          <a:ln w="6350">
            <a:solidFill>
              <a:srgbClr val="E3DFD6"/>
            </a:solidFill>
            <a:prstDash val="solid"/>
          </a:ln>
        </p:spPr>
      </p:sp>
      <p:sp>
        <p:nvSpPr>
          <p:cNvPr id="26" name="Text 24"/>
          <p:cNvSpPr/>
          <p:nvPr/>
        </p:nvSpPr>
        <p:spPr>
          <a:xfrm>
            <a:off x="9061450" y="3150791"/>
            <a:ext cx="217144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8</a:t>
            </a:r>
            <a:endParaRPr lang="en-US" sz="3200" dirty="0"/>
          </a:p>
        </p:txBody>
      </p:sp>
      <p:sp>
        <p:nvSpPr>
          <p:cNvPr id="27" name="Text 25"/>
          <p:cNvSpPr/>
          <p:nvPr/>
        </p:nvSpPr>
        <p:spPr>
          <a:xfrm>
            <a:off x="9061450" y="3633391"/>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Producto final y conclusiones</a:t>
            </a:r>
            <a:endParaRPr lang="en-US" sz="15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29" name="Text 27"/>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2</a:t>
            </a:r>
            <a:endParaRPr lang="en-US" sz="1200" dirty="0"/>
          </a:p>
        </p:txBody>
      </p:sp>
      <p:pic>
        <p:nvPicPr>
          <p:cNvPr id="30" name="Image 0" descr="Escudo UNI">    </p:cNvPr>
          <p:cNvPicPr>
            <a:picLocks noChangeAspect="1"/>
          </p:cNvPicPr>
          <p:nvPr/>
        </p:nvPicPr>
        <p:blipFill>
          <a:blip r:embed="rId1"/>
          <a:srcRect l="0" r="0" t="-499" b="-499"/>
          <a:stretch/>
        </p:blipFill>
        <p:spPr>
          <a:xfrm>
            <a:off x="11049000" y="6146800"/>
            <a:ext cx="330200" cy="406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1 · SITUACIÓN PROBLEMÁTICA</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La automatización crece, pero no llega a la alta variedad</a:t>
            </a:r>
            <a:endParaRPr lang="en-US" sz="2800" dirty="0"/>
          </a:p>
        </p:txBody>
      </p:sp>
      <p:sp>
        <p:nvSpPr>
          <p:cNvPr id="4" name="Shape 2"/>
          <p:cNvSpPr/>
          <p:nvPr/>
        </p:nvSpPr>
        <p:spPr>
          <a:xfrm>
            <a:off x="815975" y="1407716"/>
            <a:ext cx="3041650" cy="1281311"/>
          </a:xfrm>
          <a:prstGeom prst="roundRect">
            <a:avLst>
              <a:gd name="adj" fmla="val 7682"/>
            </a:avLst>
          </a:prstGeom>
          <a:solidFill>
            <a:srgbClr val="FFFFFF"/>
          </a:solidFill>
          <a:ln w="6350">
            <a:solidFill>
              <a:srgbClr val="E3DFD6"/>
            </a:solidFill>
            <a:prstDash val="solid"/>
          </a:ln>
        </p:spPr>
      </p:sp>
      <p:sp>
        <p:nvSpPr>
          <p:cNvPr id="5" name="Text 3"/>
          <p:cNvSpPr/>
          <p:nvPr/>
        </p:nvSpPr>
        <p:spPr>
          <a:xfrm>
            <a:off x="996950" y="1588691"/>
            <a:ext cx="276009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542 000</a:t>
            </a:r>
            <a:endParaRPr lang="en-US" sz="3200" dirty="0"/>
          </a:p>
        </p:txBody>
      </p:sp>
      <p:sp>
        <p:nvSpPr>
          <p:cNvPr id="6" name="Text 4"/>
          <p:cNvSpPr/>
          <p:nvPr/>
        </p:nvSpPr>
        <p:spPr>
          <a:xfrm>
            <a:off x="996950" y="2045891"/>
            <a:ext cx="27600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robots industriales instalados en 2024 (IFR)</a:t>
            </a:r>
            <a:endParaRPr lang="en-US" sz="1300" dirty="0"/>
          </a:p>
        </p:txBody>
      </p:sp>
      <p:sp>
        <p:nvSpPr>
          <p:cNvPr id="7" name="Shape 5"/>
          <p:cNvSpPr/>
          <p:nvPr/>
        </p:nvSpPr>
        <p:spPr>
          <a:xfrm>
            <a:off x="4016375" y="1407716"/>
            <a:ext cx="3041650" cy="1281311"/>
          </a:xfrm>
          <a:prstGeom prst="roundRect">
            <a:avLst>
              <a:gd name="adj" fmla="val 7682"/>
            </a:avLst>
          </a:prstGeom>
          <a:solidFill>
            <a:srgbClr val="FFFFFF"/>
          </a:solidFill>
          <a:ln w="6350">
            <a:solidFill>
              <a:srgbClr val="E3DFD6"/>
            </a:solidFill>
            <a:prstDash val="solid"/>
          </a:ln>
        </p:spPr>
      </p:sp>
      <p:sp>
        <p:nvSpPr>
          <p:cNvPr id="8" name="Text 6"/>
          <p:cNvSpPr/>
          <p:nvPr/>
        </p:nvSpPr>
        <p:spPr>
          <a:xfrm>
            <a:off x="4197350" y="1588691"/>
            <a:ext cx="276009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74 000</a:t>
            </a:r>
            <a:endParaRPr lang="en-US" sz="3200" dirty="0"/>
          </a:p>
        </p:txBody>
      </p:sp>
      <p:sp>
        <p:nvSpPr>
          <p:cNvPr id="9" name="Text 7"/>
          <p:cNvSpPr/>
          <p:nvPr/>
        </p:nvSpPr>
        <p:spPr>
          <a:xfrm>
            <a:off x="4197350" y="2045891"/>
            <a:ext cx="27600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empresas metalmecánicas en el Perú (PRODUCE)</a:t>
            </a:r>
            <a:endParaRPr lang="en-US" sz="1300" dirty="0"/>
          </a:p>
        </p:txBody>
      </p:sp>
      <p:sp>
        <p:nvSpPr>
          <p:cNvPr id="10" name="Shape 8"/>
          <p:cNvSpPr/>
          <p:nvPr/>
        </p:nvSpPr>
        <p:spPr>
          <a:xfrm>
            <a:off x="815975" y="2847777"/>
            <a:ext cx="3041650" cy="1281311"/>
          </a:xfrm>
          <a:prstGeom prst="roundRect">
            <a:avLst>
              <a:gd name="adj" fmla="val 7682"/>
            </a:avLst>
          </a:prstGeom>
          <a:solidFill>
            <a:srgbClr val="FFFFFF"/>
          </a:solidFill>
          <a:ln w="6350">
            <a:solidFill>
              <a:srgbClr val="E3DFD6"/>
            </a:solidFill>
            <a:prstDash val="solid"/>
          </a:ln>
        </p:spPr>
      </p:sp>
      <p:sp>
        <p:nvSpPr>
          <p:cNvPr id="11" name="Text 9"/>
          <p:cNvSpPr/>
          <p:nvPr/>
        </p:nvSpPr>
        <p:spPr>
          <a:xfrm>
            <a:off x="996950" y="3028752"/>
            <a:ext cx="276009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350 000</a:t>
            </a:r>
            <a:endParaRPr lang="en-US" sz="3200" dirty="0"/>
          </a:p>
        </p:txBody>
      </p:sp>
      <p:sp>
        <p:nvSpPr>
          <p:cNvPr id="12" name="Text 10"/>
          <p:cNvSpPr/>
          <p:nvPr/>
        </p:nvSpPr>
        <p:spPr>
          <a:xfrm>
            <a:off x="996950" y="3485952"/>
            <a:ext cx="27600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empleos del sector, más del 9 % del PBI manufacturero</a:t>
            </a:r>
            <a:endParaRPr lang="en-US" sz="1300" dirty="0"/>
          </a:p>
        </p:txBody>
      </p:sp>
      <p:sp>
        <p:nvSpPr>
          <p:cNvPr id="13" name="Shape 11"/>
          <p:cNvSpPr/>
          <p:nvPr/>
        </p:nvSpPr>
        <p:spPr>
          <a:xfrm>
            <a:off x="4016375" y="2847777"/>
            <a:ext cx="3041650" cy="1281311"/>
          </a:xfrm>
          <a:prstGeom prst="roundRect">
            <a:avLst>
              <a:gd name="adj" fmla="val 7682"/>
            </a:avLst>
          </a:prstGeom>
          <a:solidFill>
            <a:srgbClr val="FFFFFF"/>
          </a:solidFill>
          <a:ln w="6350">
            <a:solidFill>
              <a:srgbClr val="E3DFD6"/>
            </a:solidFill>
            <a:prstDash val="solid"/>
          </a:ln>
        </p:spPr>
      </p:sp>
      <p:sp>
        <p:nvSpPr>
          <p:cNvPr id="14" name="Text 12"/>
          <p:cNvSpPr/>
          <p:nvPr/>
        </p:nvSpPr>
        <p:spPr>
          <a:xfrm>
            <a:off x="4197350" y="3028752"/>
            <a:ext cx="276009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A0000"/>
                </a:solidFill>
                <a:latin typeface="Source Serif 4" pitchFamily="18" charset="0"/>
                <a:ea typeface="Source Serif 4" pitchFamily="18" charset="-122"/>
                <a:cs typeface="Source Serif 4" pitchFamily="18" charset="-120"/>
              </a:rPr>
              <a:t>48</a:t>
            </a:r>
            <a:endParaRPr lang="en-US" sz="3200" dirty="0"/>
          </a:p>
        </p:txBody>
      </p:sp>
      <p:sp>
        <p:nvSpPr>
          <p:cNvPr id="15" name="Text 13"/>
          <p:cNvSpPr/>
          <p:nvPr/>
        </p:nvSpPr>
        <p:spPr>
          <a:xfrm>
            <a:off x="4197350" y="3485952"/>
            <a:ext cx="27600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robots operativos en el Perú a fines de 2017 (IFR)</a:t>
            </a:r>
            <a:endParaRPr lang="en-US" sz="1300" dirty="0"/>
          </a:p>
        </p:txBody>
      </p:sp>
      <p:pic>
        <p:nvPicPr>
          <p:cNvPr id="16" name="Image 0" descr="Celda simulada con tres obstáculos que bloquean el camino del brazo">    </p:cNvPr>
          <p:cNvPicPr>
            <a:picLocks noChangeAspect="1"/>
          </p:cNvPicPr>
          <p:nvPr/>
        </p:nvPicPr>
        <p:blipFill>
          <a:blip r:embed="rId1"/>
          <a:srcRect l="0" r="0" t="77" b="77"/>
          <a:stretch/>
        </p:blipFill>
        <p:spPr>
          <a:xfrm>
            <a:off x="7321550" y="1410891"/>
            <a:ext cx="4051300" cy="2717800"/>
          </a:xfrm>
          <a:prstGeom prst="roundRect">
            <a:avLst>
              <a:gd name="adj" fmla="val 3505"/>
            </a:avLst>
          </a:prstGeom>
        </p:spPr>
      </p:pic>
      <p:sp>
        <p:nvSpPr>
          <p:cNvPr id="17" name="Shape 14"/>
          <p:cNvSpPr/>
          <p:nvPr/>
        </p:nvSpPr>
        <p:spPr>
          <a:xfrm>
            <a:off x="7318375" y="1407716"/>
            <a:ext cx="4057650" cy="2724150"/>
          </a:xfrm>
          <a:prstGeom prst="roundRect">
            <a:avLst>
              <a:gd name="adj" fmla="val 3613"/>
            </a:avLst>
          </a:prstGeom>
          <a:noFill/>
          <a:ln w="6350">
            <a:solidFill>
              <a:srgbClr val="E3DFD6"/>
            </a:solidFill>
            <a:prstDash val="solid"/>
          </a:ln>
        </p:spPr>
      </p:sp>
      <p:sp>
        <p:nvSpPr>
          <p:cNvPr id="18" name="Text 15"/>
          <p:cNvSpPr/>
          <p:nvPr/>
        </p:nvSpPr>
        <p:spPr>
          <a:xfrm>
            <a:off x="7315200" y="4236641"/>
            <a:ext cx="418592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Si la celda cambia, la trayectoria programada deja de servir y hay que reprogramar.</a:t>
            </a:r>
            <a:endParaRPr lang="en-US" sz="1300" dirty="0"/>
          </a:p>
        </p:txBody>
      </p:sp>
      <p:sp>
        <p:nvSpPr>
          <p:cNvPr id="19" name="Text 16"/>
          <p:cNvSpPr/>
          <p:nvPr/>
        </p:nvSpPr>
        <p:spPr>
          <a:xfrm>
            <a:off x="812800" y="4902002"/>
            <a:ext cx="10566400" cy="477441"/>
          </a:xfrm>
          <a:prstGeom prst="rect">
            <a:avLst/>
          </a:prstGeom>
          <a:solidFill>
            <a:srgbClr val="F1ECE4"/>
          </a:solidFill>
          <a:ln/>
        </p:spPr>
        <p:txBody>
          <a:bodyPr wrap="square" lIns="215900" tIns="114300" rIns="0" bIns="88900" rtlCol="0" anchor="t">
            <a:normAutofit/>
          </a:bodyPr>
          <a:lstStyle/>
          <a:p>
            <a:pPr algn="l" indent="0" marL="0">
              <a:lnSpc>
                <a:spcPts val="1960"/>
              </a:lnSpc>
              <a:buNone/>
            </a:pPr>
            <a:r>
              <a:rPr lang="en-US" sz="1400" b="1" dirty="0">
                <a:solidFill>
                  <a:srgbClr val="1E2433"/>
                </a:solidFill>
                <a:latin typeface="IBM Plex Sans" pitchFamily="34" charset="0"/>
                <a:ea typeface="IBM Plex Sans" pitchFamily="34" charset="-122"/>
                <a:cs typeface="IBM Plex Sans" pitchFamily="34" charset="-120"/>
              </a:rPr>
              <a:t>Consecuencia: cada cambio de utillaje cuesta horas de un ingeniero, y eso frena la automatización de las pymes.</a:t>
            </a:r>
            <a:endParaRPr lang="en-US" sz="1400" dirty="0"/>
          </a:p>
        </p:txBody>
      </p:sp>
      <p:sp>
        <p:nvSpPr>
          <p:cNvPr id="20" name="Shape 17"/>
          <p:cNvSpPr/>
          <p:nvPr/>
        </p:nvSpPr>
        <p:spPr>
          <a:xfrm>
            <a:off x="831850" y="4902002"/>
            <a:ext cx="0" cy="477441"/>
          </a:xfrm>
          <a:prstGeom prst="line">
            <a:avLst/>
          </a:prstGeom>
          <a:noFill/>
          <a:ln w="38100">
            <a:solidFill>
              <a:srgbClr val="8A0000"/>
            </a:solidFill>
            <a:prstDash val="solid"/>
          </a:ln>
        </p:spPr>
      </p:sp>
      <p:sp>
        <p:nvSpPr>
          <p:cNvPr id="21"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Fuentes: IFR World Robotics 2025; PRODUCE 2024 (vía ProActivo); IFR vía Aduana News.</a:t>
            </a:r>
            <a:endParaRPr lang="en-US" sz="1200" dirty="0"/>
          </a:p>
        </p:txBody>
      </p:sp>
      <p:sp>
        <p:nvSpPr>
          <p:cNvPr id="22" name="Text 19"/>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3</a:t>
            </a:r>
            <a:endParaRPr lang="en-US" sz="1200" dirty="0"/>
          </a:p>
        </p:txBody>
      </p:sp>
      <p:pic>
        <p:nvPicPr>
          <p:cNvPr id="23"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2 · DEFINICIÓN DEL PROBLEMA</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Un brazo que no sabe rodear lo que cambia</a:t>
            </a:r>
            <a:endParaRPr lang="en-US" sz="2800" dirty="0"/>
          </a:p>
        </p:txBody>
      </p:sp>
      <p:sp>
        <p:nvSpPr>
          <p:cNvPr id="4" name="Shape 2"/>
          <p:cNvSpPr/>
          <p:nvPr/>
        </p:nvSpPr>
        <p:spPr>
          <a:xfrm>
            <a:off x="815975" y="1407716"/>
            <a:ext cx="6496050" cy="1667470"/>
          </a:xfrm>
          <a:prstGeom prst="roundRect">
            <a:avLst>
              <a:gd name="adj" fmla="val 4379"/>
            </a:avLst>
          </a:prstGeom>
          <a:solidFill>
            <a:srgbClr val="FFFFFF"/>
          </a:solidFill>
          <a:ln w="6350">
            <a:solidFill>
              <a:srgbClr val="E3DFD6"/>
            </a:solidFill>
            <a:prstDash val="solid"/>
          </a:ln>
        </p:spPr>
      </p:sp>
      <p:sp>
        <p:nvSpPr>
          <p:cNvPr id="5" name="Text 3"/>
          <p:cNvSpPr/>
          <p:nvPr/>
        </p:nvSpPr>
        <p:spPr>
          <a:xfrm>
            <a:off x="1022350" y="1588691"/>
            <a:ext cx="62657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0000"/>
                </a:solidFill>
                <a:latin typeface="IBM Plex Sans" pitchFamily="34" charset="0"/>
                <a:ea typeface="IBM Plex Sans" pitchFamily="34" charset="-122"/>
                <a:cs typeface="IBM Plex Sans" pitchFamily="34" charset="-120"/>
              </a:rPr>
              <a:t>PROBLEMA GENERAL</a:t>
            </a:r>
            <a:endParaRPr lang="en-US" sz="1200" dirty="0"/>
          </a:p>
        </p:txBody>
      </p:sp>
      <p:sp>
        <p:nvSpPr>
          <p:cNvPr id="6" name="Text 4"/>
          <p:cNvSpPr/>
          <p:nvPr/>
        </p:nvSpPr>
        <p:spPr>
          <a:xfrm>
            <a:off x="1022350" y="1865511"/>
            <a:ext cx="6265799"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E2433"/>
                </a:solidFill>
                <a:latin typeface="IBM Plex Sans" pitchFamily="34" charset="0"/>
                <a:ea typeface="IBM Plex Sans" pitchFamily="34" charset="-122"/>
                <a:cs typeface="IBM Plex Sans" pitchFamily="34" charset="-120"/>
              </a:rPr>
              <a:t>Limitada capacidad de los manipuladores de 6 GDL para generar movimientos libres de colisión cuando cambia la disposición de obstáculos, pues dependen de trayectorias preprogramadas o de replanificar por completo.</a:t>
            </a:r>
            <a:endParaRPr lang="en-US" sz="1500" dirty="0"/>
          </a:p>
        </p:txBody>
      </p:sp>
      <p:sp>
        <p:nvSpPr>
          <p:cNvPr id="7" name="Shape 5"/>
          <p:cNvSpPr/>
          <p:nvPr/>
        </p:nvSpPr>
        <p:spPr>
          <a:xfrm>
            <a:off x="815975" y="3233936"/>
            <a:ext cx="6496050" cy="1752997"/>
          </a:xfrm>
          <a:prstGeom prst="roundRect">
            <a:avLst>
              <a:gd name="adj" fmla="val 4166"/>
            </a:avLst>
          </a:prstGeom>
          <a:solidFill>
            <a:srgbClr val="FFFFFF"/>
          </a:solidFill>
          <a:ln w="6350">
            <a:solidFill>
              <a:srgbClr val="E3DFD6"/>
            </a:solidFill>
            <a:prstDash val="solid"/>
          </a:ln>
        </p:spPr>
      </p:sp>
      <p:sp>
        <p:nvSpPr>
          <p:cNvPr id="8" name="Text 6"/>
          <p:cNvSpPr/>
          <p:nvPr/>
        </p:nvSpPr>
        <p:spPr>
          <a:xfrm>
            <a:off x="1022350" y="3414911"/>
            <a:ext cx="62657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2433"/>
                </a:solidFill>
                <a:latin typeface="IBM Plex Sans" pitchFamily="34" charset="0"/>
                <a:ea typeface="IBM Plex Sans" pitchFamily="34" charset="-122"/>
                <a:cs typeface="IBM Plex Sans" pitchFamily="34" charset="-120"/>
              </a:rPr>
              <a:t>PROBLEMA INGENIERIL</a:t>
            </a:r>
            <a:endParaRPr lang="en-US" sz="1200" dirty="0"/>
          </a:p>
        </p:txBody>
      </p:sp>
      <p:sp>
        <p:nvSpPr>
          <p:cNvPr id="9" name="Text 7"/>
          <p:cNvSpPr/>
          <p:nvPr/>
        </p:nvSpPr>
        <p:spPr>
          <a:xfrm>
            <a:off x="1022350" y="3691731"/>
            <a:ext cx="6265799" cy="11396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433"/>
                </a:solidFill>
                <a:latin typeface="IBM Plex Sans" pitchFamily="34" charset="0"/>
                <a:ea typeface="IBM Plex Sans" pitchFamily="34" charset="-122"/>
                <a:cs typeface="IBM Plex Sans" pitchFamily="34" charset="-120"/>
              </a:rPr>
              <a:t>¿Qué consideraciones de diseño mecatrónico y de software se deben tomar en cuenta para desarrollar un planificador reactivo, basado en aprendizaje por refuerzo, para un manipulador de 6 GDL (DOBOT Magician E6) que evite obstáculos en celdas reconfigurables, con el objetivo de reducir el costo de reconfiguración?</a:t>
            </a:r>
            <a:endParaRPr lang="en-US" sz="1300" dirty="0"/>
          </a:p>
        </p:txBody>
      </p:sp>
      <p:pic>
        <p:nvPicPr>
          <p:cNvPr id="10" name="Image 0" descr="Simulación del DOBOT Magician E6 junto a un obstáculo y un centro CNC">    </p:cNvPr>
          <p:cNvPicPr>
            <a:picLocks noChangeAspect="1"/>
          </p:cNvPicPr>
          <p:nvPr/>
        </p:nvPicPr>
        <p:blipFill>
          <a:blip r:embed="rId1"/>
          <a:srcRect l="0" r="0" t="97" b="97"/>
          <a:stretch/>
        </p:blipFill>
        <p:spPr>
          <a:xfrm>
            <a:off x="7575550" y="1410891"/>
            <a:ext cx="3797300" cy="2546350"/>
          </a:xfrm>
          <a:prstGeom prst="roundRect">
            <a:avLst>
              <a:gd name="adj" fmla="val 3741"/>
            </a:avLst>
          </a:prstGeom>
        </p:spPr>
      </p:pic>
      <p:sp>
        <p:nvSpPr>
          <p:cNvPr id="11" name="Shape 8"/>
          <p:cNvSpPr/>
          <p:nvPr/>
        </p:nvSpPr>
        <p:spPr>
          <a:xfrm>
            <a:off x="7572375" y="1407716"/>
            <a:ext cx="3803650" cy="2552700"/>
          </a:xfrm>
          <a:prstGeom prst="roundRect">
            <a:avLst>
              <a:gd name="adj" fmla="val 3856"/>
            </a:avLst>
          </a:prstGeom>
          <a:noFill/>
          <a:ln w="6350">
            <a:solidFill>
              <a:srgbClr val="E3DFD6"/>
            </a:solidFill>
            <a:prstDash val="solid"/>
          </a:ln>
        </p:spPr>
      </p:sp>
      <p:sp>
        <p:nvSpPr>
          <p:cNvPr id="12" name="Text 9"/>
          <p:cNvSpPr/>
          <p:nvPr/>
        </p:nvSpPr>
        <p:spPr>
          <a:xfrm>
            <a:off x="7569200" y="4065191"/>
            <a:ext cx="3924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60"/>
                </a:solidFill>
                <a:latin typeface="IBM Plex Sans" pitchFamily="34" charset="0"/>
                <a:ea typeface="IBM Plex Sans" pitchFamily="34" charset="-122"/>
                <a:cs typeface="IBM Plex Sans" pitchFamily="34" charset="-120"/>
              </a:rPr>
              <a:t>En simulación: ir de la bandeja (azul) al CNC (verde) rodeando el obstáculo.</a:t>
            </a:r>
            <a:endParaRPr lang="en-US" sz="12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14" name="Text 11"/>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4</a:t>
            </a:r>
            <a:endParaRPr lang="en-US" sz="1200" dirty="0"/>
          </a:p>
        </p:txBody>
      </p:sp>
      <p:pic>
        <p:nvPicPr>
          <p:cNvPr id="15"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3 · ESTADO DEL ARTE · PRODUCTOS</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Ninguna solución aprende ni mide su generalización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04541"/>
          <a:ext cx="10553700" cy="2516188"/>
        </p:xfrm>
        <a:graphic>
          <a:graphicData uri="http://schemas.openxmlformats.org/drawingml/2006/table">
            <a:tbl>
              <a:tblPr/>
              <a:tblGrid>
                <a:gridCol w="2110740"/>
                <a:gridCol w="2743962"/>
                <a:gridCol w="3799332"/>
                <a:gridCol w="1899666"/>
              </a:tblGrid>
              <a:tr h="332581">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Producto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Ventaja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Limitación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Precio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r>
              <a:tr h="545902">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RapidPlan (Realtime Robotics)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Planes sin colisión en milisegundos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Hardware propietario y licencia cerrada; no usa aprendizaje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Bajo cotización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45902">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cuMotion (NVIDIA)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Planificación en GPU para celdas que se reconfiguran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Exige GPU NVIDIA a bordo; optimización en línea, no política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SDK gratis + GPU RTX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545902">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RoboDK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Programación fuera de línea, más de 1 000 robots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Rutas estáticas: cada cambio de utillaje obliga a replanificar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USD 145/año (educativa)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45902">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MoveIt 2 + OMPL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Código abierto; estándar en ROS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Tiempo de planificación variable; replanifica desde cero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Gratis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bl>
          </a:graphicData>
        </a:graphic>
      </p:graphicFrame>
      <p:sp>
        <p:nvSpPr>
          <p:cNvPr id="5" name="Text 2"/>
          <p:cNvSpPr/>
          <p:nvPr/>
        </p:nvSpPr>
        <p:spPr>
          <a:xfrm>
            <a:off x="812800" y="4111228"/>
            <a:ext cx="10566400" cy="434280"/>
          </a:xfrm>
          <a:prstGeom prst="rect">
            <a:avLst/>
          </a:prstGeom>
          <a:solidFill>
            <a:srgbClr val="F1ECE4"/>
          </a:solidFill>
          <a:ln/>
        </p:spPr>
        <p:txBody>
          <a:bodyPr wrap="square" lIns="215900" tIns="101600" rIns="0" bIns="76200" rtlCol="0" anchor="t">
            <a:normAutofit/>
          </a:bodyPr>
          <a:lstStyle/>
          <a:p>
            <a:pPr algn="l" indent="0" marL="0">
              <a:lnSpc>
                <a:spcPts val="1820"/>
              </a:lnSpc>
              <a:buNone/>
            </a:pPr>
            <a:r>
              <a:rPr lang="en-US" sz="1300" b="1" dirty="0">
                <a:solidFill>
                  <a:srgbClr val="1E2433"/>
                </a:solidFill>
                <a:latin typeface="IBM Plex Sans" pitchFamily="34" charset="0"/>
                <a:ea typeface="IBM Plex Sans" pitchFamily="34" charset="-122"/>
                <a:cs typeface="IBM Plex Sans" pitchFamily="34" charset="-120"/>
              </a:rPr>
              <a:t>Robot del proyecto: DOBOT Magician E6 (6 GDL, 450 mm, 750 g), unos USD 6 995 en el mercado. Aquí es prestado: costo S/ 0.</a:t>
            </a:r>
            <a:endParaRPr lang="en-US" sz="1300" dirty="0"/>
          </a:p>
        </p:txBody>
      </p:sp>
      <p:sp>
        <p:nvSpPr>
          <p:cNvPr id="6" name="Shape 3"/>
          <p:cNvSpPr/>
          <p:nvPr/>
        </p:nvSpPr>
        <p:spPr>
          <a:xfrm>
            <a:off x="831850" y="4111228"/>
            <a:ext cx="0" cy="434280"/>
          </a:xfrm>
          <a:prstGeom prst="line">
            <a:avLst/>
          </a:prstGeom>
          <a:noFill/>
          <a:ln w="38100">
            <a:solidFill>
              <a:srgbClr val="8A0000"/>
            </a:solidFill>
            <a:prstDash val="solid"/>
          </a:ln>
        </p:spPr>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Fuentes: Realtime Robotics, NVIDIA, RoboDK, OMPL, RobotLAB (consultadas en 2026).</a:t>
            </a:r>
            <a:endParaRPr lang="en-US" sz="1200" dirty="0"/>
          </a:p>
        </p:txBody>
      </p:sp>
      <p:sp>
        <p:nvSpPr>
          <p:cNvPr id="8" name="Text 5"/>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5</a:t>
            </a:r>
            <a:endParaRPr lang="en-US" sz="1200" dirty="0"/>
          </a:p>
        </p:txBody>
      </p:sp>
      <p:pic>
        <p:nvPicPr>
          <p:cNvPr id="9" name="Image 0" descr="Escudo UNI">    </p:cNvPr>
          <p:cNvPicPr>
            <a:picLocks noChangeAspect="1"/>
          </p:cNvPicPr>
          <p:nvPr/>
        </p:nvPicPr>
        <p:blipFill>
          <a:blip r:embed="rId1"/>
          <a:srcRect l="0" r="0" t="-499" b="-499"/>
          <a:stretch/>
        </p:blipFill>
        <p:spPr>
          <a:xfrm>
            <a:off x="11049000" y="6146800"/>
            <a:ext cx="330200" cy="406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3 · ESTADO DEL ARTE · PUBLICACIONES</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El vacío: obstáculos, RL, clásicos y generalización juntos</a:t>
            </a:r>
            <a:endParaRPr lang="en-US" sz="2800" dirty="0"/>
          </a:p>
        </p:txBody>
      </p:sp>
      <p:sp>
        <p:nvSpPr>
          <p:cNvPr id="4" name="Shape 2"/>
          <p:cNvSpPr/>
          <p:nvPr/>
        </p:nvSpPr>
        <p:spPr>
          <a:xfrm>
            <a:off x="815975" y="1395016"/>
            <a:ext cx="4819650" cy="679351"/>
          </a:xfrm>
          <a:prstGeom prst="roundRect">
            <a:avLst>
              <a:gd name="adj" fmla="val 10749"/>
            </a:avLst>
          </a:prstGeom>
          <a:solidFill>
            <a:srgbClr val="FFFFFF"/>
          </a:solidFill>
          <a:ln w="6350">
            <a:solidFill>
              <a:srgbClr val="E3DFD6"/>
            </a:solidFill>
            <a:prstDash val="solid"/>
          </a:ln>
        </p:spPr>
      </p:sp>
      <p:sp>
        <p:nvSpPr>
          <p:cNvPr id="5" name="Text 3"/>
          <p:cNvSpPr/>
          <p:nvPr/>
        </p:nvSpPr>
        <p:spPr>
          <a:xfrm>
            <a:off x="971550" y="1499791"/>
            <a:ext cx="464375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Mao et al. (2025)</a:t>
            </a:r>
            <a:endParaRPr lang="en-US" sz="1300" dirty="0"/>
          </a:p>
        </p:txBody>
      </p:sp>
      <p:sp>
        <p:nvSpPr>
          <p:cNvPr id="6" name="Text 4"/>
          <p:cNvSpPr/>
          <p:nvPr/>
        </p:nvSpPr>
        <p:spPr>
          <a:xfrm>
            <a:off x="971550" y="1756271"/>
            <a:ext cx="46437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SAC en 6 GDL con PyBullet; sin comparar con clásicos.</a:t>
            </a:r>
            <a:endParaRPr lang="en-US" sz="1200" dirty="0"/>
          </a:p>
        </p:txBody>
      </p:sp>
      <p:sp>
        <p:nvSpPr>
          <p:cNvPr id="7" name="Shape 5"/>
          <p:cNvSpPr/>
          <p:nvPr/>
        </p:nvSpPr>
        <p:spPr>
          <a:xfrm>
            <a:off x="815975" y="2182316"/>
            <a:ext cx="4819650" cy="892671"/>
          </a:xfrm>
          <a:prstGeom prst="roundRect">
            <a:avLst>
              <a:gd name="adj" fmla="val 8181"/>
            </a:avLst>
          </a:prstGeom>
          <a:solidFill>
            <a:srgbClr val="FFFFFF"/>
          </a:solidFill>
          <a:ln w="6350">
            <a:solidFill>
              <a:srgbClr val="E3DFD6"/>
            </a:solidFill>
            <a:prstDash val="solid"/>
          </a:ln>
        </p:spPr>
      </p:sp>
      <p:sp>
        <p:nvSpPr>
          <p:cNvPr id="8" name="Text 6"/>
          <p:cNvSpPr/>
          <p:nvPr/>
        </p:nvSpPr>
        <p:spPr>
          <a:xfrm>
            <a:off x="971550" y="2287091"/>
            <a:ext cx="464375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Fidalgo et al. (2025)</a:t>
            </a:r>
            <a:endParaRPr lang="en-US" sz="1300" dirty="0"/>
          </a:p>
        </p:txBody>
      </p:sp>
      <p:sp>
        <p:nvSpPr>
          <p:cNvPr id="9" name="Text 7"/>
          <p:cNvSpPr/>
          <p:nvPr/>
        </p:nvSpPr>
        <p:spPr>
          <a:xfrm>
            <a:off x="971550" y="2543572"/>
            <a:ext cx="46437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SAC frente a OMPL en un UR3e, pero su entorno no tiene obstáculos.</a:t>
            </a:r>
            <a:endParaRPr lang="en-US" sz="1200" dirty="0"/>
          </a:p>
        </p:txBody>
      </p:sp>
      <p:sp>
        <p:nvSpPr>
          <p:cNvPr id="10" name="Shape 8"/>
          <p:cNvSpPr/>
          <p:nvPr/>
        </p:nvSpPr>
        <p:spPr>
          <a:xfrm>
            <a:off x="815975" y="3182938"/>
            <a:ext cx="4819650" cy="679351"/>
          </a:xfrm>
          <a:prstGeom prst="roundRect">
            <a:avLst>
              <a:gd name="adj" fmla="val 10749"/>
            </a:avLst>
          </a:prstGeom>
          <a:solidFill>
            <a:srgbClr val="FFFFFF"/>
          </a:solidFill>
          <a:ln w="6350">
            <a:solidFill>
              <a:srgbClr val="E3DFD6"/>
            </a:solidFill>
            <a:prstDash val="solid"/>
          </a:ln>
        </p:spPr>
      </p:sp>
      <p:sp>
        <p:nvSpPr>
          <p:cNvPr id="11" name="Text 9"/>
          <p:cNvSpPr/>
          <p:nvPr/>
        </p:nvSpPr>
        <p:spPr>
          <a:xfrm>
            <a:off x="971550" y="3287713"/>
            <a:ext cx="464375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Jurgenson y Tamar (2019)</a:t>
            </a:r>
            <a:endParaRPr lang="en-US" sz="1300" dirty="0"/>
          </a:p>
        </p:txBody>
      </p:sp>
      <p:sp>
        <p:nvSpPr>
          <p:cNvPr id="12" name="Text 10"/>
          <p:cNvSpPr/>
          <p:nvPr/>
        </p:nvSpPr>
        <p:spPr>
          <a:xfrm>
            <a:off x="971550" y="3544193"/>
            <a:ext cx="4660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Generalización como pregunta central; entrada visual, sin OMPL.</a:t>
            </a:r>
            <a:endParaRPr lang="en-US" sz="1200" dirty="0"/>
          </a:p>
        </p:txBody>
      </p:sp>
      <p:sp>
        <p:nvSpPr>
          <p:cNvPr id="13" name="Shape 11"/>
          <p:cNvSpPr/>
          <p:nvPr/>
        </p:nvSpPr>
        <p:spPr>
          <a:xfrm>
            <a:off x="815975" y="3970238"/>
            <a:ext cx="4819650" cy="892671"/>
          </a:xfrm>
          <a:prstGeom prst="roundRect">
            <a:avLst>
              <a:gd name="adj" fmla="val 8181"/>
            </a:avLst>
          </a:prstGeom>
          <a:solidFill>
            <a:srgbClr val="FFFFFF"/>
          </a:solidFill>
          <a:ln w="6350">
            <a:solidFill>
              <a:srgbClr val="E3DFD6"/>
            </a:solidFill>
            <a:prstDash val="solid"/>
          </a:ln>
        </p:spPr>
      </p:sp>
      <p:sp>
        <p:nvSpPr>
          <p:cNvPr id="14" name="Text 12"/>
          <p:cNvSpPr/>
          <p:nvPr/>
        </p:nvSpPr>
        <p:spPr>
          <a:xfrm>
            <a:off x="971550" y="4075013"/>
            <a:ext cx="464375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Liu (2024, tesis)</a:t>
            </a:r>
            <a:endParaRPr lang="en-US" sz="1300" dirty="0"/>
          </a:p>
        </p:txBody>
      </p:sp>
      <p:sp>
        <p:nvSpPr>
          <p:cNvPr id="15" name="Text 13"/>
          <p:cNvSpPr/>
          <p:nvPr/>
        </p:nvSpPr>
        <p:spPr>
          <a:xfrm>
            <a:off x="971550" y="4331494"/>
            <a:ext cx="46437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PPO con controlador reactivo en 7 GDL: 99 % de éxito, sin controlar las articulaciones.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880100" y="1404541"/>
          <a:ext cx="5499100" cy="1995487"/>
        </p:xfrm>
        <a:graphic>
          <a:graphicData uri="http://schemas.openxmlformats.org/drawingml/2006/table">
            <a:tbl>
              <a:tblPr/>
              <a:tblGrid>
                <a:gridCol w="1869694"/>
                <a:gridCol w="659892"/>
                <a:gridCol w="769874"/>
                <a:gridCol w="1099820"/>
                <a:gridCol w="1099820"/>
              </a:tblGrid>
              <a:tr h="332581">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Fuente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algn="ct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6 GDL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algn="ct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Obstác.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algn="ct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vs. OMPL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algn="ct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Generaliz.</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Mao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Fidalgo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Jurgenson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Liu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Este proyecto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4B0B0"/>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4B0B0"/>
                      </a:solidFill>
                      <a:prstDash val="solid"/>
                      <a:round/>
                      <a:headEnd type="none" w="med" len="med"/>
                      <a:tailEnd type="none" w="med" len="med"/>
                    </a:lnB>
                    <a:solidFill>
                      <a:srgbClr val="F6DCDC"/>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0B0"/>
                      </a:solidFill>
                      <a:prstDash val="solid"/>
                      <a:round/>
                      <a:headEnd type="none" w="med" len="med"/>
                      <a:tailEnd type="none" w="med" len="med"/>
                    </a:lnL>
                    <a:lnR w="12700" cap="flat" cmpd="sng" algn="ctr">
                      <a:solidFill>
                        <a:srgbClr val="C4B0B0"/>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4B0B0"/>
                      </a:solidFill>
                      <a:prstDash val="solid"/>
                      <a:round/>
                      <a:headEnd type="none" w="med" len="med"/>
                      <a:tailEnd type="none" w="med" len="med"/>
                    </a:lnB>
                    <a:solidFill>
                      <a:srgbClr val="F6DCDC"/>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0B0"/>
                      </a:solidFill>
                      <a:prstDash val="solid"/>
                      <a:round/>
                      <a:headEnd type="none" w="med" len="med"/>
                      <a:tailEnd type="none" w="med" len="med"/>
                    </a:lnL>
                    <a:lnR w="12700" cap="flat" cmpd="sng" algn="ctr">
                      <a:solidFill>
                        <a:srgbClr val="C4B0B0"/>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4B0B0"/>
                      </a:solidFill>
                      <a:prstDash val="solid"/>
                      <a:round/>
                      <a:headEnd type="none" w="med" len="med"/>
                      <a:tailEnd type="none" w="med" len="med"/>
                    </a:lnB>
                    <a:solidFill>
                      <a:srgbClr val="F6DCDC"/>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0B0"/>
                      </a:solidFill>
                      <a:prstDash val="solid"/>
                      <a:round/>
                      <a:headEnd type="none" w="med" len="med"/>
                      <a:tailEnd type="none" w="med" len="med"/>
                    </a:lnL>
                    <a:lnR w="12700" cap="flat" cmpd="sng" algn="ctr">
                      <a:solidFill>
                        <a:srgbClr val="C4B0B0"/>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4B0B0"/>
                      </a:solidFill>
                      <a:prstDash val="solid"/>
                      <a:round/>
                      <a:headEnd type="none" w="med" len="med"/>
                      <a:tailEnd type="none" w="med" len="med"/>
                    </a:lnB>
                    <a:solidFill>
                      <a:srgbClr val="F6DCDC"/>
                    </a:solidFill>
                  </a:tcPr>
                </a:tc>
                <a:tc>
                  <a:txBody>
                    <a:bodyPr/>
                    <a:lstStyle/>
                    <a:p>
                      <a:pPr algn="ct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Sí</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0B0"/>
                      </a:solidFill>
                      <a:prstDash val="solid"/>
                      <a:round/>
                      <a:headEnd type="none" w="med" len="med"/>
                      <a:tailEnd type="none" w="med" len="med"/>
                    </a:lnL>
                    <a:lnR w="12700" cap="flat" cmpd="sng" algn="ctr">
                      <a:solidFill>
                        <a:srgbClr val="C4B0B0"/>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4B0B0"/>
                      </a:solidFill>
                      <a:prstDash val="solid"/>
                      <a:round/>
                      <a:headEnd type="none" w="med" len="med"/>
                      <a:tailEnd type="none" w="med" len="med"/>
                    </a:lnB>
                    <a:solidFill>
                      <a:srgbClr val="F6DCDC"/>
                    </a:solidFill>
                  </a:tcPr>
                </a:tc>
              </a:tr>
            </a:tbl>
          </a:graphicData>
        </a:graphic>
      </p:graphicFrame>
      <p:sp>
        <p:nvSpPr>
          <p:cNvPr id="17" name="Text 14"/>
          <p:cNvSpPr/>
          <p:nvPr/>
        </p:nvSpPr>
        <p:spPr>
          <a:xfrm>
            <a:off x="5867400" y="3476228"/>
            <a:ext cx="6324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60"/>
                </a:solidFill>
                <a:latin typeface="IBM Plex Sans" pitchFamily="34" charset="0"/>
                <a:ea typeface="IBM Plex Sans" pitchFamily="34" charset="-122"/>
                <a:cs typeface="IBM Plex Sans" pitchFamily="34" charset="-120"/>
              </a:rPr>
              <a:t>Resumen de las fuentes revisadas (5 artículos, 3 tesis, 2 patentes en el informe).</a:t>
            </a:r>
            <a:endParaRPr lang="en-US" sz="1200" dirty="0"/>
          </a:p>
        </p:txBody>
      </p:sp>
      <p:sp>
        <p:nvSpPr>
          <p:cNvPr id="18"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19" name="Text 16"/>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6</a:t>
            </a:r>
            <a:endParaRPr lang="en-US" sz="1200" dirty="0"/>
          </a:p>
        </p:txBody>
      </p:sp>
      <p:pic>
        <p:nvPicPr>
          <p:cNvPr id="20" name="Image 0" descr="Escudo UNI">    </p:cNvPr>
          <p:cNvPicPr>
            <a:picLocks noChangeAspect="1"/>
          </p:cNvPicPr>
          <p:nvPr/>
        </p:nvPicPr>
        <p:blipFill>
          <a:blip r:embed="rId1"/>
          <a:srcRect l="0" r="0" t="-499" b="-499"/>
          <a:stretch/>
        </p:blipFill>
        <p:spPr>
          <a:xfrm>
            <a:off x="11049000" y="6146800"/>
            <a:ext cx="330200" cy="406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E4"/>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4 · JUSTIFICACIÓN</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Por qué vale la pena hacerlo</a:t>
            </a:r>
            <a:endParaRPr lang="en-US" sz="2800" dirty="0"/>
          </a:p>
        </p:txBody>
      </p:sp>
      <p:sp>
        <p:nvSpPr>
          <p:cNvPr id="4" name="Shape 2"/>
          <p:cNvSpPr/>
          <p:nvPr/>
        </p:nvSpPr>
        <p:spPr>
          <a:xfrm>
            <a:off x="815975" y="1407716"/>
            <a:ext cx="5187950" cy="1128911"/>
          </a:xfrm>
          <a:prstGeom prst="roundRect">
            <a:avLst>
              <a:gd name="adj" fmla="val 8719"/>
            </a:avLst>
          </a:prstGeom>
          <a:solidFill>
            <a:srgbClr val="FBFAF7"/>
          </a:solidFill>
          <a:ln w="6350">
            <a:solidFill>
              <a:srgbClr val="E3DFD6"/>
            </a:solidFill>
            <a:prstDash val="solid"/>
          </a:ln>
        </p:spPr>
      </p:sp>
      <p:pic>
        <p:nvPicPr>
          <p:cNvPr id="5" name="Image 0" descr="Tool">    </p:cNvPr>
          <p:cNvPicPr>
            <a:picLocks noChangeAspect="1"/>
          </p:cNvPicPr>
          <p:nvPr/>
        </p:nvPicPr>
        <p:blipFill>
          <a:blip r:embed="rId1"/>
          <a:srcRect l="0" r="0" t="0" b="0"/>
          <a:stretch/>
        </p:blipFill>
        <p:spPr>
          <a:xfrm>
            <a:off x="1009650" y="1601391"/>
            <a:ext cx="355600" cy="355600"/>
          </a:xfrm>
          <a:prstGeom prst="rect">
            <a:avLst/>
          </a:prstGeom>
        </p:spPr>
      </p:pic>
      <p:sp>
        <p:nvSpPr>
          <p:cNvPr id="6" name="Text 3"/>
          <p:cNvSpPr/>
          <p:nvPr/>
        </p:nvSpPr>
        <p:spPr>
          <a:xfrm>
            <a:off x="1517650" y="1601391"/>
            <a:ext cx="4421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Cambiar la celda sin reprogramar</a:t>
            </a:r>
            <a:endParaRPr lang="en-US" sz="1500" dirty="0"/>
          </a:p>
        </p:txBody>
      </p:sp>
      <p:sp>
        <p:nvSpPr>
          <p:cNvPr id="7" name="Text 4"/>
          <p:cNvSpPr/>
          <p:nvPr/>
        </p:nvSpPr>
        <p:spPr>
          <a:xfrm>
            <a:off x="1517650" y="1880791"/>
            <a:ext cx="442137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Una política decide cada 30 ms según la geometría de los obstáculos.</a:t>
            </a:r>
            <a:endParaRPr lang="en-US" sz="1300" dirty="0"/>
          </a:p>
        </p:txBody>
      </p:sp>
      <p:sp>
        <p:nvSpPr>
          <p:cNvPr id="8" name="Shape 5"/>
          <p:cNvSpPr/>
          <p:nvPr/>
        </p:nvSpPr>
        <p:spPr>
          <a:xfrm>
            <a:off x="6188075" y="1407716"/>
            <a:ext cx="5187950" cy="1128911"/>
          </a:xfrm>
          <a:prstGeom prst="roundRect">
            <a:avLst>
              <a:gd name="adj" fmla="val 8719"/>
            </a:avLst>
          </a:prstGeom>
          <a:solidFill>
            <a:srgbClr val="FBFAF7"/>
          </a:solidFill>
          <a:ln w="6350">
            <a:solidFill>
              <a:srgbClr val="E3DFD6"/>
            </a:solidFill>
            <a:prstDash val="solid"/>
          </a:ln>
        </p:spPr>
      </p:sp>
      <p:pic>
        <p:nvPicPr>
          <p:cNvPr id="9" name="Image 1" descr="Lock">    </p:cNvPr>
          <p:cNvPicPr>
            <a:picLocks noChangeAspect="1"/>
          </p:cNvPicPr>
          <p:nvPr/>
        </p:nvPicPr>
        <p:blipFill>
          <a:blip r:embed="rId2"/>
          <a:srcRect l="0" r="0" t="0" b="0"/>
          <a:stretch/>
        </p:blipFill>
        <p:spPr>
          <a:xfrm>
            <a:off x="6381750" y="1601391"/>
            <a:ext cx="355600" cy="355600"/>
          </a:xfrm>
          <a:prstGeom prst="rect">
            <a:avLst/>
          </a:prstGeom>
        </p:spPr>
      </p:pic>
      <p:sp>
        <p:nvSpPr>
          <p:cNvPr id="10" name="Text 6"/>
          <p:cNvSpPr/>
          <p:nvPr/>
        </p:nvSpPr>
        <p:spPr>
          <a:xfrm>
            <a:off x="6889750" y="1601391"/>
            <a:ext cx="4421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Sin licencias ni GPU a bordo</a:t>
            </a:r>
            <a:endParaRPr lang="en-US" sz="1500" dirty="0"/>
          </a:p>
        </p:txBody>
      </p:sp>
      <p:sp>
        <p:nvSpPr>
          <p:cNvPr id="11" name="Text 7"/>
          <p:cNvSpPr/>
          <p:nvPr/>
        </p:nvSpPr>
        <p:spPr>
          <a:xfrm>
            <a:off x="6889750" y="1880791"/>
            <a:ext cx="442137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Todo es código abierto; costo de software: S/ 0.</a:t>
            </a:r>
            <a:endParaRPr lang="en-US" sz="1300" dirty="0"/>
          </a:p>
        </p:txBody>
      </p:sp>
      <p:sp>
        <p:nvSpPr>
          <p:cNvPr id="12" name="Shape 8"/>
          <p:cNvSpPr/>
          <p:nvPr/>
        </p:nvSpPr>
        <p:spPr>
          <a:xfrm>
            <a:off x="815975" y="2720777"/>
            <a:ext cx="5187950" cy="1128911"/>
          </a:xfrm>
          <a:prstGeom prst="roundRect">
            <a:avLst>
              <a:gd name="adj" fmla="val 8719"/>
            </a:avLst>
          </a:prstGeom>
          <a:solidFill>
            <a:srgbClr val="FBFAF7"/>
          </a:solidFill>
          <a:ln w="6350">
            <a:solidFill>
              <a:srgbClr val="E3DFD6"/>
            </a:solidFill>
            <a:prstDash val="solid"/>
          </a:ln>
        </p:spPr>
      </p:sp>
      <p:pic>
        <p:nvPicPr>
          <p:cNvPr id="13" name="Image 2" descr="Search">    </p:cNvPr>
          <p:cNvPicPr>
            <a:picLocks noChangeAspect="1"/>
          </p:cNvPicPr>
          <p:nvPr/>
        </p:nvPicPr>
        <p:blipFill>
          <a:blip r:embed="rId3"/>
          <a:srcRect l="0" r="0" t="0" b="0"/>
          <a:stretch/>
        </p:blipFill>
        <p:spPr>
          <a:xfrm>
            <a:off x="1009650" y="2914452"/>
            <a:ext cx="355600" cy="355600"/>
          </a:xfrm>
          <a:prstGeom prst="rect">
            <a:avLst/>
          </a:prstGeom>
        </p:spPr>
      </p:pic>
      <p:sp>
        <p:nvSpPr>
          <p:cNvPr id="14" name="Text 9"/>
          <p:cNvSpPr/>
          <p:nvPr/>
        </p:nvSpPr>
        <p:spPr>
          <a:xfrm>
            <a:off x="1517650" y="2914452"/>
            <a:ext cx="4421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Un vacío científico</a:t>
            </a:r>
            <a:endParaRPr lang="en-US" sz="1500" dirty="0"/>
          </a:p>
        </p:txBody>
      </p:sp>
      <p:sp>
        <p:nvSpPr>
          <p:cNvPr id="15" name="Text 10"/>
          <p:cNvSpPr/>
          <p:nvPr/>
        </p:nvSpPr>
        <p:spPr>
          <a:xfrm>
            <a:off x="1517650" y="3193852"/>
            <a:ext cx="442137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Medir la generalización frente a OMPL en un brazo industrial de 6 GDL.</a:t>
            </a:r>
            <a:endParaRPr lang="en-US" sz="1300" dirty="0"/>
          </a:p>
        </p:txBody>
      </p:sp>
      <p:sp>
        <p:nvSpPr>
          <p:cNvPr id="16" name="Shape 11"/>
          <p:cNvSpPr/>
          <p:nvPr/>
        </p:nvSpPr>
        <p:spPr>
          <a:xfrm>
            <a:off x="6188075" y="2720777"/>
            <a:ext cx="5187950" cy="1128911"/>
          </a:xfrm>
          <a:prstGeom prst="roundRect">
            <a:avLst>
              <a:gd name="adj" fmla="val 8719"/>
            </a:avLst>
          </a:prstGeom>
          <a:solidFill>
            <a:srgbClr val="FBFAF7"/>
          </a:solidFill>
          <a:ln w="6350">
            <a:solidFill>
              <a:srgbClr val="E3DFD6"/>
            </a:solidFill>
            <a:prstDash val="solid"/>
          </a:ln>
        </p:spPr>
      </p:sp>
      <p:pic>
        <p:nvPicPr>
          <p:cNvPr id="17" name="Image 3" descr="Settings">    </p:cNvPr>
          <p:cNvPicPr>
            <a:picLocks noChangeAspect="1"/>
          </p:cNvPicPr>
          <p:nvPr/>
        </p:nvPicPr>
        <p:blipFill>
          <a:blip r:embed="rId4"/>
          <a:srcRect l="0" r="0" t="0" b="0"/>
          <a:stretch/>
        </p:blipFill>
        <p:spPr>
          <a:xfrm>
            <a:off x="6381750" y="2914452"/>
            <a:ext cx="355600" cy="355600"/>
          </a:xfrm>
          <a:prstGeom prst="rect">
            <a:avLst/>
          </a:prstGeom>
        </p:spPr>
      </p:pic>
      <p:sp>
        <p:nvSpPr>
          <p:cNvPr id="18" name="Text 12"/>
          <p:cNvSpPr/>
          <p:nvPr/>
        </p:nvSpPr>
        <p:spPr>
          <a:xfrm>
            <a:off x="6889750" y="2914452"/>
            <a:ext cx="4421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Problemas de ingeniería reales</a:t>
            </a:r>
            <a:endParaRPr lang="en-US" sz="1500" dirty="0"/>
          </a:p>
        </p:txBody>
      </p:sp>
      <p:sp>
        <p:nvSpPr>
          <p:cNvPr id="19" name="Text 13"/>
          <p:cNvSpPr/>
          <p:nvPr/>
        </p:nvSpPr>
        <p:spPr>
          <a:xfrm>
            <a:off x="6889750" y="3193852"/>
            <a:ext cx="442137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Modelo del robot, recompensa, entrenamiento estable, latencia de 30 ms.</a:t>
            </a:r>
            <a:endParaRPr lang="en-US" sz="1300" dirty="0"/>
          </a:p>
        </p:txBody>
      </p:sp>
      <p:sp>
        <p:nvSpPr>
          <p:cNvPr id="20" name="Text 14"/>
          <p:cNvSpPr/>
          <p:nvPr/>
        </p:nvSpPr>
        <p:spPr>
          <a:xfrm>
            <a:off x="812800" y="4056063"/>
            <a:ext cx="10566400" cy="665361"/>
          </a:xfrm>
          <a:prstGeom prst="rect">
            <a:avLst/>
          </a:prstGeom>
          <a:solidFill>
            <a:srgbClr val="FBFAF7"/>
          </a:solidFill>
          <a:ln/>
        </p:spPr>
        <p:txBody>
          <a:bodyPr wrap="square" lIns="215900" tIns="101600" rIns="0" bIns="7620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Normas: ISO 10218-1 y -2 para robots industriales y Ley N.º 29783 de Seguridad y Salud en el Trabajo. El proyecto es de simulación y no expone a personas.</a:t>
            </a:r>
            <a:endParaRPr lang="en-US" sz="1300" dirty="0"/>
          </a:p>
        </p:txBody>
      </p:sp>
      <p:sp>
        <p:nvSpPr>
          <p:cNvPr id="21" name="Shape 15"/>
          <p:cNvSpPr/>
          <p:nvPr/>
        </p:nvSpPr>
        <p:spPr>
          <a:xfrm>
            <a:off x="831850" y="4056063"/>
            <a:ext cx="0" cy="665361"/>
          </a:xfrm>
          <a:prstGeom prst="line">
            <a:avLst/>
          </a:prstGeom>
          <a:noFill/>
          <a:ln w="38100">
            <a:solidFill>
              <a:srgbClr val="8A0000"/>
            </a:solidFill>
            <a:prstDash val="solid"/>
          </a:ln>
        </p:spPr>
      </p:sp>
      <p:sp>
        <p:nvSpPr>
          <p:cNvPr id="22"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23" name="Text 17"/>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7</a:t>
            </a:r>
            <a:endParaRPr lang="en-US" sz="1200" dirty="0"/>
          </a:p>
        </p:txBody>
      </p:sp>
      <p:pic>
        <p:nvPicPr>
          <p:cNvPr id="24" name="Image 4" descr="Escudo UNI">    </p:cNvPr>
          <p:cNvPicPr>
            <a:picLocks noChangeAspect="1"/>
          </p:cNvPicPr>
          <p:nvPr/>
        </p:nvPicPr>
        <p:blipFill>
          <a:blip r:embed="rId5"/>
          <a:srcRect l="0" r="0" t="-499" b="-499"/>
          <a:stretch/>
        </p:blipFill>
        <p:spPr>
          <a:xfrm>
            <a:off x="11049000" y="6146800"/>
            <a:ext cx="330200" cy="406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433"/>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8A8"/>
                </a:solidFill>
                <a:latin typeface="IBM Plex Sans" pitchFamily="34" charset="0"/>
                <a:ea typeface="IBM Plex Sans" pitchFamily="34" charset="-122"/>
                <a:cs typeface="IBM Plex Sans" pitchFamily="34" charset="-120"/>
              </a:rPr>
              <a:t>4 · OBJETIVO GENERAL</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BFAF7"/>
                </a:solidFill>
                <a:latin typeface="Source Serif 4" pitchFamily="18" charset="0"/>
                <a:ea typeface="Source Serif 4" pitchFamily="18" charset="-122"/>
                <a:cs typeface="Source Serif 4" pitchFamily="18" charset="-120"/>
              </a:rPr>
              <a:t>Qué queremos lograr</a:t>
            </a:r>
            <a:endParaRPr lang="en-US" sz="2800" dirty="0"/>
          </a:p>
        </p:txBody>
      </p:sp>
      <p:sp>
        <p:nvSpPr>
          <p:cNvPr id="4" name="Text 2"/>
          <p:cNvSpPr/>
          <p:nvPr/>
        </p:nvSpPr>
        <p:spPr>
          <a:xfrm>
            <a:off x="812800" y="1455341"/>
            <a:ext cx="10883392" cy="1771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FBFAF7"/>
                </a:solidFill>
                <a:latin typeface="Source Serif 4" pitchFamily="18" charset="0"/>
                <a:ea typeface="Source Serif 4" pitchFamily="18" charset="-122"/>
                <a:cs typeface="Source Serif 4" pitchFamily="18" charset="-120"/>
              </a:rPr>
              <a:t>Desarrollar y evaluar un planificador de movimiento reactivo, basado en aprendizaje por refuerzo profundo (SAC), que permita al DOBOT Magician E6 evitar obstáculos de forma y posición variables en una celda de manufactura, y compararlo con los planificadores clásicos de OMPL bajo condiciones equivalentes.</a:t>
            </a:r>
            <a:endParaRPr lang="en-US" sz="2200" dirty="0"/>
          </a:p>
        </p:txBody>
      </p:sp>
      <p:sp>
        <p:nvSpPr>
          <p:cNvPr id="5" name="Shape 3"/>
          <p:cNvSpPr/>
          <p:nvPr/>
        </p:nvSpPr>
        <p:spPr>
          <a:xfrm>
            <a:off x="812800" y="3455591"/>
            <a:ext cx="3420467" cy="827881"/>
          </a:xfrm>
          <a:prstGeom prst="roundRect">
            <a:avLst>
              <a:gd name="adj" fmla="val 12272"/>
            </a:avLst>
          </a:prstGeom>
          <a:solidFill>
            <a:srgbClr val="2C3550"/>
          </a:solidFill>
          <a:ln/>
        </p:spPr>
      </p:sp>
      <p:pic>
        <p:nvPicPr>
          <p:cNvPr id="6" name="Image 0" descr="Check">    </p:cNvPr>
          <p:cNvPicPr>
            <a:picLocks noChangeAspect="1"/>
          </p:cNvPicPr>
          <p:nvPr/>
        </p:nvPicPr>
        <p:blipFill>
          <a:blip r:embed="rId1"/>
          <a:srcRect l="0" r="0" t="0" b="0"/>
          <a:stretch/>
        </p:blipFill>
        <p:spPr>
          <a:xfrm>
            <a:off x="990600" y="3717131"/>
            <a:ext cx="304800" cy="304800"/>
          </a:xfrm>
          <a:prstGeom prst="rect">
            <a:avLst/>
          </a:prstGeom>
        </p:spPr>
      </p:pic>
      <p:sp>
        <p:nvSpPr>
          <p:cNvPr id="7" name="Text 4"/>
          <p:cNvSpPr/>
          <p:nvPr/>
        </p:nvSpPr>
        <p:spPr>
          <a:xfrm>
            <a:off x="1422400" y="3620691"/>
            <a:ext cx="271205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AF7"/>
                </a:solidFill>
                <a:latin typeface="IBM Plex Sans" pitchFamily="34" charset="0"/>
                <a:ea typeface="IBM Plex Sans" pitchFamily="34" charset="-122"/>
                <a:cs typeface="IBM Plex Sans" pitchFamily="34" charset="-120"/>
              </a:rPr>
              <a:t>Evitar obstáculos de forma y posición variables</a:t>
            </a:r>
            <a:endParaRPr lang="en-US" sz="1400" dirty="0"/>
          </a:p>
        </p:txBody>
      </p:sp>
      <p:sp>
        <p:nvSpPr>
          <p:cNvPr id="8" name="Shape 5"/>
          <p:cNvSpPr/>
          <p:nvPr/>
        </p:nvSpPr>
        <p:spPr>
          <a:xfrm>
            <a:off x="4385667" y="3455591"/>
            <a:ext cx="3420566" cy="827881"/>
          </a:xfrm>
          <a:prstGeom prst="roundRect">
            <a:avLst>
              <a:gd name="adj" fmla="val 12272"/>
            </a:avLst>
          </a:prstGeom>
          <a:solidFill>
            <a:srgbClr val="2C3550"/>
          </a:solidFill>
          <a:ln/>
        </p:spPr>
      </p:sp>
      <p:pic>
        <p:nvPicPr>
          <p:cNvPr id="9" name="Image 1" descr="Chart">    </p:cNvPr>
          <p:cNvPicPr>
            <a:picLocks noChangeAspect="1"/>
          </p:cNvPicPr>
          <p:nvPr/>
        </p:nvPicPr>
        <p:blipFill>
          <a:blip r:embed="rId2"/>
          <a:srcRect l="0" r="0" t="0" b="0"/>
          <a:stretch/>
        </p:blipFill>
        <p:spPr>
          <a:xfrm>
            <a:off x="4563467" y="3717131"/>
            <a:ext cx="304800" cy="304800"/>
          </a:xfrm>
          <a:prstGeom prst="rect">
            <a:avLst/>
          </a:prstGeom>
        </p:spPr>
      </p:pic>
      <p:sp>
        <p:nvSpPr>
          <p:cNvPr id="10" name="Text 6"/>
          <p:cNvSpPr/>
          <p:nvPr/>
        </p:nvSpPr>
        <p:spPr>
          <a:xfrm>
            <a:off x="4995267" y="3620691"/>
            <a:ext cx="271216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AF7"/>
                </a:solidFill>
                <a:latin typeface="IBM Plex Sans" pitchFamily="34" charset="0"/>
                <a:ea typeface="IBM Plex Sans" pitchFamily="34" charset="-122"/>
                <a:cs typeface="IBM Plex Sans" pitchFamily="34" charset="-120"/>
              </a:rPr>
              <a:t>Comparar con OMPL en igualdad de condiciones</a:t>
            </a:r>
            <a:endParaRPr lang="en-US" sz="1400" dirty="0"/>
          </a:p>
        </p:txBody>
      </p:sp>
      <p:sp>
        <p:nvSpPr>
          <p:cNvPr id="11" name="Shape 7"/>
          <p:cNvSpPr/>
          <p:nvPr/>
        </p:nvSpPr>
        <p:spPr>
          <a:xfrm>
            <a:off x="7958634" y="3455591"/>
            <a:ext cx="3420566" cy="827881"/>
          </a:xfrm>
          <a:prstGeom prst="roundRect">
            <a:avLst>
              <a:gd name="adj" fmla="val 12272"/>
            </a:avLst>
          </a:prstGeom>
          <a:solidFill>
            <a:srgbClr val="2C3550"/>
          </a:solidFill>
          <a:ln/>
        </p:spPr>
      </p:sp>
      <p:pic>
        <p:nvPicPr>
          <p:cNvPr id="12" name="Image 2" descr="Search">    </p:cNvPr>
          <p:cNvPicPr>
            <a:picLocks noChangeAspect="1"/>
          </p:cNvPicPr>
          <p:nvPr/>
        </p:nvPicPr>
        <p:blipFill>
          <a:blip r:embed="rId3"/>
          <a:srcRect l="0" r="0" t="0" b="0"/>
          <a:stretch/>
        </p:blipFill>
        <p:spPr>
          <a:xfrm>
            <a:off x="8136434" y="3717131"/>
            <a:ext cx="304800" cy="304800"/>
          </a:xfrm>
          <a:prstGeom prst="rect">
            <a:avLst/>
          </a:prstGeom>
        </p:spPr>
      </p:pic>
      <p:sp>
        <p:nvSpPr>
          <p:cNvPr id="13" name="Text 8"/>
          <p:cNvSpPr/>
          <p:nvPr/>
        </p:nvSpPr>
        <p:spPr>
          <a:xfrm>
            <a:off x="8568234" y="3620691"/>
            <a:ext cx="271216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AF7"/>
                </a:solidFill>
                <a:latin typeface="IBM Plex Sans" pitchFamily="34" charset="0"/>
                <a:ea typeface="IBM Plex Sans" pitchFamily="34" charset="-122"/>
                <a:cs typeface="IBM Plex Sans" pitchFamily="34" charset="-120"/>
              </a:rPr>
              <a:t>Medir hasta dónde generaliza la política</a:t>
            </a:r>
            <a:endParaRPr lang="en-US" sz="1400" dirty="0"/>
          </a:p>
        </p:txBody>
      </p:sp>
      <p:sp>
        <p:nvSpPr>
          <p:cNvPr id="14"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ECB"/>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15" name="Text 10"/>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BECB"/>
                </a:solidFill>
                <a:latin typeface="IBM Plex Sans" pitchFamily="34" charset="0"/>
                <a:ea typeface="IBM Plex Sans" pitchFamily="34" charset="-122"/>
                <a:cs typeface="IBM Plex Sans" pitchFamily="34" charset="-120"/>
              </a:rPr>
              <a:t>8</a:t>
            </a:r>
            <a:endParaRPr lang="en-US" sz="1200" dirty="0"/>
          </a:p>
        </p:txBody>
      </p:sp>
      <p:pic>
        <p:nvPicPr>
          <p:cNvPr id="16" name="Image 3" descr="Escudo UNI">    </p:cNvPr>
          <p:cNvPicPr>
            <a:picLocks noChangeAspect="1"/>
          </p:cNvPicPr>
          <p:nvPr/>
        </p:nvPicPr>
        <p:blipFill>
          <a:blip r:embed="rId4">
            <a:alphaModFix amt="90000"/>
          </a:blip>
          <a:srcRect l="0" r="0" t="-499" b="-499"/>
          <a:stretch/>
        </p:blipFill>
        <p:spPr>
          <a:xfrm>
            <a:off x="11049000" y="6146800"/>
            <a:ext cx="330200" cy="40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4 · OBJETIVOS ESPECÍFICOS</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Cada objetivo con su indicador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91841"/>
          <a:ext cx="10553700" cy="2968030"/>
        </p:xfrm>
        <a:graphic>
          <a:graphicData uri="http://schemas.openxmlformats.org/drawingml/2006/table">
            <a:tbl>
              <a:tblPr/>
              <a:tblGrid>
                <a:gridCol w="633222"/>
                <a:gridCol w="4221480"/>
                <a:gridCol w="4010406"/>
                <a:gridCol w="1688592"/>
              </a:tblGrid>
              <a:tr h="332581">
                <a:tc>
                  <a:txBody>
                    <a:bodyPr/>
                    <a:lstStyle/>
                    <a:p>
                      <a:pPr algn="ct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N.º</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Objetivo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Indicador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Estado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r>
              <a:tr h="545902">
                <a:tc>
                  <a:txBody>
                    <a:bodyPr/>
                    <a:lstStyle/>
                    <a:p>
                      <a:pPr algn="ctr" indent="0" marL="0">
                        <a:lnSpc>
                          <a:spcPts val="1680"/>
                        </a:lnSpc>
                        <a:buNone/>
                      </a:pPr>
                      <a:r>
                        <a:rPr lang="en-US" sz="1200" dirty="0">
                          <a:solidFill>
                            <a:srgbClr val="8A0000"/>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Modelar el E6 y la celda como fuente única para PyBullet, MoveIt 2 y Gazebo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91 pruebas automáticas aprobadas; 8 escenarios desde una biblioteca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6B3A"/>
                          </a:solidFill>
                          <a:latin typeface="IBM Plex Sans" pitchFamily="34" charset="0"/>
                          <a:ea typeface="IBM Plex Sans" pitchFamily="34" charset="-122"/>
                          <a:cs typeface="IBM Plex Sans" pitchFamily="34" charset="-120"/>
                        </a:rPr>
                        <a:t>Logrado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algn="ctr" indent="0" marL="0">
                        <a:lnSpc>
                          <a:spcPts val="1680"/>
                        </a:lnSpc>
                        <a:buNone/>
                      </a:pPr>
                      <a:r>
                        <a:rPr lang="en-US" sz="1200" dirty="0">
                          <a:solidFill>
                            <a:srgbClr val="8A0000"/>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Definir el contrato de escenarios y las 5 métricas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100 escenas de evaluación fijas y 19 variantes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B6B3A"/>
                          </a:solidFill>
                          <a:latin typeface="IBM Plex Sans" pitchFamily="34" charset="0"/>
                          <a:ea typeface="IBM Plex Sans" pitchFamily="34" charset="-122"/>
                          <a:cs typeface="IBM Plex Sans" pitchFamily="34" charset="-120"/>
                        </a:rPr>
                        <a:t>Logrado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545902">
                <a:tc>
                  <a:txBody>
                    <a:bodyPr/>
                    <a:lstStyle/>
                    <a:p>
                      <a:pPr algn="ctr" indent="0" marL="0">
                        <a:lnSpc>
                          <a:spcPts val="1680"/>
                        </a:lnSpc>
                        <a:buNone/>
                      </a:pPr>
                      <a:r>
                        <a:rPr lang="en-US" sz="1200" dirty="0">
                          <a:solidFill>
                            <a:srgbClr val="8A0000"/>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Medir la línea base clásica (RRT-Connect, LazyPRM*)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Al menos 100 escenas por planificador con las mismas métricas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6B3A"/>
                          </a:solidFill>
                          <a:latin typeface="IBM Plex Sans" pitchFamily="34" charset="0"/>
                          <a:ea typeface="IBM Plex Sans" pitchFamily="34" charset="-122"/>
                          <a:cs typeface="IBM Plex Sans" pitchFamily="34" charset="-120"/>
                        </a:rPr>
                        <a:t>Logrado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algn="ctr" indent="0" marL="0">
                        <a:lnSpc>
                          <a:spcPts val="1680"/>
                        </a:lnSpc>
                        <a:buNone/>
                      </a:pPr>
                      <a:r>
                        <a:rPr lang="en-US" sz="1200" dirty="0">
                          <a:solidFill>
                            <a:srgbClr val="8A0000"/>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Entrenar una política SAC con tres semillas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3 corridas de 1 M de pasos con validación periódica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B6B3A"/>
                          </a:solidFill>
                          <a:latin typeface="IBM Plex Sans" pitchFamily="34" charset="0"/>
                          <a:ea typeface="IBM Plex Sans" pitchFamily="34" charset="-122"/>
                          <a:cs typeface="IBM Plex Sans" pitchFamily="34" charset="-120"/>
                        </a:rPr>
                        <a:t>Logrado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545902">
                <a:tc>
                  <a:txBody>
                    <a:bodyPr/>
                    <a:lstStyle/>
                    <a:p>
                      <a:pPr algn="ctr" indent="0" marL="0">
                        <a:lnSpc>
                          <a:spcPts val="1680"/>
                        </a:lnSpc>
                        <a:buNone/>
                      </a:pPr>
                      <a:r>
                        <a:rPr lang="en-US" sz="1200" dirty="0">
                          <a:solidFill>
                            <a:srgbClr val="8A0000"/>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Validar frente a OMPL y medir la generalización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Wilcoxon pareado (α = 0.05) y éxito fuera de distribución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En curso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algn="ctr" indent="0" marL="0">
                        <a:lnSpc>
                          <a:spcPts val="1680"/>
                        </a:lnSpc>
                        <a:buNone/>
                      </a:pPr>
                      <a:r>
                        <a:rPr lang="en-US" sz="1200" dirty="0">
                          <a:solidFill>
                            <a:srgbClr val="8A0000"/>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Diseñar la integración electrónica con el controlador del E6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Latencia del lazo menor que 30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5A6070"/>
                          </a:solidFill>
                          <a:latin typeface="IBM Plex Sans" pitchFamily="34" charset="0"/>
                          <a:ea typeface="IBM Plex Sans" pitchFamily="34" charset="-122"/>
                          <a:cs typeface="IBM Plex Sans" pitchFamily="34" charset="-120"/>
                        </a:rPr>
                        <a:t>Pendiente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6" name="Text 3"/>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9</a:t>
            </a:r>
            <a:endParaRPr lang="en-US" sz="1200" dirty="0"/>
          </a:p>
        </p:txBody>
      </p:sp>
      <p:pic>
        <p:nvPicPr>
          <p:cNvPr id="7" name="Image 0" descr="Escudo UNI">    </p:cNvPr>
          <p:cNvPicPr>
            <a:picLocks noChangeAspect="1"/>
          </p:cNvPicPr>
          <p:nvPr/>
        </p:nvPicPr>
        <p:blipFill>
          <a:blip r:embed="rId1"/>
          <a:srcRect l="0" r="0" t="-499" b="-499"/>
          <a:stretch/>
        </p:blipFill>
        <p:spPr>
          <a:xfrm>
            <a:off x="11049000" y="6146800"/>
            <a:ext cx="330200" cy="406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5 · SOLUCIÓN PROPUESTA</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Diagrama de bloques pictórico</a:t>
            </a:r>
            <a:endParaRPr lang="en-US" sz="2800" dirty="0"/>
          </a:p>
        </p:txBody>
      </p:sp>
      <p:sp>
        <p:nvSpPr>
          <p:cNvPr id="4" name="Shape 2"/>
          <p:cNvSpPr/>
          <p:nvPr/>
        </p:nvSpPr>
        <p:spPr>
          <a:xfrm>
            <a:off x="815975" y="1356916"/>
            <a:ext cx="10560050" cy="4235450"/>
          </a:xfrm>
          <a:prstGeom prst="roundRect">
            <a:avLst>
              <a:gd name="adj" fmla="val 2324"/>
            </a:avLst>
          </a:prstGeom>
          <a:solidFill>
            <a:srgbClr val="FFFFFF"/>
          </a:solidFill>
          <a:ln w="6350">
            <a:solidFill>
              <a:srgbClr val="E3DFD6"/>
            </a:solidFill>
            <a:prstDash val="solid"/>
          </a:ln>
        </p:spPr>
      </p:sp>
      <p:pic>
        <p:nvPicPr>
          <p:cNvPr id="5" name="Image 0" descr="Diagrama de bloques del sistema: contrato de escenarios, generador, entorno PyBullet, agente SAC, línea base MoveIt 2 y evaluador común">    </p:cNvPr>
          <p:cNvPicPr>
            <a:picLocks noChangeAspect="1"/>
          </p:cNvPicPr>
          <p:nvPr/>
        </p:nvPicPr>
        <p:blipFill>
          <a:blip r:embed="rId1"/>
          <a:srcRect l="-40" r="-40" t="0" b="0"/>
          <a:stretch/>
        </p:blipFill>
        <p:spPr>
          <a:xfrm>
            <a:off x="1143000" y="1448991"/>
            <a:ext cx="9906000" cy="4051300"/>
          </a:xfrm>
          <a:prstGeom prst="rect">
            <a:avLst/>
          </a:prstGeom>
        </p:spPr>
      </p:pic>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7" name="Text 4"/>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10</a:t>
            </a:r>
            <a:endParaRPr lang="en-US" sz="1200" dirty="0"/>
          </a:p>
        </p:txBody>
      </p:sp>
      <p:pic>
        <p:nvPicPr>
          <p:cNvPr id="8"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5 · SOLUCIÓN PROPUESTA</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Componentes y por qué se eligieron</a:t>
            </a:r>
            <a:endParaRPr lang="en-US" sz="2800" dirty="0"/>
          </a:p>
        </p:txBody>
      </p:sp>
      <p:pic>
        <p:nvPicPr>
          <p:cNvPr id="4" name="Image 0" descr="Simulación del DOBOT Magician E6 sobre la mesa de la celda de escritorio">    </p:cNvPr>
          <p:cNvPicPr>
            <a:picLocks noChangeAspect="1"/>
          </p:cNvPicPr>
          <p:nvPr/>
        </p:nvPicPr>
        <p:blipFill>
          <a:blip r:embed="rId1"/>
          <a:srcRect l="0" r="0" t="26" b="26"/>
          <a:stretch/>
        </p:blipFill>
        <p:spPr>
          <a:xfrm>
            <a:off x="819150" y="1385491"/>
            <a:ext cx="3924300" cy="2635250"/>
          </a:xfrm>
          <a:prstGeom prst="roundRect">
            <a:avLst>
              <a:gd name="adj" fmla="val 3614"/>
            </a:avLst>
          </a:prstGeom>
        </p:spPr>
      </p:pic>
      <p:sp>
        <p:nvSpPr>
          <p:cNvPr id="5" name="Shape 2"/>
          <p:cNvSpPr/>
          <p:nvPr/>
        </p:nvSpPr>
        <p:spPr>
          <a:xfrm>
            <a:off x="815975" y="1382316"/>
            <a:ext cx="3930650" cy="2641600"/>
          </a:xfrm>
          <a:prstGeom prst="roundRect">
            <a:avLst>
              <a:gd name="adj" fmla="val 3726"/>
            </a:avLst>
          </a:prstGeom>
          <a:noFill/>
          <a:ln w="6350">
            <a:solidFill>
              <a:srgbClr val="E3DFD6"/>
            </a:solidFill>
            <a:prstDash val="solid"/>
          </a:ln>
        </p:spPr>
      </p:sp>
      <p:sp>
        <p:nvSpPr>
          <p:cNvPr id="6" name="Text 3"/>
          <p:cNvSpPr/>
          <p:nvPr/>
        </p:nvSpPr>
        <p:spPr>
          <a:xfrm>
            <a:off x="812800" y="4115991"/>
            <a:ext cx="419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60"/>
                </a:solidFill>
                <a:latin typeface="IBM Plex Sans" pitchFamily="34" charset="0"/>
                <a:ea typeface="IBM Plex Sans" pitchFamily="34" charset="-122"/>
                <a:cs typeface="IBM Plex Sans" pitchFamily="34" charset="-120"/>
              </a:rPr>
              <a:t>Magician E6 y celda de escritorio, simulados en PyBullet.</a:t>
            </a:r>
            <a:endParaRPr lang="en-US" sz="1200" dirty="0"/>
          </a:p>
        </p:txBody>
      </p:sp>
      <p:sp>
        <p:nvSpPr>
          <p:cNvPr id="7" name="Shape 4"/>
          <p:cNvSpPr/>
          <p:nvPr/>
        </p:nvSpPr>
        <p:spPr>
          <a:xfrm>
            <a:off x="5006975" y="1382316"/>
            <a:ext cx="6369050" cy="641251"/>
          </a:xfrm>
          <a:prstGeom prst="roundRect">
            <a:avLst>
              <a:gd name="adj" fmla="val 11388"/>
            </a:avLst>
          </a:prstGeom>
          <a:solidFill>
            <a:srgbClr val="FFFFFF"/>
          </a:solidFill>
          <a:ln w="6350">
            <a:solidFill>
              <a:srgbClr val="E3DFD6"/>
            </a:solidFill>
            <a:prstDash val="solid"/>
          </a:ln>
        </p:spPr>
      </p:sp>
      <p:sp>
        <p:nvSpPr>
          <p:cNvPr id="8" name="Text 5"/>
          <p:cNvSpPr/>
          <p:nvPr/>
        </p:nvSpPr>
        <p:spPr>
          <a:xfrm>
            <a:off x="5149850" y="1474391"/>
            <a:ext cx="626579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DOBOT Magician E6</a:t>
            </a:r>
            <a:endParaRPr lang="en-US" sz="1300" dirty="0"/>
          </a:p>
        </p:txBody>
      </p:sp>
      <p:sp>
        <p:nvSpPr>
          <p:cNvPr id="9" name="Text 6"/>
          <p:cNvSpPr/>
          <p:nvPr/>
        </p:nvSpPr>
        <p:spPr>
          <a:xfrm>
            <a:off x="5149850" y="1718171"/>
            <a:ext cx="62657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6 GDL, alcance 450 mm, carga 750 g; hay una unidad en la universidad.</a:t>
            </a:r>
            <a:endParaRPr lang="en-US" sz="1200" dirty="0"/>
          </a:p>
        </p:txBody>
      </p:sp>
      <p:sp>
        <p:nvSpPr>
          <p:cNvPr id="10" name="Shape 7"/>
          <p:cNvSpPr/>
          <p:nvPr/>
        </p:nvSpPr>
        <p:spPr>
          <a:xfrm>
            <a:off x="5006975" y="2106116"/>
            <a:ext cx="6369050" cy="641251"/>
          </a:xfrm>
          <a:prstGeom prst="roundRect">
            <a:avLst>
              <a:gd name="adj" fmla="val 11388"/>
            </a:avLst>
          </a:prstGeom>
          <a:solidFill>
            <a:srgbClr val="FFFFFF"/>
          </a:solidFill>
          <a:ln w="6350">
            <a:solidFill>
              <a:srgbClr val="E3DFD6"/>
            </a:solidFill>
            <a:prstDash val="solid"/>
          </a:ln>
        </p:spPr>
      </p:sp>
      <p:sp>
        <p:nvSpPr>
          <p:cNvPr id="11" name="Text 8"/>
          <p:cNvSpPr/>
          <p:nvPr/>
        </p:nvSpPr>
        <p:spPr>
          <a:xfrm>
            <a:off x="5149850" y="2198191"/>
            <a:ext cx="626579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PyBullet + Gymnasium + SB3</a:t>
            </a:r>
            <a:endParaRPr lang="en-US" sz="1300" dirty="0"/>
          </a:p>
        </p:txBody>
      </p:sp>
      <p:sp>
        <p:nvSpPr>
          <p:cNvPr id="12" name="Text 9"/>
          <p:cNvSpPr/>
          <p:nvPr/>
        </p:nvSpPr>
        <p:spPr>
          <a:xfrm>
            <a:off x="5149850" y="2441972"/>
            <a:ext cx="62657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Simulación rápida (unos 1 000 pasos/s); mismo stack que Mao et al.</a:t>
            </a:r>
            <a:endParaRPr lang="en-US" sz="1200" dirty="0"/>
          </a:p>
        </p:txBody>
      </p:sp>
      <p:sp>
        <p:nvSpPr>
          <p:cNvPr id="13" name="Shape 10"/>
          <p:cNvSpPr/>
          <p:nvPr/>
        </p:nvSpPr>
        <p:spPr>
          <a:xfrm>
            <a:off x="5006975" y="2829917"/>
            <a:ext cx="6369050" cy="641251"/>
          </a:xfrm>
          <a:prstGeom prst="roundRect">
            <a:avLst>
              <a:gd name="adj" fmla="val 11388"/>
            </a:avLst>
          </a:prstGeom>
          <a:solidFill>
            <a:srgbClr val="FFFFFF"/>
          </a:solidFill>
          <a:ln w="6350">
            <a:solidFill>
              <a:srgbClr val="E3DFD6"/>
            </a:solidFill>
            <a:prstDash val="solid"/>
          </a:ln>
        </p:spPr>
      </p:sp>
      <p:sp>
        <p:nvSpPr>
          <p:cNvPr id="14" name="Text 11"/>
          <p:cNvSpPr/>
          <p:nvPr/>
        </p:nvSpPr>
        <p:spPr>
          <a:xfrm>
            <a:off x="5149850" y="2921992"/>
            <a:ext cx="626579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ROS 2 + MoveIt 2 + OMPL + Gazebo</a:t>
            </a:r>
            <a:endParaRPr lang="en-US" sz="1300" dirty="0"/>
          </a:p>
        </p:txBody>
      </p:sp>
      <p:sp>
        <p:nvSpPr>
          <p:cNvPr id="15" name="Text 12"/>
          <p:cNvSpPr/>
          <p:nvPr/>
        </p:nvSpPr>
        <p:spPr>
          <a:xfrm>
            <a:off x="5149850" y="3165773"/>
            <a:ext cx="62657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Línea base estándar, medida en un motor distinto al de entrenamiento.</a:t>
            </a:r>
            <a:endParaRPr lang="en-US" sz="1200" dirty="0"/>
          </a:p>
        </p:txBody>
      </p:sp>
      <p:sp>
        <p:nvSpPr>
          <p:cNvPr id="16" name="Shape 13"/>
          <p:cNvSpPr/>
          <p:nvPr/>
        </p:nvSpPr>
        <p:spPr>
          <a:xfrm>
            <a:off x="5006975" y="3553718"/>
            <a:ext cx="6369050" cy="641251"/>
          </a:xfrm>
          <a:prstGeom prst="roundRect">
            <a:avLst>
              <a:gd name="adj" fmla="val 11388"/>
            </a:avLst>
          </a:prstGeom>
          <a:solidFill>
            <a:srgbClr val="FFFFFF"/>
          </a:solidFill>
          <a:ln w="6350">
            <a:solidFill>
              <a:srgbClr val="E3DFD6"/>
            </a:solidFill>
            <a:prstDash val="solid"/>
          </a:ln>
        </p:spPr>
      </p:sp>
      <p:sp>
        <p:nvSpPr>
          <p:cNvPr id="17" name="Text 14"/>
          <p:cNvSpPr/>
          <p:nvPr/>
        </p:nvSpPr>
        <p:spPr>
          <a:xfrm>
            <a:off x="5149850" y="3645793"/>
            <a:ext cx="626579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Algoritmo SAC</a:t>
            </a:r>
            <a:endParaRPr lang="en-US" sz="1300" dirty="0"/>
          </a:p>
        </p:txBody>
      </p:sp>
      <p:sp>
        <p:nvSpPr>
          <p:cNvPr id="18" name="Text 15"/>
          <p:cNvSpPr/>
          <p:nvPr/>
        </p:nvSpPr>
        <p:spPr>
          <a:xfrm>
            <a:off x="5149850" y="3889573"/>
            <a:ext cx="62657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Más eficiente en muestras que PPO y menos sensible que TD3.</a:t>
            </a:r>
            <a:endParaRPr lang="en-US" sz="1200" dirty="0"/>
          </a:p>
        </p:txBody>
      </p:sp>
      <p:sp>
        <p:nvSpPr>
          <p:cNvPr id="19" name="Shape 16"/>
          <p:cNvSpPr/>
          <p:nvPr/>
        </p:nvSpPr>
        <p:spPr>
          <a:xfrm>
            <a:off x="5006975" y="4277519"/>
            <a:ext cx="6369050" cy="641251"/>
          </a:xfrm>
          <a:prstGeom prst="roundRect">
            <a:avLst>
              <a:gd name="adj" fmla="val 11388"/>
            </a:avLst>
          </a:prstGeom>
          <a:solidFill>
            <a:srgbClr val="FFFFFF"/>
          </a:solidFill>
          <a:ln w="6350">
            <a:solidFill>
              <a:srgbClr val="E3DFD6"/>
            </a:solidFill>
            <a:prstDash val="solid"/>
          </a:ln>
        </p:spPr>
      </p:sp>
      <p:sp>
        <p:nvSpPr>
          <p:cNvPr id="20" name="Text 17"/>
          <p:cNvSpPr/>
          <p:nvPr/>
        </p:nvSpPr>
        <p:spPr>
          <a:xfrm>
            <a:off x="5149850" y="4369594"/>
            <a:ext cx="626579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PC de entrenamiento</a:t>
            </a:r>
            <a:endParaRPr lang="en-US" sz="1300" dirty="0"/>
          </a:p>
        </p:txBody>
      </p:sp>
      <p:sp>
        <p:nvSpPr>
          <p:cNvPr id="21" name="Text 18"/>
          <p:cNvSpPr/>
          <p:nvPr/>
        </p:nvSpPr>
        <p:spPr>
          <a:xfrm>
            <a:off x="5149850" y="4613374"/>
            <a:ext cx="62657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8 núcleos, 32 GB y GPU GTX 1080; prestada.</a:t>
            </a:r>
            <a:endParaRPr lang="en-US" sz="1200" dirty="0"/>
          </a:p>
        </p:txBody>
      </p:sp>
      <p:sp>
        <p:nvSpPr>
          <p:cNvPr id="22"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23" name="Text 20"/>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11</a:t>
            </a:r>
            <a:endParaRPr lang="en-US" sz="1200" dirty="0"/>
          </a:p>
        </p:txBody>
      </p:sp>
      <p:pic>
        <p:nvPicPr>
          <p:cNvPr id="24"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5 · METODOLOGÍA</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Ocho etapas, de la medición al robot real</a:t>
            </a:r>
            <a:endParaRPr lang="en-US" sz="2800" dirty="0"/>
          </a:p>
        </p:txBody>
      </p:sp>
      <p:sp>
        <p:nvSpPr>
          <p:cNvPr id="4" name="Shape 2"/>
          <p:cNvSpPr/>
          <p:nvPr/>
        </p:nvSpPr>
        <p:spPr>
          <a:xfrm>
            <a:off x="815975" y="1369616"/>
            <a:ext cx="10560050" cy="3454400"/>
          </a:xfrm>
          <a:prstGeom prst="roundRect">
            <a:avLst>
              <a:gd name="adj" fmla="val 2849"/>
            </a:avLst>
          </a:prstGeom>
          <a:solidFill>
            <a:srgbClr val="FFFFFF"/>
          </a:solidFill>
          <a:ln w="6350">
            <a:solidFill>
              <a:srgbClr val="E3DFD6"/>
            </a:solidFill>
            <a:prstDash val="solid"/>
          </a:ln>
        </p:spPr>
      </p:sp>
      <p:pic>
        <p:nvPicPr>
          <p:cNvPr id="5" name="Image 0" descr="Diagrama de bloques de las ocho etapas de la metodología">    </p:cNvPr>
          <p:cNvPicPr>
            <a:picLocks noChangeAspect="1"/>
          </p:cNvPicPr>
          <p:nvPr/>
        </p:nvPicPr>
        <p:blipFill>
          <a:blip r:embed="rId1"/>
          <a:srcRect l="-35" r="-35" t="0" b="0"/>
          <a:stretch/>
        </p:blipFill>
        <p:spPr>
          <a:xfrm>
            <a:off x="1016000" y="1461691"/>
            <a:ext cx="10160000" cy="3270250"/>
          </a:xfrm>
          <a:prstGeom prst="rect">
            <a:avLst/>
          </a:prstGeom>
        </p:spPr>
      </p:pic>
      <p:sp>
        <p:nvSpPr>
          <p:cNvPr id="6" name="Text 3"/>
          <p:cNvSpPr/>
          <p:nvPr/>
        </p:nvSpPr>
        <p:spPr>
          <a:xfrm>
            <a:off x="812800" y="4992291"/>
            <a:ext cx="3437434" cy="408880"/>
          </a:xfrm>
          <a:prstGeom prst="roundRect">
            <a:avLst>
              <a:gd name="adj" fmla="val 18636"/>
            </a:avLst>
          </a:prstGeom>
          <a:solidFill>
            <a:srgbClr val="E4F1E8"/>
          </a:solidFill>
          <a:ln/>
        </p:spPr>
        <p:txBody>
          <a:bodyPr wrap="square" lIns="117382" tIns="66582" rIns="22641" bIns="41182" rtlCol="0" anchor="t">
            <a:normAutofit/>
          </a:bodyPr>
          <a:lstStyle/>
          <a:p>
            <a:pPr algn="l" indent="0" marL="0">
              <a:lnSpc>
                <a:spcPts val="1820"/>
              </a:lnSpc>
              <a:buNone/>
            </a:pPr>
            <a:r>
              <a:rPr lang="en-US" sz="1300" b="1" dirty="0">
                <a:solidFill>
                  <a:srgbClr val="1B6B3A"/>
                </a:solidFill>
                <a:latin typeface="IBM Plex Sans" pitchFamily="34" charset="0"/>
                <a:ea typeface="IBM Plex Sans" pitchFamily="34" charset="-122"/>
                <a:cs typeface="IBM Plex Sans" pitchFamily="34" charset="-120"/>
              </a:rPr>
              <a:t>Etapas 1 a 5: realizadas</a:t>
            </a:r>
            <a:endParaRPr lang="en-US" sz="1300" dirty="0"/>
          </a:p>
        </p:txBody>
      </p:sp>
      <p:sp>
        <p:nvSpPr>
          <p:cNvPr id="7" name="Text 4"/>
          <p:cNvSpPr/>
          <p:nvPr/>
        </p:nvSpPr>
        <p:spPr>
          <a:xfrm>
            <a:off x="4377234" y="4992291"/>
            <a:ext cx="3437533" cy="408880"/>
          </a:xfrm>
          <a:prstGeom prst="roundRect">
            <a:avLst>
              <a:gd name="adj" fmla="val 18636"/>
            </a:avLst>
          </a:prstGeom>
          <a:solidFill>
            <a:srgbClr val="FBEBC8"/>
          </a:solidFill>
          <a:ln/>
        </p:spPr>
        <p:txBody>
          <a:bodyPr wrap="square" lIns="117382" tIns="66582" rIns="22638" bIns="41182" rtlCol="0" anchor="t">
            <a:normAutofit/>
          </a:bodyPr>
          <a:lstStyle/>
          <a:p>
            <a:pPr algn="l" indent="0" marL="0">
              <a:lnSpc>
                <a:spcPts val="1820"/>
              </a:lnSpc>
              <a:buNone/>
            </a:pPr>
            <a:r>
              <a:rPr lang="en-US" sz="1300" b="1" dirty="0">
                <a:solidFill>
                  <a:srgbClr val="7A4E00"/>
                </a:solidFill>
                <a:latin typeface="IBM Plex Sans" pitchFamily="34" charset="0"/>
                <a:ea typeface="IBM Plex Sans" pitchFamily="34" charset="-122"/>
                <a:cs typeface="IBM Plex Sans" pitchFamily="34" charset="-120"/>
              </a:rPr>
              <a:t>Etapa 6: en curso</a:t>
            </a:r>
            <a:endParaRPr lang="en-US" sz="1300" dirty="0"/>
          </a:p>
        </p:txBody>
      </p:sp>
      <p:sp>
        <p:nvSpPr>
          <p:cNvPr id="8" name="Text 5"/>
          <p:cNvSpPr/>
          <p:nvPr/>
        </p:nvSpPr>
        <p:spPr>
          <a:xfrm>
            <a:off x="7941766" y="4992291"/>
            <a:ext cx="3437434" cy="408880"/>
          </a:xfrm>
          <a:prstGeom prst="roundRect">
            <a:avLst>
              <a:gd name="adj" fmla="val 18636"/>
            </a:avLst>
          </a:prstGeom>
          <a:solidFill>
            <a:srgbClr val="E8E9EE"/>
          </a:solidFill>
          <a:ln/>
        </p:spPr>
        <p:txBody>
          <a:bodyPr wrap="square" lIns="117382" tIns="66582" rIns="22641" bIns="41182" rtlCol="0" anchor="t">
            <a:normAutofit/>
          </a:bodyPr>
          <a:lstStyle/>
          <a:p>
            <a:pPr algn="l" indent="0" marL="0">
              <a:lnSpc>
                <a:spcPts val="1820"/>
              </a:lnSpc>
              <a:buNone/>
            </a:pPr>
            <a:r>
              <a:rPr lang="en-US" sz="1300" b="1" dirty="0">
                <a:solidFill>
                  <a:srgbClr val="4A5160"/>
                </a:solidFill>
                <a:latin typeface="IBM Plex Sans" pitchFamily="34" charset="0"/>
                <a:ea typeface="IBM Plex Sans" pitchFamily="34" charset="-122"/>
                <a:cs typeface="IBM Plex Sans" pitchFamily="34" charset="-120"/>
              </a:rPr>
              <a:t>Etapa 7: pendiente · Etapa 8: adicional</a:t>
            </a:r>
            <a:endParaRPr lang="en-US" sz="13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10" name="Text 7"/>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12</a:t>
            </a:r>
            <a:endParaRPr lang="en-US" sz="1200" dirty="0"/>
          </a:p>
        </p:txBody>
      </p:sp>
      <p:pic>
        <p:nvPicPr>
          <p:cNvPr id="11"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6 · MARCO TEÓRICO · DECISIÓN DE MARKOV</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El problema como proceso de decisión</a:t>
            </a:r>
            <a:endParaRPr lang="en-US" sz="2800" dirty="0"/>
          </a:p>
        </p:txBody>
      </p:sp>
      <p:sp>
        <p:nvSpPr>
          <p:cNvPr id="4" name="Shape 2"/>
          <p:cNvSpPr/>
          <p:nvPr/>
        </p:nvSpPr>
        <p:spPr>
          <a:xfrm>
            <a:off x="815975" y="1369616"/>
            <a:ext cx="3414117" cy="1283791"/>
          </a:xfrm>
          <a:prstGeom prst="roundRect">
            <a:avLst>
              <a:gd name="adj" fmla="val 7667"/>
            </a:avLst>
          </a:prstGeom>
          <a:solidFill>
            <a:srgbClr val="FFFFFF"/>
          </a:solidFill>
          <a:ln w="6350">
            <a:solidFill>
              <a:srgbClr val="E3DFD6"/>
            </a:solidFill>
            <a:prstDash val="solid"/>
          </a:ln>
        </p:spPr>
      </p:sp>
      <p:sp>
        <p:nvSpPr>
          <p:cNvPr id="5" name="Text 3"/>
          <p:cNvSpPr/>
          <p:nvPr/>
        </p:nvSpPr>
        <p:spPr>
          <a:xfrm>
            <a:off x="996950" y="1525191"/>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A0000"/>
                </a:solidFill>
                <a:latin typeface="IBM Plex Sans" pitchFamily="34" charset="0"/>
                <a:ea typeface="IBM Plex Sans" pitchFamily="34" charset="-122"/>
                <a:cs typeface="IBM Plex Sans" pitchFamily="34" charset="-120"/>
              </a:rPr>
              <a:t>Estado s</a:t>
            </a:r>
            <a:endParaRPr lang="en-US" sz="1500" dirty="0"/>
          </a:p>
        </p:txBody>
      </p:sp>
      <p:sp>
        <p:nvSpPr>
          <p:cNvPr id="6" name="Text 4"/>
          <p:cNvSpPr/>
          <p:nvPr/>
        </p:nvSpPr>
        <p:spPr>
          <a:xfrm>
            <a:off x="996950" y="1804591"/>
            <a:ext cx="314373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43 valores: q (6), Δq previo (6), error de pose (7) y distancia y dirección al obstáculo por eslabón (24).</a:t>
            </a:r>
            <a:endParaRPr lang="en-US" sz="1300" dirty="0"/>
          </a:p>
        </p:txBody>
      </p:sp>
      <p:sp>
        <p:nvSpPr>
          <p:cNvPr id="7" name="Shape 5"/>
          <p:cNvSpPr/>
          <p:nvPr/>
        </p:nvSpPr>
        <p:spPr>
          <a:xfrm>
            <a:off x="4388842" y="1369616"/>
            <a:ext cx="3414216" cy="1283791"/>
          </a:xfrm>
          <a:prstGeom prst="roundRect">
            <a:avLst>
              <a:gd name="adj" fmla="val 7667"/>
            </a:avLst>
          </a:prstGeom>
          <a:solidFill>
            <a:srgbClr val="FFFFFF"/>
          </a:solidFill>
          <a:ln w="6350">
            <a:solidFill>
              <a:srgbClr val="E3DFD6"/>
            </a:solidFill>
            <a:prstDash val="solid"/>
          </a:ln>
        </p:spPr>
      </p:sp>
      <p:sp>
        <p:nvSpPr>
          <p:cNvPr id="8" name="Text 6"/>
          <p:cNvSpPr/>
          <p:nvPr/>
        </p:nvSpPr>
        <p:spPr>
          <a:xfrm>
            <a:off x="4569817" y="152519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A0000"/>
                </a:solidFill>
                <a:latin typeface="IBM Plex Sans" pitchFamily="34" charset="0"/>
                <a:ea typeface="IBM Plex Sans" pitchFamily="34" charset="-122"/>
                <a:cs typeface="IBM Plex Sans" pitchFamily="34" charset="-120"/>
              </a:rPr>
              <a:t>Acción a</a:t>
            </a:r>
            <a:endParaRPr lang="en-US" sz="1500" dirty="0"/>
          </a:p>
        </p:txBody>
      </p:sp>
      <p:sp>
        <p:nvSpPr>
          <p:cNvPr id="9" name="Text 7"/>
          <p:cNvSpPr/>
          <p:nvPr/>
        </p:nvSpPr>
        <p:spPr>
          <a:xfrm>
            <a:off x="4569817" y="1804591"/>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Seis valores en [−1, 1] que se traducen a Δq = 0.05·a rad cada 30 ms.</a:t>
            </a:r>
            <a:endParaRPr lang="en-US" sz="1300" dirty="0"/>
          </a:p>
        </p:txBody>
      </p:sp>
      <p:sp>
        <p:nvSpPr>
          <p:cNvPr id="10" name="Shape 8"/>
          <p:cNvSpPr/>
          <p:nvPr/>
        </p:nvSpPr>
        <p:spPr>
          <a:xfrm>
            <a:off x="7961809" y="1369616"/>
            <a:ext cx="3414216" cy="1283791"/>
          </a:xfrm>
          <a:prstGeom prst="roundRect">
            <a:avLst>
              <a:gd name="adj" fmla="val 7667"/>
            </a:avLst>
          </a:prstGeom>
          <a:solidFill>
            <a:srgbClr val="FFFFFF"/>
          </a:solidFill>
          <a:ln w="6350">
            <a:solidFill>
              <a:srgbClr val="E3DFD6"/>
            </a:solidFill>
            <a:prstDash val="solid"/>
          </a:ln>
        </p:spPr>
      </p:sp>
      <p:sp>
        <p:nvSpPr>
          <p:cNvPr id="11" name="Text 9"/>
          <p:cNvSpPr/>
          <p:nvPr/>
        </p:nvSpPr>
        <p:spPr>
          <a:xfrm>
            <a:off x="8142784" y="152519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A0000"/>
                </a:solidFill>
                <a:latin typeface="IBM Plex Sans" pitchFamily="34" charset="0"/>
                <a:ea typeface="IBM Plex Sans" pitchFamily="34" charset="-122"/>
                <a:cs typeface="IBM Plex Sans" pitchFamily="34" charset="-120"/>
              </a:rPr>
              <a:t>Recompensa r</a:t>
            </a:r>
            <a:endParaRPr lang="en-US" sz="1500" dirty="0"/>
          </a:p>
        </p:txBody>
      </p:sp>
      <p:sp>
        <p:nvSpPr>
          <p:cNvPr id="12" name="Text 10"/>
          <p:cNvSpPr/>
          <p:nvPr/>
        </p:nvSpPr>
        <p:spPr>
          <a:xfrm>
            <a:off x="8142784" y="1804591"/>
            <a:ext cx="314383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Progreso, orientación, precisión, proximidad, suavidad y tiempo; +10 por llegar, −10 por chocar.</a:t>
            </a:r>
            <a:endParaRPr lang="en-US" sz="1300" dirty="0"/>
          </a:p>
        </p:txBody>
      </p:sp>
      <p:sp>
        <p:nvSpPr>
          <p:cNvPr id="13" name="Shape 11"/>
          <p:cNvSpPr/>
          <p:nvPr/>
        </p:nvSpPr>
        <p:spPr>
          <a:xfrm>
            <a:off x="815975" y="2824857"/>
            <a:ext cx="10560050" cy="2134791"/>
          </a:xfrm>
          <a:prstGeom prst="roundRect">
            <a:avLst>
              <a:gd name="adj" fmla="val 4611"/>
            </a:avLst>
          </a:prstGeom>
          <a:solidFill>
            <a:srgbClr val="FFFFFF"/>
          </a:solidFill>
          <a:ln w="6350">
            <a:solidFill>
              <a:srgbClr val="E3DFD6"/>
            </a:solidFill>
            <a:prstDash val="solid"/>
          </a:ln>
        </p:spPr>
      </p:sp>
      <p:sp>
        <p:nvSpPr>
          <p:cNvPr id="14" name="Text 12"/>
          <p:cNvSpPr/>
          <p:nvPr/>
        </p:nvSpPr>
        <p:spPr>
          <a:xfrm>
            <a:off x="996950" y="2967732"/>
            <a:ext cx="105040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160"/>
                </a:solidFill>
                <a:latin typeface="IBM Plex Sans" pitchFamily="34" charset="0"/>
                <a:ea typeface="IBM Plex Sans" pitchFamily="34" charset="-122"/>
                <a:cs typeface="IBM Plex Sans" pitchFamily="34" charset="-120"/>
              </a:rPr>
              <a:t>Retorno que se maximiza</a:t>
            </a:r>
            <a:endParaRPr lang="en-US" sz="1200" dirty="0"/>
          </a:p>
        </p:txBody>
      </p:sp>
      <p:pic>
        <p:nvPicPr>
          <p:cNvPr id="15" name="Image 0" descr="J de pi igual a la esperanza de la suma de gamma a la t por r de s_t y a_t, con gamma igual a 0.99">    </p:cNvPr>
          <p:cNvPicPr>
            <a:picLocks noChangeAspect="1"/>
          </p:cNvPicPr>
          <p:nvPr/>
        </p:nvPicPr>
        <p:blipFill>
          <a:blip r:embed="rId1"/>
          <a:srcRect l="0" r="0" t="-75" b="-75"/>
          <a:stretch/>
        </p:blipFill>
        <p:spPr>
          <a:xfrm>
            <a:off x="996950" y="3257252"/>
            <a:ext cx="3048000" cy="571500"/>
          </a:xfrm>
          <a:prstGeom prst="rect">
            <a:avLst/>
          </a:prstGeom>
        </p:spPr>
      </p:pic>
      <p:sp>
        <p:nvSpPr>
          <p:cNvPr id="16" name="Text 13"/>
          <p:cNvSpPr/>
          <p:nvPr/>
        </p:nvSpPr>
        <p:spPr>
          <a:xfrm>
            <a:off x="996950" y="3904952"/>
            <a:ext cx="105040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160"/>
                </a:solidFill>
                <a:latin typeface="IBM Plex Sans" pitchFamily="34" charset="0"/>
                <a:ea typeface="IBM Plex Sans" pitchFamily="34" charset="-122"/>
                <a:cs typeface="IBM Plex Sans" pitchFamily="34" charset="-120"/>
              </a:rPr>
              <a:t>Recompensa por paso</a:t>
            </a:r>
            <a:endParaRPr lang="en-US" sz="1200" dirty="0"/>
          </a:p>
        </p:txBody>
      </p:sp>
      <p:pic>
        <p:nvPicPr>
          <p:cNvPr id="17" name="Image 1" descr="Recompensa: progreso, orientación, potencial de precisión, castigos por proximidad, suavidad y tiempo, premio por éxito y castigo por colisión">    </p:cNvPr>
          <p:cNvPicPr>
            <a:picLocks noChangeAspect="1"/>
          </p:cNvPicPr>
          <p:nvPr/>
        </p:nvPicPr>
        <p:blipFill>
          <a:blip r:embed="rId2"/>
          <a:srcRect l="-238" r="-238" t="0" b="0"/>
          <a:stretch/>
        </p:blipFill>
        <p:spPr>
          <a:xfrm>
            <a:off x="996950" y="4194473"/>
            <a:ext cx="9906000" cy="622300"/>
          </a:xfrm>
          <a:prstGeom prst="rect">
            <a:avLst/>
          </a:prstGeom>
        </p:spPr>
      </p:pic>
      <p:sp>
        <p:nvSpPr>
          <p:cNvPr id="18"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19" name="Text 15"/>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13</a:t>
            </a:r>
            <a:endParaRPr lang="en-US" sz="1200" dirty="0"/>
          </a:p>
        </p:txBody>
      </p:sp>
      <p:pic>
        <p:nvPicPr>
          <p:cNvPr id="20" name="Image 2" descr="Escudo UNI">    </p:cNvPr>
          <p:cNvPicPr>
            <a:picLocks noChangeAspect="1"/>
          </p:cNvPicPr>
          <p:nvPr/>
        </p:nvPicPr>
        <p:blipFill>
          <a:blip r:embed="rId3"/>
          <a:srcRect l="0" r="0" t="-499" b="-499"/>
          <a:stretch/>
        </p:blipFill>
        <p:spPr>
          <a:xfrm>
            <a:off x="11049000" y="6146800"/>
            <a:ext cx="330200" cy="406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6 · MARCO TEÓRICO · SOFT ACTOR-CRÍTICO</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SAC maximiza recompensa y entropía</a:t>
            </a:r>
            <a:endParaRPr lang="en-US" sz="2800" dirty="0"/>
          </a:p>
        </p:txBody>
      </p:sp>
      <p:sp>
        <p:nvSpPr>
          <p:cNvPr id="4" name="Shape 2"/>
          <p:cNvSpPr/>
          <p:nvPr/>
        </p:nvSpPr>
        <p:spPr>
          <a:xfrm>
            <a:off x="815975" y="1344216"/>
            <a:ext cx="10560050" cy="539750"/>
          </a:xfrm>
          <a:prstGeom prst="roundRect">
            <a:avLst>
              <a:gd name="adj" fmla="val 13529"/>
            </a:avLst>
          </a:prstGeom>
          <a:solidFill>
            <a:srgbClr val="FFFFFF"/>
          </a:solidFill>
          <a:ln w="6350">
            <a:solidFill>
              <a:srgbClr val="E3DFD6"/>
            </a:solidFill>
            <a:prstDash val="solid"/>
          </a:ln>
        </p:spPr>
      </p:sp>
      <p:sp>
        <p:nvSpPr>
          <p:cNvPr id="5" name="Text 3"/>
          <p:cNvSpPr/>
          <p:nvPr/>
        </p:nvSpPr>
        <p:spPr>
          <a:xfrm>
            <a:off x="971550" y="1498501"/>
            <a:ext cx="27470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Objetivo con entropía</a:t>
            </a:r>
            <a:endParaRPr lang="en-US" sz="1300" dirty="0"/>
          </a:p>
        </p:txBody>
      </p:sp>
      <p:pic>
        <p:nvPicPr>
          <p:cNvPr id="6" name="Image 0" descr="J de pi igual a la suma de la esperanza de r más alfa por la entropía de la política">    </p:cNvPr>
          <p:cNvPicPr>
            <a:picLocks noChangeAspect="1"/>
          </p:cNvPicPr>
          <p:nvPr/>
        </p:nvPicPr>
        <p:blipFill>
          <a:blip r:embed="rId1"/>
          <a:srcRect l="0" r="0" t="-31" b="-31"/>
          <a:stretch/>
        </p:blipFill>
        <p:spPr>
          <a:xfrm>
            <a:off x="3790950" y="1410891"/>
            <a:ext cx="3073400" cy="406400"/>
          </a:xfrm>
          <a:prstGeom prst="rect">
            <a:avLst/>
          </a:prstGeom>
        </p:spPr>
      </p:pic>
      <p:sp>
        <p:nvSpPr>
          <p:cNvPr id="7" name="Shape 4"/>
          <p:cNvSpPr/>
          <p:nvPr/>
        </p:nvSpPr>
        <p:spPr>
          <a:xfrm>
            <a:off x="815975" y="1953816"/>
            <a:ext cx="10560050" cy="488950"/>
          </a:xfrm>
          <a:prstGeom prst="roundRect">
            <a:avLst>
              <a:gd name="adj" fmla="val 14935"/>
            </a:avLst>
          </a:prstGeom>
          <a:solidFill>
            <a:srgbClr val="FFFFFF"/>
          </a:solidFill>
          <a:ln w="6350">
            <a:solidFill>
              <a:srgbClr val="E3DFD6"/>
            </a:solidFill>
            <a:prstDash val="solid"/>
          </a:ln>
        </p:spPr>
      </p:sp>
      <p:sp>
        <p:nvSpPr>
          <p:cNvPr id="8" name="Text 5"/>
          <p:cNvSpPr/>
          <p:nvPr/>
        </p:nvSpPr>
        <p:spPr>
          <a:xfrm>
            <a:off x="971550" y="2082701"/>
            <a:ext cx="27470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Valor objetivo</a:t>
            </a:r>
            <a:endParaRPr lang="en-US" sz="1300" dirty="0"/>
          </a:p>
        </p:txBody>
      </p:sp>
      <p:pic>
        <p:nvPicPr>
          <p:cNvPr id="9" name="Image 1" descr="y igual a r más gamma por uno menos d por el mínimo de los dos críticos objetivo menos alfa por log de pi">    </p:cNvPr>
          <p:cNvPicPr>
            <a:picLocks noChangeAspect="1"/>
          </p:cNvPicPr>
          <p:nvPr/>
        </p:nvPicPr>
        <p:blipFill>
          <a:blip r:embed="rId2"/>
          <a:srcRect l="-25" r="-25" t="0" b="0"/>
          <a:stretch/>
        </p:blipFill>
        <p:spPr>
          <a:xfrm>
            <a:off x="3790950" y="2020491"/>
            <a:ext cx="4248150" cy="355600"/>
          </a:xfrm>
          <a:prstGeom prst="rect">
            <a:avLst/>
          </a:prstGeom>
        </p:spPr>
      </p:pic>
      <p:sp>
        <p:nvSpPr>
          <p:cNvPr id="10" name="Shape 6"/>
          <p:cNvSpPr/>
          <p:nvPr/>
        </p:nvSpPr>
        <p:spPr>
          <a:xfrm>
            <a:off x="815975" y="2512616"/>
            <a:ext cx="10560050" cy="488950"/>
          </a:xfrm>
          <a:prstGeom prst="roundRect">
            <a:avLst>
              <a:gd name="adj" fmla="val 14935"/>
            </a:avLst>
          </a:prstGeom>
          <a:solidFill>
            <a:srgbClr val="FFFFFF"/>
          </a:solidFill>
          <a:ln w="6350">
            <a:solidFill>
              <a:srgbClr val="E3DFD6"/>
            </a:solidFill>
            <a:prstDash val="solid"/>
          </a:ln>
        </p:spPr>
      </p:sp>
      <p:sp>
        <p:nvSpPr>
          <p:cNvPr id="11" name="Text 7"/>
          <p:cNvSpPr/>
          <p:nvPr/>
        </p:nvSpPr>
        <p:spPr>
          <a:xfrm>
            <a:off x="971550" y="2641501"/>
            <a:ext cx="27470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Crítico</a:t>
            </a:r>
            <a:endParaRPr lang="en-US" sz="1300" dirty="0"/>
          </a:p>
        </p:txBody>
      </p:sp>
      <p:pic>
        <p:nvPicPr>
          <p:cNvPr id="12" name="Image 2" descr="J_Q de theta_i igual a la esperanza del cuadrado de Q menos y">    </p:cNvPr>
          <p:cNvPicPr>
            <a:picLocks noChangeAspect="1"/>
          </p:cNvPicPr>
          <p:nvPr/>
        </p:nvPicPr>
        <p:blipFill>
          <a:blip r:embed="rId3"/>
          <a:srcRect l="-22" r="-22" t="0" b="0"/>
          <a:stretch/>
        </p:blipFill>
        <p:spPr>
          <a:xfrm>
            <a:off x="3790950" y="2579291"/>
            <a:ext cx="3454400" cy="355600"/>
          </a:xfrm>
          <a:prstGeom prst="rect">
            <a:avLst/>
          </a:prstGeom>
        </p:spPr>
      </p:pic>
      <p:sp>
        <p:nvSpPr>
          <p:cNvPr id="13" name="Shape 8"/>
          <p:cNvSpPr/>
          <p:nvPr/>
        </p:nvSpPr>
        <p:spPr>
          <a:xfrm>
            <a:off x="815975" y="3071416"/>
            <a:ext cx="10560050" cy="488950"/>
          </a:xfrm>
          <a:prstGeom prst="roundRect">
            <a:avLst>
              <a:gd name="adj" fmla="val 14935"/>
            </a:avLst>
          </a:prstGeom>
          <a:solidFill>
            <a:srgbClr val="FFFFFF"/>
          </a:solidFill>
          <a:ln w="6350">
            <a:solidFill>
              <a:srgbClr val="E3DFD6"/>
            </a:solidFill>
            <a:prstDash val="solid"/>
          </a:ln>
        </p:spPr>
      </p:sp>
      <p:sp>
        <p:nvSpPr>
          <p:cNvPr id="14" name="Text 9"/>
          <p:cNvSpPr/>
          <p:nvPr/>
        </p:nvSpPr>
        <p:spPr>
          <a:xfrm>
            <a:off x="971550" y="3200301"/>
            <a:ext cx="27470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Actor</a:t>
            </a:r>
            <a:endParaRPr lang="en-US" sz="1300" dirty="0"/>
          </a:p>
        </p:txBody>
      </p:sp>
      <p:pic>
        <p:nvPicPr>
          <p:cNvPr id="15" name="Image 3" descr="J_pi de phi igual a la esperanza de alfa log pi menos el mínimo de Q, con a igual a tanh de mu más sigma por epsilon">    </p:cNvPr>
          <p:cNvPicPr>
            <a:picLocks noChangeAspect="1"/>
          </p:cNvPicPr>
          <p:nvPr/>
        </p:nvPicPr>
        <p:blipFill>
          <a:blip r:embed="rId4"/>
          <a:srcRect l="-5" r="-5" t="0" b="0"/>
          <a:stretch/>
        </p:blipFill>
        <p:spPr>
          <a:xfrm>
            <a:off x="3790950" y="3138091"/>
            <a:ext cx="5638800" cy="355600"/>
          </a:xfrm>
          <a:prstGeom prst="rect">
            <a:avLst/>
          </a:prstGeom>
        </p:spPr>
      </p:pic>
      <p:sp>
        <p:nvSpPr>
          <p:cNvPr id="16" name="Shape 10"/>
          <p:cNvSpPr/>
          <p:nvPr/>
        </p:nvSpPr>
        <p:spPr>
          <a:xfrm>
            <a:off x="815975" y="3630216"/>
            <a:ext cx="10560050" cy="488950"/>
          </a:xfrm>
          <a:prstGeom prst="roundRect">
            <a:avLst>
              <a:gd name="adj" fmla="val 14935"/>
            </a:avLst>
          </a:prstGeom>
          <a:solidFill>
            <a:srgbClr val="FFFFFF"/>
          </a:solidFill>
          <a:ln w="6350">
            <a:solidFill>
              <a:srgbClr val="E3DFD6"/>
            </a:solidFill>
            <a:prstDash val="solid"/>
          </a:ln>
        </p:spPr>
      </p:sp>
      <p:sp>
        <p:nvSpPr>
          <p:cNvPr id="17" name="Text 11"/>
          <p:cNvSpPr/>
          <p:nvPr/>
        </p:nvSpPr>
        <p:spPr>
          <a:xfrm>
            <a:off x="971550" y="3759101"/>
            <a:ext cx="27470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Temperatura (H̄ = −6)</a:t>
            </a:r>
            <a:endParaRPr lang="en-US" sz="1300" dirty="0"/>
          </a:p>
        </p:txBody>
      </p:sp>
      <p:pic>
        <p:nvPicPr>
          <p:cNvPr id="18" name="Image 4" descr="J de alfa igual a la esperanza de menos alfa por log pi más la entropía objetivo">    </p:cNvPr>
          <p:cNvPicPr>
            <a:picLocks noChangeAspect="1"/>
          </p:cNvPicPr>
          <p:nvPr/>
        </p:nvPicPr>
        <p:blipFill>
          <a:blip r:embed="rId5"/>
          <a:srcRect l="0" r="0" t="-9" b="-9"/>
          <a:stretch/>
        </p:blipFill>
        <p:spPr>
          <a:xfrm>
            <a:off x="3790950" y="3696891"/>
            <a:ext cx="5264150" cy="355600"/>
          </a:xfrm>
          <a:prstGeom prst="rect">
            <a:avLst/>
          </a:prstGeom>
        </p:spPr>
      </p:pic>
      <p:sp>
        <p:nvSpPr>
          <p:cNvPr id="19" name="Shape 12"/>
          <p:cNvSpPr/>
          <p:nvPr/>
        </p:nvSpPr>
        <p:spPr>
          <a:xfrm>
            <a:off x="815975" y="4189016"/>
            <a:ext cx="10560050" cy="488950"/>
          </a:xfrm>
          <a:prstGeom prst="roundRect">
            <a:avLst>
              <a:gd name="adj" fmla="val 14935"/>
            </a:avLst>
          </a:prstGeom>
          <a:solidFill>
            <a:srgbClr val="FFFFFF"/>
          </a:solidFill>
          <a:ln w="6350">
            <a:solidFill>
              <a:srgbClr val="E3DFD6"/>
            </a:solidFill>
            <a:prstDash val="solid"/>
          </a:ln>
        </p:spPr>
      </p:sp>
      <p:sp>
        <p:nvSpPr>
          <p:cNvPr id="20" name="Text 13"/>
          <p:cNvSpPr/>
          <p:nvPr/>
        </p:nvSpPr>
        <p:spPr>
          <a:xfrm>
            <a:off x="971550" y="4317901"/>
            <a:ext cx="27470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Redes objetivo (τ = 0.005)</a:t>
            </a:r>
            <a:endParaRPr lang="en-US" sz="1300" dirty="0"/>
          </a:p>
        </p:txBody>
      </p:sp>
      <p:pic>
        <p:nvPicPr>
          <p:cNvPr id="21" name="Image 5" descr="theta barra se actualiza como tau theta más uno menos tau por theta barra">    </p:cNvPr>
          <p:cNvPicPr>
            <a:picLocks noChangeAspect="1"/>
          </p:cNvPicPr>
          <p:nvPr/>
        </p:nvPicPr>
        <p:blipFill>
          <a:blip r:embed="rId6"/>
          <a:srcRect l="0" r="0" t="-51" b="-51"/>
          <a:stretch/>
        </p:blipFill>
        <p:spPr>
          <a:xfrm>
            <a:off x="3790950" y="4255691"/>
            <a:ext cx="3035300" cy="355600"/>
          </a:xfrm>
          <a:prstGeom prst="rect">
            <a:avLst/>
          </a:prstGeom>
        </p:spPr>
      </p:pic>
      <p:sp>
        <p:nvSpPr>
          <p:cNvPr id="22" name="Text 14"/>
          <p:cNvSpPr/>
          <p:nvPr/>
        </p:nvSpPr>
        <p:spPr>
          <a:xfrm>
            <a:off x="812800" y="4820841"/>
            <a:ext cx="10566400" cy="383480"/>
          </a:xfrm>
          <a:prstGeom prst="rect">
            <a:avLst/>
          </a:prstGeom>
          <a:solidFill>
            <a:srgbClr val="F1ECE4"/>
          </a:solidFill>
          <a:ln/>
        </p:spPr>
        <p:txBody>
          <a:bodyPr wrap="square" lIns="190500" tIns="76200" rIns="0" bIns="5080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Hiperparámetros: tasa de aprendizaje 0.0003 · γ = 0.99 · lote 256 · búfer de 1 M · redes de 256 × 256.</a:t>
            </a:r>
            <a:endParaRPr lang="en-US" sz="1300" dirty="0"/>
          </a:p>
        </p:txBody>
      </p:sp>
      <p:sp>
        <p:nvSpPr>
          <p:cNvPr id="23" name="Shape 15"/>
          <p:cNvSpPr/>
          <p:nvPr/>
        </p:nvSpPr>
        <p:spPr>
          <a:xfrm>
            <a:off x="831850" y="4820841"/>
            <a:ext cx="0" cy="383480"/>
          </a:xfrm>
          <a:prstGeom prst="line">
            <a:avLst/>
          </a:prstGeom>
          <a:noFill/>
          <a:ln w="38100">
            <a:solidFill>
              <a:srgbClr val="8A0000"/>
            </a:solidFill>
            <a:prstDash val="solid"/>
          </a:ln>
        </p:spPr>
      </p:sp>
      <p:sp>
        <p:nvSpPr>
          <p:cNvPr id="24"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Haarnoja et al., ICML 2018; Stable-Baselines3 (Raffin et al., 2021).</a:t>
            </a:r>
            <a:endParaRPr lang="en-US" sz="1200" dirty="0"/>
          </a:p>
        </p:txBody>
      </p:sp>
      <p:sp>
        <p:nvSpPr>
          <p:cNvPr id="25" name="Text 17"/>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14</a:t>
            </a:r>
            <a:endParaRPr lang="en-US" sz="1200" dirty="0"/>
          </a:p>
        </p:txBody>
      </p:sp>
      <p:pic>
        <p:nvPicPr>
          <p:cNvPr id="26" name="Image 6" descr="Escudo UNI">    </p:cNvPr>
          <p:cNvPicPr>
            <a:picLocks noChangeAspect="1"/>
          </p:cNvPicPr>
          <p:nvPr/>
        </p:nvPicPr>
        <p:blipFill>
          <a:blip r:embed="rId7"/>
          <a:srcRect l="0" r="0" t="-499" b="-499"/>
          <a:stretch/>
        </p:blipFill>
        <p:spPr>
          <a:xfrm>
            <a:off x="11049000" y="6146800"/>
            <a:ext cx="330200" cy="406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6 · MARCO TEÓRICO · ROBOT, PLANIFICADORES Y MÉTRICAS</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Lo que se mide y contra qué se compara</a:t>
            </a:r>
            <a:endParaRPr lang="en-US" sz="2800" dirty="0"/>
          </a:p>
        </p:txBody>
      </p:sp>
      <p:sp>
        <p:nvSpPr>
          <p:cNvPr id="4" name="Shape 2"/>
          <p:cNvSpPr/>
          <p:nvPr/>
        </p:nvSpPr>
        <p:spPr>
          <a:xfrm>
            <a:off x="815975" y="1382316"/>
            <a:ext cx="4946650" cy="3079750"/>
          </a:xfrm>
          <a:prstGeom prst="roundRect">
            <a:avLst>
              <a:gd name="adj" fmla="val 3196"/>
            </a:avLst>
          </a:prstGeom>
          <a:solidFill>
            <a:srgbClr val="FFFFFF"/>
          </a:solidFill>
          <a:ln w="6350">
            <a:solidFill>
              <a:srgbClr val="E3DFD6"/>
            </a:solidFill>
            <a:prstDash val="solid"/>
          </a:ln>
        </p:spPr>
      </p:sp>
      <p:pic>
        <p:nvPicPr>
          <p:cNvPr id="5" name="Image 0" descr="Mapa de alcanzabilidad del Magician E6 con las poses de recogida y depósito dentro de la zona de mayor manipulabilidad">    </p:cNvPr>
          <p:cNvPicPr>
            <a:picLocks noChangeAspect="1"/>
          </p:cNvPicPr>
          <p:nvPr/>
        </p:nvPicPr>
        <p:blipFill>
          <a:blip r:embed="rId1"/>
          <a:srcRect l="-48" r="-48" t="0" b="0"/>
          <a:stretch/>
        </p:blipFill>
        <p:spPr>
          <a:xfrm>
            <a:off x="882650" y="1448991"/>
            <a:ext cx="4826000" cy="2946400"/>
          </a:xfrm>
          <a:prstGeom prst="rect">
            <a:avLst/>
          </a:prstGeom>
        </p:spPr>
      </p:pic>
      <p:sp>
        <p:nvSpPr>
          <p:cNvPr id="6" name="Text 3"/>
          <p:cNvSpPr/>
          <p:nvPr/>
        </p:nvSpPr>
        <p:spPr>
          <a:xfrm>
            <a:off x="812800" y="4554141"/>
            <a:ext cx="51015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60"/>
                </a:solidFill>
                <a:latin typeface="IBM Plex Sans" pitchFamily="34" charset="0"/>
                <a:ea typeface="IBM Plex Sans" pitchFamily="34" charset="-122"/>
                <a:cs typeface="IBM Plex Sans" pitchFamily="34" charset="-120"/>
              </a:rPr>
              <a:t>Alcanzabilidad del E6: la recogida y el depósito caen en la zona de mayor manipulabilidad.</a:t>
            </a:r>
            <a:endParaRPr lang="en-US" sz="1200" dirty="0"/>
          </a:p>
        </p:txBody>
      </p:sp>
      <p:sp>
        <p:nvSpPr>
          <p:cNvPr id="7" name="Shape 4"/>
          <p:cNvSpPr/>
          <p:nvPr/>
        </p:nvSpPr>
        <p:spPr>
          <a:xfrm>
            <a:off x="5997575" y="1382316"/>
            <a:ext cx="5378450" cy="1349871"/>
          </a:xfrm>
          <a:prstGeom prst="roundRect">
            <a:avLst>
              <a:gd name="adj" fmla="val 5410"/>
            </a:avLst>
          </a:prstGeom>
          <a:solidFill>
            <a:srgbClr val="FFFFFF"/>
          </a:solidFill>
          <a:ln w="6350">
            <a:solidFill>
              <a:srgbClr val="E3DFD6"/>
            </a:solidFill>
            <a:prstDash val="solid"/>
          </a:ln>
        </p:spPr>
      </p:sp>
      <p:sp>
        <p:nvSpPr>
          <p:cNvPr id="8" name="Text 5"/>
          <p:cNvSpPr/>
          <p:nvPr/>
        </p:nvSpPr>
        <p:spPr>
          <a:xfrm>
            <a:off x="6153150" y="1499791"/>
            <a:ext cx="521931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Singularidades</a:t>
            </a:r>
            <a:endParaRPr lang="en-US" sz="1300" dirty="0"/>
          </a:p>
        </p:txBody>
      </p:sp>
      <p:sp>
        <p:nvSpPr>
          <p:cNvPr id="9" name="Text 6"/>
          <p:cNvSpPr/>
          <p:nvPr/>
        </p:nvSpPr>
        <p:spPr>
          <a:xfrm>
            <a:off x="6153150" y="1768971"/>
            <a:ext cx="52193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Manipulabilidad de Yoshikawa; justifica la acción en Δq y no en Cartesiano.</a:t>
            </a:r>
            <a:endParaRPr lang="en-US" sz="1200" dirty="0"/>
          </a:p>
        </p:txBody>
      </p:sp>
      <p:pic>
        <p:nvPicPr>
          <p:cNvPr id="10" name="Image 1" descr="w de q igual al valor absoluto del determinante del jacobiano">    </p:cNvPr>
          <p:cNvPicPr>
            <a:picLocks noChangeAspect="1"/>
          </p:cNvPicPr>
          <p:nvPr/>
        </p:nvPicPr>
        <p:blipFill>
          <a:blip r:embed="rId2"/>
          <a:srcRect l="-67" r="-67" t="0" b="0"/>
          <a:stretch/>
        </p:blipFill>
        <p:spPr>
          <a:xfrm>
            <a:off x="6153150" y="2233712"/>
            <a:ext cx="1905000" cy="381000"/>
          </a:xfrm>
          <a:prstGeom prst="rect">
            <a:avLst/>
          </a:prstGeom>
        </p:spPr>
      </p:pic>
      <p:sp>
        <p:nvSpPr>
          <p:cNvPr id="11" name="Shape 7"/>
          <p:cNvSpPr/>
          <p:nvPr/>
        </p:nvSpPr>
        <p:spPr>
          <a:xfrm>
            <a:off x="5997575" y="2840137"/>
            <a:ext cx="5378450" cy="930771"/>
          </a:xfrm>
          <a:prstGeom prst="roundRect">
            <a:avLst>
              <a:gd name="adj" fmla="val 7846"/>
            </a:avLst>
          </a:prstGeom>
          <a:solidFill>
            <a:srgbClr val="FFFFFF"/>
          </a:solidFill>
          <a:ln w="6350">
            <a:solidFill>
              <a:srgbClr val="E3DFD6"/>
            </a:solidFill>
            <a:prstDash val="solid"/>
          </a:ln>
        </p:spPr>
      </p:sp>
      <p:sp>
        <p:nvSpPr>
          <p:cNvPr id="12" name="Text 8"/>
          <p:cNvSpPr/>
          <p:nvPr/>
        </p:nvSpPr>
        <p:spPr>
          <a:xfrm>
            <a:off x="6153150" y="2957612"/>
            <a:ext cx="521931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Planificación clásica</a:t>
            </a:r>
            <a:endParaRPr lang="en-US" sz="1300" dirty="0"/>
          </a:p>
        </p:txBody>
      </p:sp>
      <p:sp>
        <p:nvSpPr>
          <p:cNvPr id="13" name="Text 9"/>
          <p:cNvSpPr/>
          <p:nvPr/>
        </p:nvSpPr>
        <p:spPr>
          <a:xfrm>
            <a:off x="6153150" y="3226792"/>
            <a:ext cx="52193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RRT-Connect (dos árboles) y LazyPRM* (grafo con verificación perezosa) en OMPL y MoveIt 2.</a:t>
            </a:r>
            <a:endParaRPr lang="en-US" sz="1200" dirty="0"/>
          </a:p>
        </p:txBody>
      </p:sp>
      <p:sp>
        <p:nvSpPr>
          <p:cNvPr id="14" name="Shape 10"/>
          <p:cNvSpPr/>
          <p:nvPr/>
        </p:nvSpPr>
        <p:spPr>
          <a:xfrm>
            <a:off x="5997575" y="3878858"/>
            <a:ext cx="5378450" cy="930771"/>
          </a:xfrm>
          <a:prstGeom prst="roundRect">
            <a:avLst>
              <a:gd name="adj" fmla="val 7846"/>
            </a:avLst>
          </a:prstGeom>
          <a:solidFill>
            <a:srgbClr val="FFFFFF"/>
          </a:solidFill>
          <a:ln w="6350">
            <a:solidFill>
              <a:srgbClr val="E3DFD6"/>
            </a:solidFill>
            <a:prstDash val="solid"/>
          </a:ln>
        </p:spPr>
      </p:sp>
      <p:sp>
        <p:nvSpPr>
          <p:cNvPr id="15" name="Text 11"/>
          <p:cNvSpPr/>
          <p:nvPr/>
        </p:nvSpPr>
        <p:spPr>
          <a:xfrm>
            <a:off x="6153150" y="3996333"/>
            <a:ext cx="521931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0000"/>
                </a:solidFill>
                <a:latin typeface="IBM Plex Sans" pitchFamily="34" charset="0"/>
                <a:ea typeface="IBM Plex Sans" pitchFamily="34" charset="-122"/>
                <a:cs typeface="IBM Plex Sans" pitchFamily="34" charset="-120"/>
              </a:rPr>
              <a:t>Cinco métricas</a:t>
            </a:r>
            <a:endParaRPr lang="en-US" sz="1300" dirty="0"/>
          </a:p>
        </p:txBody>
      </p:sp>
      <p:sp>
        <p:nvSpPr>
          <p:cNvPr id="16" name="Text 12"/>
          <p:cNvSpPr/>
          <p:nvPr/>
        </p:nvSpPr>
        <p:spPr>
          <a:xfrm>
            <a:off x="6153150" y="4265513"/>
            <a:ext cx="52193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Éxito, colisiones, longitud, tiempo y distancia mínima; comparación pareada de Wilcoxon (α = 0.05).</a:t>
            </a:r>
            <a:endParaRPr lang="en-US" sz="1200" dirty="0"/>
          </a:p>
        </p:txBody>
      </p:sp>
      <p:sp>
        <p:nvSpPr>
          <p:cNvPr id="17"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Kuffner y LaValle, 2000; Bohlin y Kavraki, 2000; Şucan et al., 2012; Wilcoxon, 1945.</a:t>
            </a:r>
            <a:endParaRPr lang="en-US" sz="1200" dirty="0"/>
          </a:p>
        </p:txBody>
      </p:sp>
      <p:sp>
        <p:nvSpPr>
          <p:cNvPr id="18" name="Text 14"/>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15</a:t>
            </a:r>
            <a:endParaRPr lang="en-US" sz="1200" dirty="0"/>
          </a:p>
        </p:txBody>
      </p:sp>
      <p:pic>
        <p:nvPicPr>
          <p:cNvPr id="19" name="Image 2" descr="Escudo UNI">    </p:cNvPr>
          <p:cNvPicPr>
            <a:picLocks noChangeAspect="1"/>
          </p:cNvPicPr>
          <p:nvPr/>
        </p:nvPicPr>
        <p:blipFill>
          <a:blip r:embed="rId3"/>
          <a:srcRect l="0" r="0" t="-499" b="-499"/>
          <a:stretch/>
        </p:blipFill>
        <p:spPr>
          <a:xfrm>
            <a:off x="11049000" y="6146800"/>
            <a:ext cx="330200" cy="406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ECE4"/>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7 · APLICACIONES Y USUARIOS</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Dónde se usaría y quién lo usaría</a:t>
            </a:r>
            <a:endParaRPr lang="en-US" sz="2800" dirty="0"/>
          </a:p>
        </p:txBody>
      </p:sp>
      <p:sp>
        <p:nvSpPr>
          <p:cNvPr id="4" name="Shape 2"/>
          <p:cNvSpPr/>
          <p:nvPr/>
        </p:nvSpPr>
        <p:spPr>
          <a:xfrm>
            <a:off x="815975" y="1407716"/>
            <a:ext cx="3397250" cy="2573933"/>
          </a:xfrm>
          <a:prstGeom prst="roundRect">
            <a:avLst>
              <a:gd name="adj" fmla="val 3824"/>
            </a:avLst>
          </a:prstGeom>
          <a:solidFill>
            <a:srgbClr val="FBFAF7"/>
          </a:solidFill>
          <a:ln w="6350">
            <a:solidFill>
              <a:srgbClr val="E3DFD6"/>
            </a:solidFill>
            <a:prstDash val="solid"/>
          </a:ln>
        </p:spPr>
      </p:sp>
      <p:pic>
        <p:nvPicPr>
          <p:cNvPr id="5" name="Image 0" descr="Tool">    </p:cNvPr>
          <p:cNvPicPr>
            <a:picLocks noChangeAspect="1"/>
          </p:cNvPicPr>
          <p:nvPr/>
        </p:nvPicPr>
        <p:blipFill>
          <a:blip r:embed="rId1"/>
          <a:srcRect l="0" r="0" t="0" b="0"/>
          <a:stretch/>
        </p:blipFill>
        <p:spPr>
          <a:xfrm>
            <a:off x="1022350" y="1614091"/>
            <a:ext cx="355600" cy="355600"/>
          </a:xfrm>
          <a:prstGeom prst="rect">
            <a:avLst/>
          </a:prstGeom>
        </p:spPr>
      </p:pic>
      <p:sp>
        <p:nvSpPr>
          <p:cNvPr id="6" name="Text 3"/>
          <p:cNvSpPr/>
          <p:nvPr/>
        </p:nvSpPr>
        <p:spPr>
          <a:xfrm>
            <a:off x="1022350" y="2071291"/>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433"/>
                </a:solidFill>
                <a:latin typeface="IBM Plex Sans" pitchFamily="34" charset="0"/>
                <a:ea typeface="IBM Plex Sans" pitchFamily="34" charset="-122"/>
                <a:cs typeface="IBM Plex Sans" pitchFamily="34" charset="-120"/>
              </a:rPr>
              <a:t>Aplicaciones directas</a:t>
            </a:r>
            <a:endParaRPr lang="en-US" sz="1600" dirty="0"/>
          </a:p>
        </p:txBody>
      </p:sp>
      <p:sp>
        <p:nvSpPr>
          <p:cNvPr id="7" name="Text 4"/>
          <p:cNvSpPr/>
          <p:nvPr/>
        </p:nvSpPr>
        <p:spPr>
          <a:xfrm>
            <a:off x="1022350" y="2416671"/>
            <a:ext cx="30740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Abastecimiento de máquinas CNC.</a:t>
            </a:r>
            <a:endParaRPr lang="en-US" sz="1300" dirty="0"/>
          </a:p>
        </p:txBody>
      </p:sp>
      <p:sp>
        <p:nvSpPr>
          <p:cNvPr id="8" name="Text 5"/>
          <p:cNvSpPr/>
          <p:nvPr/>
        </p:nvSpPr>
        <p:spPr>
          <a:xfrm>
            <a:off x="1022350" y="2749352"/>
            <a:ext cx="30740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Paletizado con utillajes que cambian.</a:t>
            </a:r>
            <a:endParaRPr lang="en-US" sz="1300" dirty="0"/>
          </a:p>
        </p:txBody>
      </p:sp>
      <p:sp>
        <p:nvSpPr>
          <p:cNvPr id="9" name="Text 6"/>
          <p:cNvSpPr/>
          <p:nvPr/>
        </p:nvSpPr>
        <p:spPr>
          <a:xfrm>
            <a:off x="1022350" y="3082032"/>
            <a:ext cx="30740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Cambio de estación del brazo.</a:t>
            </a:r>
            <a:endParaRPr lang="en-US" sz="1300" dirty="0"/>
          </a:p>
        </p:txBody>
      </p:sp>
      <p:sp>
        <p:nvSpPr>
          <p:cNvPr id="10" name="Shape 7"/>
          <p:cNvSpPr/>
          <p:nvPr/>
        </p:nvSpPr>
        <p:spPr>
          <a:xfrm>
            <a:off x="4397375" y="1407716"/>
            <a:ext cx="3397250" cy="2573933"/>
          </a:xfrm>
          <a:prstGeom prst="roundRect">
            <a:avLst>
              <a:gd name="adj" fmla="val 3824"/>
            </a:avLst>
          </a:prstGeom>
          <a:solidFill>
            <a:srgbClr val="FBFAF7"/>
          </a:solidFill>
          <a:ln w="6350">
            <a:solidFill>
              <a:srgbClr val="E3DFD6"/>
            </a:solidFill>
            <a:prstDash val="solid"/>
          </a:ln>
        </p:spPr>
      </p:sp>
      <p:pic>
        <p:nvPicPr>
          <p:cNvPr id="11" name="Image 1" descr="Lightbulb">    </p:cNvPr>
          <p:cNvPicPr>
            <a:picLocks noChangeAspect="1"/>
          </p:cNvPicPr>
          <p:nvPr/>
        </p:nvPicPr>
        <p:blipFill>
          <a:blip r:embed="rId2"/>
          <a:srcRect l="0" r="0" t="0" b="0"/>
          <a:stretch/>
        </p:blipFill>
        <p:spPr>
          <a:xfrm>
            <a:off x="4603750" y="1614091"/>
            <a:ext cx="355600" cy="355600"/>
          </a:xfrm>
          <a:prstGeom prst="rect">
            <a:avLst/>
          </a:prstGeom>
        </p:spPr>
      </p:pic>
      <p:sp>
        <p:nvSpPr>
          <p:cNvPr id="12" name="Text 8"/>
          <p:cNvSpPr/>
          <p:nvPr/>
        </p:nvSpPr>
        <p:spPr>
          <a:xfrm>
            <a:off x="4603750" y="2071291"/>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433"/>
                </a:solidFill>
                <a:latin typeface="IBM Plex Sans" pitchFamily="34" charset="0"/>
                <a:ea typeface="IBM Plex Sans" pitchFamily="34" charset="-122"/>
                <a:cs typeface="IBM Plex Sans" pitchFamily="34" charset="-120"/>
              </a:rPr>
              <a:t>Aplicaciones indirectas</a:t>
            </a:r>
            <a:endParaRPr lang="en-US" sz="1600" dirty="0"/>
          </a:p>
        </p:txBody>
      </p:sp>
      <p:sp>
        <p:nvSpPr>
          <p:cNvPr id="13" name="Text 9"/>
          <p:cNvSpPr/>
          <p:nvPr/>
        </p:nvSpPr>
        <p:spPr>
          <a:xfrm>
            <a:off x="4603750" y="2416671"/>
            <a:ext cx="307403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Banco de pruebas para nuevos planificadores.</a:t>
            </a:r>
            <a:endParaRPr lang="en-US" sz="1300" dirty="0"/>
          </a:p>
        </p:txBody>
      </p:sp>
      <p:sp>
        <p:nvSpPr>
          <p:cNvPr id="14" name="Text 10"/>
          <p:cNvSpPr/>
          <p:nvPr/>
        </p:nvSpPr>
        <p:spPr>
          <a:xfrm>
            <a:off x="4603750" y="2980432"/>
            <a:ext cx="30740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Material docente reproducible.</a:t>
            </a:r>
            <a:endParaRPr lang="en-US" sz="1300" dirty="0"/>
          </a:p>
        </p:txBody>
      </p:sp>
      <p:sp>
        <p:nvSpPr>
          <p:cNvPr id="15" name="Text 11"/>
          <p:cNvSpPr/>
          <p:nvPr/>
        </p:nvSpPr>
        <p:spPr>
          <a:xfrm>
            <a:off x="4603750" y="3313113"/>
            <a:ext cx="307403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Base para percepción real y obstáculos móviles.</a:t>
            </a:r>
            <a:endParaRPr lang="en-US" sz="1300" dirty="0"/>
          </a:p>
        </p:txBody>
      </p:sp>
      <p:sp>
        <p:nvSpPr>
          <p:cNvPr id="16" name="Shape 12"/>
          <p:cNvSpPr/>
          <p:nvPr/>
        </p:nvSpPr>
        <p:spPr>
          <a:xfrm>
            <a:off x="7978775" y="1407716"/>
            <a:ext cx="3397250" cy="2573933"/>
          </a:xfrm>
          <a:prstGeom prst="roundRect">
            <a:avLst>
              <a:gd name="adj" fmla="val 3824"/>
            </a:avLst>
          </a:prstGeom>
          <a:solidFill>
            <a:srgbClr val="FBFAF7"/>
          </a:solidFill>
          <a:ln w="6350">
            <a:solidFill>
              <a:srgbClr val="E3DFD6"/>
            </a:solidFill>
            <a:prstDash val="solid"/>
          </a:ln>
        </p:spPr>
      </p:sp>
      <p:pic>
        <p:nvPicPr>
          <p:cNvPr id="17" name="Image 2" descr="Users">    </p:cNvPr>
          <p:cNvPicPr>
            <a:picLocks noChangeAspect="1"/>
          </p:cNvPicPr>
          <p:nvPr/>
        </p:nvPicPr>
        <p:blipFill>
          <a:blip r:embed="rId3"/>
          <a:srcRect l="0" r="0" t="0" b="0"/>
          <a:stretch/>
        </p:blipFill>
        <p:spPr>
          <a:xfrm>
            <a:off x="8185150" y="1614091"/>
            <a:ext cx="355600" cy="355600"/>
          </a:xfrm>
          <a:prstGeom prst="rect">
            <a:avLst/>
          </a:prstGeom>
        </p:spPr>
      </p:pic>
      <p:sp>
        <p:nvSpPr>
          <p:cNvPr id="18" name="Text 13"/>
          <p:cNvSpPr/>
          <p:nvPr/>
        </p:nvSpPr>
        <p:spPr>
          <a:xfrm>
            <a:off x="8185150" y="2071291"/>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433"/>
                </a:solidFill>
                <a:latin typeface="IBM Plex Sans" pitchFamily="34" charset="0"/>
                <a:ea typeface="IBM Plex Sans" pitchFamily="34" charset="-122"/>
                <a:cs typeface="IBM Plex Sans" pitchFamily="34" charset="-120"/>
              </a:rPr>
              <a:t>Usuarios potenciales</a:t>
            </a:r>
            <a:endParaRPr lang="en-US" sz="1600" dirty="0"/>
          </a:p>
        </p:txBody>
      </p:sp>
      <p:sp>
        <p:nvSpPr>
          <p:cNvPr id="19" name="Text 14"/>
          <p:cNvSpPr/>
          <p:nvPr/>
        </p:nvSpPr>
        <p:spPr>
          <a:xfrm>
            <a:off x="8185150" y="2416671"/>
            <a:ext cx="307403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Pymes metalmecánicas de alta variedad.</a:t>
            </a:r>
            <a:endParaRPr lang="en-US" sz="1300" dirty="0"/>
          </a:p>
        </p:txBody>
      </p:sp>
      <p:sp>
        <p:nvSpPr>
          <p:cNvPr id="20" name="Text 15"/>
          <p:cNvSpPr/>
          <p:nvPr/>
        </p:nvSpPr>
        <p:spPr>
          <a:xfrm>
            <a:off x="8185150" y="2980432"/>
            <a:ext cx="30740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Integradores de robots.</a:t>
            </a:r>
            <a:endParaRPr lang="en-US" sz="1300" dirty="0"/>
          </a:p>
        </p:txBody>
      </p:sp>
      <p:sp>
        <p:nvSpPr>
          <p:cNvPr id="21" name="Text 16"/>
          <p:cNvSpPr/>
          <p:nvPr/>
        </p:nvSpPr>
        <p:spPr>
          <a:xfrm>
            <a:off x="8185150" y="3313113"/>
            <a:ext cx="30740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Laboratorios y escuelas de ingeniería.</a:t>
            </a:r>
            <a:endParaRPr lang="en-US" sz="1300" dirty="0"/>
          </a:p>
        </p:txBody>
      </p:sp>
      <p:sp>
        <p:nvSpPr>
          <p:cNvPr id="22"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23" name="Text 18"/>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16</a:t>
            </a:r>
            <a:endParaRPr lang="en-US" sz="1200" dirty="0"/>
          </a:p>
        </p:txBody>
      </p:sp>
      <p:pic>
        <p:nvPicPr>
          <p:cNvPr id="24" name="Image 3" descr="Escudo UNI">    </p:cNvPr>
          <p:cNvPicPr>
            <a:picLocks noChangeAspect="1"/>
          </p:cNvPicPr>
          <p:nvPr/>
        </p:nvPicPr>
        <p:blipFill>
          <a:blip r:embed="rId4"/>
          <a:srcRect l="0" r="0" t="-499" b="-499"/>
          <a:stretch/>
        </p:blipFill>
        <p:spPr>
          <a:xfrm>
            <a:off x="11049000" y="6146800"/>
            <a:ext cx="330200" cy="406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7 · VIABILIDAD TÉCNICA</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Ya funciona; todavía no iguala a OMPL</a:t>
            </a:r>
            <a:endParaRPr lang="en-US" sz="2800" dirty="0"/>
          </a:p>
        </p:txBody>
      </p:sp>
      <p:sp>
        <p:nvSpPr>
          <p:cNvPr id="4" name="Shape 2"/>
          <p:cNvSpPr/>
          <p:nvPr/>
        </p:nvSpPr>
        <p:spPr>
          <a:xfrm>
            <a:off x="815975" y="1382316"/>
            <a:ext cx="6089650" cy="3238500"/>
          </a:xfrm>
          <a:prstGeom prst="roundRect">
            <a:avLst>
              <a:gd name="adj" fmla="val 3039"/>
            </a:avLst>
          </a:prstGeom>
          <a:solidFill>
            <a:srgbClr val="FFFFFF"/>
          </a:solidFill>
          <a:ln w="6350">
            <a:solidFill>
              <a:srgbClr val="E3DFD6"/>
            </a:solidFill>
            <a:prstDash val="solid"/>
          </a:ln>
        </p:spPr>
      </p:sp>
      <p:pic>
        <p:nvPicPr>
          <p:cNvPr id="5" name="Image 0" descr="Barras de éxito en 100 escenas: RRT-Connect 99 %, LazyPRM* 99 %, SAC semillas 68, 43 y 87 %, media 66 %">    </p:cNvPr>
          <p:cNvPicPr>
            <a:picLocks noChangeAspect="1"/>
          </p:cNvPicPr>
          <p:nvPr/>
        </p:nvPicPr>
        <p:blipFill>
          <a:blip r:embed="rId1"/>
          <a:srcRect l="0" r="0" t="-20" b="-20"/>
          <a:stretch/>
        </p:blipFill>
        <p:spPr>
          <a:xfrm>
            <a:off x="882650" y="1448991"/>
            <a:ext cx="5969000" cy="3105150"/>
          </a:xfrm>
          <a:prstGeom prst="rect">
            <a:avLst/>
          </a:prstGeom>
        </p:spPr>
      </p:pic>
      <p:sp>
        <p:nvSpPr>
          <p:cNvPr id="6" name="Text 3"/>
          <p:cNvSpPr/>
          <p:nvPr/>
        </p:nvSpPr>
        <p:spPr>
          <a:xfrm>
            <a:off x="812800" y="4700191"/>
            <a:ext cx="62788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60"/>
                </a:solidFill>
                <a:latin typeface="IBM Plex Sans" pitchFamily="34" charset="0"/>
                <a:ea typeface="IBM Plex Sans" pitchFamily="34" charset="-122"/>
                <a:cs typeface="IBM Plex Sans" pitchFamily="34" charset="-120"/>
              </a:rPr>
              <a:t>Éxito en 100 escenas fijas de evaluación, con tres semillas independientes.</a:t>
            </a:r>
            <a:endParaRPr lang="en-US" sz="1200" dirty="0"/>
          </a:p>
        </p:txBody>
      </p:sp>
      <p:sp>
        <p:nvSpPr>
          <p:cNvPr id="7" name="Shape 4"/>
          <p:cNvSpPr/>
          <p:nvPr/>
        </p:nvSpPr>
        <p:spPr>
          <a:xfrm>
            <a:off x="7140575" y="1382316"/>
            <a:ext cx="4235450" cy="834330"/>
          </a:xfrm>
          <a:prstGeom prst="roundRect">
            <a:avLst>
              <a:gd name="adj" fmla="val 8753"/>
            </a:avLst>
          </a:prstGeom>
          <a:solidFill>
            <a:srgbClr val="FFFFFF"/>
          </a:solidFill>
          <a:ln w="6350">
            <a:solidFill>
              <a:srgbClr val="E3DFD6"/>
            </a:solidFill>
            <a:prstDash val="solid"/>
          </a:ln>
        </p:spPr>
      </p:sp>
      <p:sp>
        <p:nvSpPr>
          <p:cNvPr id="8" name="Text 5"/>
          <p:cNvSpPr/>
          <p:nvPr/>
        </p:nvSpPr>
        <p:spPr>
          <a:xfrm>
            <a:off x="7296150" y="1499791"/>
            <a:ext cx="4042029"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8A0000"/>
                </a:solidFill>
                <a:latin typeface="Source Serif 4" pitchFamily="18" charset="0"/>
                <a:ea typeface="Source Serif 4" pitchFamily="18" charset="-122"/>
                <a:cs typeface="Source Serif 4" pitchFamily="18" charset="-120"/>
              </a:rPr>
              <a:t>87 %</a:t>
            </a:r>
            <a:endParaRPr lang="en-US" sz="2800" dirty="0"/>
          </a:p>
        </p:txBody>
      </p:sp>
      <p:sp>
        <p:nvSpPr>
          <p:cNvPr id="9" name="Text 6"/>
          <p:cNvSpPr/>
          <p:nvPr/>
        </p:nvSpPr>
        <p:spPr>
          <a:xfrm>
            <a:off x="7296150" y="1885851"/>
            <a:ext cx="40420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éxito de la mejor semilla</a:t>
            </a:r>
            <a:endParaRPr lang="en-US" sz="1200" dirty="0"/>
          </a:p>
        </p:txBody>
      </p:sp>
      <p:sp>
        <p:nvSpPr>
          <p:cNvPr id="10" name="Shape 7"/>
          <p:cNvSpPr/>
          <p:nvPr/>
        </p:nvSpPr>
        <p:spPr>
          <a:xfrm>
            <a:off x="7140575" y="2324596"/>
            <a:ext cx="4235450" cy="834330"/>
          </a:xfrm>
          <a:prstGeom prst="roundRect">
            <a:avLst>
              <a:gd name="adj" fmla="val 8753"/>
            </a:avLst>
          </a:prstGeom>
          <a:solidFill>
            <a:srgbClr val="FFFFFF"/>
          </a:solidFill>
          <a:ln w="6350">
            <a:solidFill>
              <a:srgbClr val="E3DFD6"/>
            </a:solidFill>
            <a:prstDash val="solid"/>
          </a:ln>
        </p:spPr>
      </p:sp>
      <p:sp>
        <p:nvSpPr>
          <p:cNvPr id="11" name="Text 8"/>
          <p:cNvSpPr/>
          <p:nvPr/>
        </p:nvSpPr>
        <p:spPr>
          <a:xfrm>
            <a:off x="7296150" y="2442071"/>
            <a:ext cx="4042029"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8A0000"/>
                </a:solidFill>
                <a:latin typeface="Source Serif 4" pitchFamily="18" charset="0"/>
                <a:ea typeface="Source Serif 4" pitchFamily="18" charset="-122"/>
                <a:cs typeface="Source Serif 4" pitchFamily="18" charset="-120"/>
              </a:rPr>
              <a:t>66 % vs 99 %</a:t>
            </a:r>
            <a:endParaRPr lang="en-US" sz="2800" dirty="0"/>
          </a:p>
        </p:txBody>
      </p:sp>
      <p:sp>
        <p:nvSpPr>
          <p:cNvPr id="12" name="Text 9"/>
          <p:cNvSpPr/>
          <p:nvPr/>
        </p:nvSpPr>
        <p:spPr>
          <a:xfrm>
            <a:off x="7296150" y="2828131"/>
            <a:ext cx="40420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media de SAC frente a RRT-Connect</a:t>
            </a:r>
            <a:endParaRPr lang="en-US" sz="1200" dirty="0"/>
          </a:p>
        </p:txBody>
      </p:sp>
      <p:sp>
        <p:nvSpPr>
          <p:cNvPr id="13" name="Shape 10"/>
          <p:cNvSpPr/>
          <p:nvPr/>
        </p:nvSpPr>
        <p:spPr>
          <a:xfrm>
            <a:off x="7140575" y="3266877"/>
            <a:ext cx="4235450" cy="834330"/>
          </a:xfrm>
          <a:prstGeom prst="roundRect">
            <a:avLst>
              <a:gd name="adj" fmla="val 8753"/>
            </a:avLst>
          </a:prstGeom>
          <a:solidFill>
            <a:srgbClr val="FFFFFF"/>
          </a:solidFill>
          <a:ln w="6350">
            <a:solidFill>
              <a:srgbClr val="E3DFD6"/>
            </a:solidFill>
            <a:prstDash val="solid"/>
          </a:ln>
        </p:spPr>
      </p:sp>
      <p:sp>
        <p:nvSpPr>
          <p:cNvPr id="14" name="Text 11"/>
          <p:cNvSpPr/>
          <p:nvPr/>
        </p:nvSpPr>
        <p:spPr>
          <a:xfrm>
            <a:off x="7296150" y="3384352"/>
            <a:ext cx="4042029"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8A0000"/>
                </a:solidFill>
                <a:latin typeface="Source Serif 4" pitchFamily="18" charset="0"/>
                <a:ea typeface="Source Serif 4" pitchFamily="18" charset="-122"/>
                <a:cs typeface="Source Serif 4" pitchFamily="18" charset="-120"/>
              </a:rPr>
              <a:t>19 vs 98 ms</a:t>
            </a:r>
            <a:endParaRPr lang="en-US" sz="2800" dirty="0"/>
          </a:p>
        </p:txBody>
      </p:sp>
      <p:sp>
        <p:nvSpPr>
          <p:cNvPr id="15" name="Text 12"/>
          <p:cNvSpPr/>
          <p:nvPr/>
        </p:nvSpPr>
        <p:spPr>
          <a:xfrm>
            <a:off x="7296150" y="3770412"/>
            <a:ext cx="40420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cómputo por episodio: unas 5 veces menos</a:t>
            </a:r>
            <a:endParaRPr lang="en-US" sz="12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Cifras medidas por los autores; la política tuvo 2 % de colisiones.</a:t>
            </a:r>
            <a:endParaRPr lang="en-US" sz="1200" dirty="0"/>
          </a:p>
        </p:txBody>
      </p:sp>
      <p:sp>
        <p:nvSpPr>
          <p:cNvPr id="17" name="Text 14"/>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17</a:t>
            </a:r>
            <a:endParaRPr lang="en-US" sz="1200" dirty="0"/>
          </a:p>
        </p:txBody>
      </p:sp>
      <p:pic>
        <p:nvPicPr>
          <p:cNvPr id="18"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ECE4"/>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7 · VIABILIDAD ECONÓMICA, SOCIAL Y OPERATIVA</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Costo cero y sin riesgo para personas</a:t>
            </a:r>
            <a:endParaRPr lang="en-US" sz="2800" dirty="0"/>
          </a:p>
        </p:txBody>
      </p:sp>
      <p:sp>
        <p:nvSpPr>
          <p:cNvPr id="4" name="Shape 2"/>
          <p:cNvSpPr/>
          <p:nvPr/>
        </p:nvSpPr>
        <p:spPr>
          <a:xfrm>
            <a:off x="815975" y="1407716"/>
            <a:ext cx="5187950" cy="1128911"/>
          </a:xfrm>
          <a:prstGeom prst="roundRect">
            <a:avLst>
              <a:gd name="adj" fmla="val 8719"/>
            </a:avLst>
          </a:prstGeom>
          <a:solidFill>
            <a:srgbClr val="FBFAF7"/>
          </a:solidFill>
          <a:ln w="6350">
            <a:solidFill>
              <a:srgbClr val="E3DFD6"/>
            </a:solidFill>
            <a:prstDash val="solid"/>
          </a:ln>
        </p:spPr>
      </p:sp>
      <p:pic>
        <p:nvPicPr>
          <p:cNvPr id="5" name="Image 0" descr="Chart">    </p:cNvPr>
          <p:cNvPicPr>
            <a:picLocks noChangeAspect="1"/>
          </p:cNvPicPr>
          <p:nvPr/>
        </p:nvPicPr>
        <p:blipFill>
          <a:blip r:embed="rId1"/>
          <a:srcRect l="0" r="0" t="0" b="0"/>
          <a:stretch/>
        </p:blipFill>
        <p:spPr>
          <a:xfrm>
            <a:off x="1009650" y="1601391"/>
            <a:ext cx="355600" cy="355600"/>
          </a:xfrm>
          <a:prstGeom prst="rect">
            <a:avLst/>
          </a:prstGeom>
        </p:spPr>
      </p:pic>
      <p:sp>
        <p:nvSpPr>
          <p:cNvPr id="6" name="Text 3"/>
          <p:cNvSpPr/>
          <p:nvPr/>
        </p:nvSpPr>
        <p:spPr>
          <a:xfrm>
            <a:off x="1517650" y="1601391"/>
            <a:ext cx="4421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Económica</a:t>
            </a:r>
            <a:endParaRPr lang="en-US" sz="1500" dirty="0"/>
          </a:p>
        </p:txBody>
      </p:sp>
      <p:sp>
        <p:nvSpPr>
          <p:cNvPr id="7" name="Text 4"/>
          <p:cNvSpPr/>
          <p:nvPr/>
        </p:nvSpPr>
        <p:spPr>
          <a:xfrm>
            <a:off x="1517650" y="1880791"/>
            <a:ext cx="442137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Inversión hasta hoy: S/ 0. Sin licencias; mercado de unas 74 000 empresas metalmecánicas.</a:t>
            </a:r>
            <a:endParaRPr lang="en-US" sz="1300" dirty="0"/>
          </a:p>
        </p:txBody>
      </p:sp>
      <p:sp>
        <p:nvSpPr>
          <p:cNvPr id="8" name="Shape 5"/>
          <p:cNvSpPr/>
          <p:nvPr/>
        </p:nvSpPr>
        <p:spPr>
          <a:xfrm>
            <a:off x="6188075" y="1407716"/>
            <a:ext cx="5187950" cy="1128911"/>
          </a:xfrm>
          <a:prstGeom prst="roundRect">
            <a:avLst>
              <a:gd name="adj" fmla="val 8719"/>
            </a:avLst>
          </a:prstGeom>
          <a:solidFill>
            <a:srgbClr val="FBFAF7"/>
          </a:solidFill>
          <a:ln w="6350">
            <a:solidFill>
              <a:srgbClr val="E3DFD6"/>
            </a:solidFill>
            <a:prstDash val="solid"/>
          </a:ln>
        </p:spPr>
      </p:sp>
      <p:pic>
        <p:nvPicPr>
          <p:cNvPr id="9" name="Image 1" descr="Users">    </p:cNvPr>
          <p:cNvPicPr>
            <a:picLocks noChangeAspect="1"/>
          </p:cNvPicPr>
          <p:nvPr/>
        </p:nvPicPr>
        <p:blipFill>
          <a:blip r:embed="rId2"/>
          <a:srcRect l="0" r="0" t="0" b="0"/>
          <a:stretch/>
        </p:blipFill>
        <p:spPr>
          <a:xfrm>
            <a:off x="6381750" y="1601391"/>
            <a:ext cx="355600" cy="355600"/>
          </a:xfrm>
          <a:prstGeom prst="rect">
            <a:avLst/>
          </a:prstGeom>
        </p:spPr>
      </p:pic>
      <p:sp>
        <p:nvSpPr>
          <p:cNvPr id="10" name="Text 6"/>
          <p:cNvSpPr/>
          <p:nvPr/>
        </p:nvSpPr>
        <p:spPr>
          <a:xfrm>
            <a:off x="6889750" y="1601391"/>
            <a:ext cx="4421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Social</a:t>
            </a:r>
            <a:endParaRPr lang="en-US" sz="1500" dirty="0"/>
          </a:p>
        </p:txBody>
      </p:sp>
      <p:sp>
        <p:nvSpPr>
          <p:cNvPr id="11" name="Text 7"/>
          <p:cNvSpPr/>
          <p:nvPr/>
        </p:nvSpPr>
        <p:spPr>
          <a:xfrm>
            <a:off x="6889750" y="1880791"/>
            <a:ext cx="442137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Abarata automatizar producción variable. Es solo simulación: ningún riesgo para personas.</a:t>
            </a:r>
            <a:endParaRPr lang="en-US" sz="1300" dirty="0"/>
          </a:p>
        </p:txBody>
      </p:sp>
      <p:sp>
        <p:nvSpPr>
          <p:cNvPr id="12" name="Shape 8"/>
          <p:cNvSpPr/>
          <p:nvPr/>
        </p:nvSpPr>
        <p:spPr>
          <a:xfrm>
            <a:off x="815975" y="2720777"/>
            <a:ext cx="5187950" cy="1128911"/>
          </a:xfrm>
          <a:prstGeom prst="roundRect">
            <a:avLst>
              <a:gd name="adj" fmla="val 8719"/>
            </a:avLst>
          </a:prstGeom>
          <a:solidFill>
            <a:srgbClr val="FBFAF7"/>
          </a:solidFill>
          <a:ln w="6350">
            <a:solidFill>
              <a:srgbClr val="E3DFD6"/>
            </a:solidFill>
            <a:prstDash val="solid"/>
          </a:ln>
        </p:spPr>
      </p:sp>
      <p:pic>
        <p:nvPicPr>
          <p:cNvPr id="13" name="Image 2" descr="Settings">    </p:cNvPr>
          <p:cNvPicPr>
            <a:picLocks noChangeAspect="1"/>
          </p:cNvPicPr>
          <p:nvPr/>
        </p:nvPicPr>
        <p:blipFill>
          <a:blip r:embed="rId3"/>
          <a:srcRect l="0" r="0" t="0" b="0"/>
          <a:stretch/>
        </p:blipFill>
        <p:spPr>
          <a:xfrm>
            <a:off x="1009650" y="2914452"/>
            <a:ext cx="355600" cy="355600"/>
          </a:xfrm>
          <a:prstGeom prst="rect">
            <a:avLst/>
          </a:prstGeom>
        </p:spPr>
      </p:pic>
      <p:sp>
        <p:nvSpPr>
          <p:cNvPr id="14" name="Text 9"/>
          <p:cNvSpPr/>
          <p:nvPr/>
        </p:nvSpPr>
        <p:spPr>
          <a:xfrm>
            <a:off x="1517650" y="2914452"/>
            <a:ext cx="4421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Operativa</a:t>
            </a:r>
            <a:endParaRPr lang="en-US" sz="1500" dirty="0"/>
          </a:p>
        </p:txBody>
      </p:sp>
      <p:sp>
        <p:nvSpPr>
          <p:cNvPr id="15" name="Text 10"/>
          <p:cNvSpPr/>
          <p:nvPr/>
        </p:nvSpPr>
        <p:spPr>
          <a:xfrm>
            <a:off x="1517650" y="3193852"/>
            <a:ext cx="442137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PC con GPU para entrenar (unas 4 h por corrida); la inferencia corre en CPU convencional.</a:t>
            </a:r>
            <a:endParaRPr lang="en-US" sz="1300" dirty="0"/>
          </a:p>
        </p:txBody>
      </p:sp>
      <p:sp>
        <p:nvSpPr>
          <p:cNvPr id="16" name="Shape 11"/>
          <p:cNvSpPr/>
          <p:nvPr/>
        </p:nvSpPr>
        <p:spPr>
          <a:xfrm>
            <a:off x="6188075" y="2720777"/>
            <a:ext cx="5187950" cy="1128911"/>
          </a:xfrm>
          <a:prstGeom prst="roundRect">
            <a:avLst>
              <a:gd name="adj" fmla="val 8719"/>
            </a:avLst>
          </a:prstGeom>
          <a:solidFill>
            <a:srgbClr val="FBFAF7"/>
          </a:solidFill>
          <a:ln w="6350">
            <a:solidFill>
              <a:srgbClr val="E3DFD6"/>
            </a:solidFill>
            <a:prstDash val="solid"/>
          </a:ln>
        </p:spPr>
      </p:sp>
      <p:pic>
        <p:nvPicPr>
          <p:cNvPr id="17" name="Image 3" descr="Lightbulb">    </p:cNvPr>
          <p:cNvPicPr>
            <a:picLocks noChangeAspect="1"/>
          </p:cNvPicPr>
          <p:nvPr/>
        </p:nvPicPr>
        <p:blipFill>
          <a:blip r:embed="rId4"/>
          <a:srcRect l="0" r="0" t="0" b="0"/>
          <a:stretch/>
        </p:blipFill>
        <p:spPr>
          <a:xfrm>
            <a:off x="6381750" y="2914452"/>
            <a:ext cx="355600" cy="355600"/>
          </a:xfrm>
          <a:prstGeom prst="rect">
            <a:avLst/>
          </a:prstGeom>
        </p:spPr>
      </p:pic>
      <p:sp>
        <p:nvSpPr>
          <p:cNvPr id="18" name="Text 12"/>
          <p:cNvSpPr/>
          <p:nvPr/>
        </p:nvSpPr>
        <p:spPr>
          <a:xfrm>
            <a:off x="6889750" y="2914452"/>
            <a:ext cx="4421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433"/>
                </a:solidFill>
                <a:latin typeface="IBM Plex Sans" pitchFamily="34" charset="0"/>
                <a:ea typeface="IBM Plex Sans" pitchFamily="34" charset="-122"/>
                <a:cs typeface="IBM Plex Sans" pitchFamily="34" charset="-120"/>
              </a:rPr>
              <a:t>Alternativas</a:t>
            </a:r>
            <a:endParaRPr lang="en-US" sz="1500" dirty="0"/>
          </a:p>
        </p:txBody>
      </p:sp>
      <p:sp>
        <p:nvSpPr>
          <p:cNvPr id="19" name="Text 13"/>
          <p:cNvSpPr/>
          <p:nvPr/>
        </p:nvSpPr>
        <p:spPr>
          <a:xfrm>
            <a:off x="6889750" y="3193852"/>
            <a:ext cx="442137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Descartadas: Isaac Sim, seguir con el UR5e y entrenar con demostraciones de OMPL.</a:t>
            </a:r>
            <a:endParaRPr lang="en-US" sz="1300" dirty="0"/>
          </a:p>
        </p:txBody>
      </p:sp>
      <p:sp>
        <p:nvSpPr>
          <p:cNvPr id="20"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Mercado: PRODUCE, Estudio del sector metalmecánico 2024.</a:t>
            </a:r>
            <a:endParaRPr lang="en-US" sz="1200" dirty="0"/>
          </a:p>
        </p:txBody>
      </p:sp>
      <p:sp>
        <p:nvSpPr>
          <p:cNvPr id="21" name="Text 15"/>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18</a:t>
            </a:r>
            <a:endParaRPr lang="en-US" sz="1200" dirty="0"/>
          </a:p>
        </p:txBody>
      </p:sp>
      <p:pic>
        <p:nvPicPr>
          <p:cNvPr id="22" name="Image 4" descr="Escudo UNI">    </p:cNvPr>
          <p:cNvPicPr>
            <a:picLocks noChangeAspect="1"/>
          </p:cNvPicPr>
          <p:nvPr/>
        </p:nvPicPr>
        <p:blipFill>
          <a:blip r:embed="rId5"/>
          <a:srcRect l="0" r="0" t="-499" b="-499"/>
          <a:stretch/>
        </p:blipFill>
        <p:spPr>
          <a:xfrm>
            <a:off x="11049000" y="6146800"/>
            <a:ext cx="330200" cy="406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8 · CRONOGRAMA SEMANAL</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Lo realizado, lo en curso y lo pendiente</a:t>
            </a:r>
            <a:endParaRPr lang="en-US" sz="2800" dirty="0"/>
          </a:p>
        </p:txBody>
      </p:sp>
      <p:sp>
        <p:nvSpPr>
          <p:cNvPr id="4" name="Shape 2"/>
          <p:cNvSpPr/>
          <p:nvPr/>
        </p:nvSpPr>
        <p:spPr>
          <a:xfrm>
            <a:off x="815975" y="1369616"/>
            <a:ext cx="5899150" cy="3949700"/>
          </a:xfrm>
          <a:prstGeom prst="roundRect">
            <a:avLst>
              <a:gd name="adj" fmla="val 2492"/>
            </a:avLst>
          </a:prstGeom>
          <a:solidFill>
            <a:srgbClr val="FFFFFF"/>
          </a:solidFill>
          <a:ln w="6350">
            <a:solidFill>
              <a:srgbClr val="E3DFD6"/>
            </a:solidFill>
            <a:prstDash val="solid"/>
          </a:ln>
        </p:spPr>
      </p:sp>
      <p:pic>
        <p:nvPicPr>
          <p:cNvPr id="5" name="Image 0" descr="Diagrama de Gantt de 16 semanas con actividades realizadas en verde, en curso en ámbar y pendientes en gris; línea en la semana 9">    </p:cNvPr>
          <p:cNvPicPr>
            <a:picLocks noChangeAspect="1"/>
          </p:cNvPicPr>
          <p:nvPr/>
        </p:nvPicPr>
        <p:blipFill>
          <a:blip r:embed="rId1"/>
          <a:srcRect l="0" r="0" t="-26" b="-26"/>
          <a:stretch/>
        </p:blipFill>
        <p:spPr>
          <a:xfrm>
            <a:off x="895350" y="1448991"/>
            <a:ext cx="5753100" cy="3790950"/>
          </a:xfrm>
          <a:prstGeom prst="rect">
            <a:avLst/>
          </a:prstGeom>
        </p:spPr>
      </p:pic>
      <p:sp>
        <p:nvSpPr>
          <p:cNvPr id="6" name="Shape 3"/>
          <p:cNvSpPr/>
          <p:nvPr/>
        </p:nvSpPr>
        <p:spPr>
          <a:xfrm>
            <a:off x="6924675" y="1369616"/>
            <a:ext cx="4451350" cy="867271"/>
          </a:xfrm>
          <a:prstGeom prst="roundRect">
            <a:avLst>
              <a:gd name="adj" fmla="val 8420"/>
            </a:avLst>
          </a:prstGeom>
          <a:solidFill>
            <a:srgbClr val="FFFFFF"/>
          </a:solidFill>
          <a:ln w="6350">
            <a:solidFill>
              <a:srgbClr val="E3DFD6"/>
            </a:solidFill>
            <a:prstDash val="solid"/>
          </a:ln>
        </p:spPr>
      </p:sp>
      <p:sp>
        <p:nvSpPr>
          <p:cNvPr id="7" name="Text 4"/>
          <p:cNvSpPr/>
          <p:nvPr/>
        </p:nvSpPr>
        <p:spPr>
          <a:xfrm>
            <a:off x="7067550" y="1474391"/>
            <a:ext cx="429056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6B3A"/>
                </a:solidFill>
                <a:latin typeface="IBM Plex Sans" pitchFamily="34" charset="0"/>
                <a:ea typeface="IBM Plex Sans" pitchFamily="34" charset="-122"/>
                <a:cs typeface="IBM Plex Sans" pitchFamily="34" charset="-120"/>
              </a:rPr>
              <a:t>Realizado (sem. 1–8)</a:t>
            </a:r>
            <a:endParaRPr lang="en-US" sz="1300" dirty="0"/>
          </a:p>
        </p:txBody>
      </p:sp>
      <p:sp>
        <p:nvSpPr>
          <p:cNvPr id="8" name="Text 5"/>
          <p:cNvSpPr/>
          <p:nvPr/>
        </p:nvSpPr>
        <p:spPr>
          <a:xfrm>
            <a:off x="7067550" y="1705471"/>
            <a:ext cx="42905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Estado del arte, modelo del E6, línea base, entorno y núcleo de entrenamiento.</a:t>
            </a:r>
            <a:endParaRPr lang="en-US" sz="1200" dirty="0"/>
          </a:p>
        </p:txBody>
      </p:sp>
      <p:sp>
        <p:nvSpPr>
          <p:cNvPr id="9" name="Shape 6"/>
          <p:cNvSpPr/>
          <p:nvPr/>
        </p:nvSpPr>
        <p:spPr>
          <a:xfrm>
            <a:off x="6924675" y="2332137"/>
            <a:ext cx="4451350" cy="653951"/>
          </a:xfrm>
          <a:prstGeom prst="roundRect">
            <a:avLst>
              <a:gd name="adj" fmla="val 11167"/>
            </a:avLst>
          </a:prstGeom>
          <a:solidFill>
            <a:srgbClr val="FFFFFF"/>
          </a:solidFill>
          <a:ln w="6350">
            <a:solidFill>
              <a:srgbClr val="E3DFD6"/>
            </a:solidFill>
            <a:prstDash val="solid"/>
          </a:ln>
        </p:spPr>
      </p:sp>
      <p:sp>
        <p:nvSpPr>
          <p:cNvPr id="10" name="Text 7"/>
          <p:cNvSpPr/>
          <p:nvPr/>
        </p:nvSpPr>
        <p:spPr>
          <a:xfrm>
            <a:off x="7067550" y="2436912"/>
            <a:ext cx="429056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5A00"/>
                </a:solidFill>
                <a:latin typeface="IBM Plex Sans" pitchFamily="34" charset="0"/>
                <a:ea typeface="IBM Plex Sans" pitchFamily="34" charset="-122"/>
                <a:cs typeface="IBM Plex Sans" pitchFamily="34" charset="-120"/>
              </a:rPr>
              <a:t>En curso (sem. 9)</a:t>
            </a:r>
            <a:endParaRPr lang="en-US" sz="1300" dirty="0"/>
          </a:p>
        </p:txBody>
      </p:sp>
      <p:sp>
        <p:nvSpPr>
          <p:cNvPr id="11" name="Text 8"/>
          <p:cNvSpPr/>
          <p:nvPr/>
        </p:nvSpPr>
        <p:spPr>
          <a:xfrm>
            <a:off x="7067550" y="2667992"/>
            <a:ext cx="4290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Evaluación y generalización; Presentación 1.</a:t>
            </a:r>
            <a:endParaRPr lang="en-US" sz="1200" dirty="0"/>
          </a:p>
        </p:txBody>
      </p:sp>
      <p:sp>
        <p:nvSpPr>
          <p:cNvPr id="12" name="Shape 9"/>
          <p:cNvSpPr/>
          <p:nvPr/>
        </p:nvSpPr>
        <p:spPr>
          <a:xfrm>
            <a:off x="6924675" y="3081338"/>
            <a:ext cx="4451350" cy="1080591"/>
          </a:xfrm>
          <a:prstGeom prst="roundRect">
            <a:avLst>
              <a:gd name="adj" fmla="val 6758"/>
            </a:avLst>
          </a:prstGeom>
          <a:solidFill>
            <a:srgbClr val="FFFFFF"/>
          </a:solidFill>
          <a:ln w="6350">
            <a:solidFill>
              <a:srgbClr val="E3DFD6"/>
            </a:solidFill>
            <a:prstDash val="solid"/>
          </a:ln>
        </p:spPr>
      </p:sp>
      <p:sp>
        <p:nvSpPr>
          <p:cNvPr id="13" name="Text 10"/>
          <p:cNvSpPr/>
          <p:nvPr/>
        </p:nvSpPr>
        <p:spPr>
          <a:xfrm>
            <a:off x="7067550" y="3186113"/>
            <a:ext cx="429056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160"/>
                </a:solidFill>
                <a:latin typeface="IBM Plex Sans" pitchFamily="34" charset="0"/>
                <a:ea typeface="IBM Plex Sans" pitchFamily="34" charset="-122"/>
                <a:cs typeface="IBM Plex Sans" pitchFamily="34" charset="-120"/>
              </a:rPr>
              <a:t>Pendiente</a:t>
            </a:r>
            <a:endParaRPr lang="en-US" sz="1300" dirty="0"/>
          </a:p>
        </p:txBody>
      </p:sp>
      <p:sp>
        <p:nvSpPr>
          <p:cNvPr id="14" name="Text 11"/>
          <p:cNvSpPr/>
          <p:nvPr/>
        </p:nvSpPr>
        <p:spPr>
          <a:xfrm>
            <a:off x="7067550" y="3417193"/>
            <a:ext cx="429056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Mejora de muestreo y recompensa, diseño electrónico, Presentación 2 (sem. 11–12), informe y presentación final (15–16).</a:t>
            </a:r>
            <a:endParaRPr lang="en-US" sz="12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Verde: realizado · ámbar: en curso · gris: pendiente.</a:t>
            </a:r>
            <a:endParaRPr lang="en-US" sz="1200" dirty="0"/>
          </a:p>
        </p:txBody>
      </p:sp>
      <p:sp>
        <p:nvSpPr>
          <p:cNvPr id="16" name="Text 13"/>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19</a:t>
            </a:r>
            <a:endParaRPr lang="en-US" sz="1200" dirty="0"/>
          </a:p>
        </p:txBody>
      </p:sp>
      <p:pic>
        <p:nvPicPr>
          <p:cNvPr id="17"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8 · PRESUPUESTO ECONÓMICO</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Todo prestado: hasta hoy no se ha gastado nada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91841"/>
          <a:ext cx="7480300" cy="2660650"/>
        </p:xfrm>
        <a:graphic>
          <a:graphicData uri="http://schemas.openxmlformats.org/drawingml/2006/table">
            <a:tbl>
              <a:tblPr/>
              <a:tblGrid>
                <a:gridCol w="2393696"/>
                <a:gridCol w="3740150"/>
                <a:gridCol w="1346454"/>
              </a:tblGrid>
              <a:tr h="332581">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Concepto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Uso y procedencia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c>
                  <a:txBody>
                    <a:bodyPr/>
                    <a:lstStyle/>
                    <a:p>
                      <a:pPr algn="r" indent="0" marL="0">
                        <a:lnSpc>
                          <a:spcPts val="1680"/>
                        </a:lnSpc>
                        <a:buNone/>
                      </a:pPr>
                      <a:r>
                        <a:rPr lang="en-US" sz="1200" b="1" dirty="0">
                          <a:solidFill>
                            <a:srgbClr val="FBFAF7"/>
                          </a:solidFill>
                          <a:latin typeface="IBM Plex Sans" pitchFamily="34" charset="0"/>
                          <a:ea typeface="IBM Plex Sans" pitchFamily="34" charset="-122"/>
                          <a:cs typeface="IBM Plex Sans" pitchFamily="34" charset="-120"/>
                        </a:rPr>
                        <a:t>Costo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C202C"/>
                      </a:solidFill>
                      <a:prstDash val="solid"/>
                      <a:round/>
                      <a:headEnd type="none" w="med" len="med"/>
                      <a:tailEnd type="none" w="med" len="med"/>
                    </a:lnL>
                    <a:lnR w="12700" cap="flat" cmpd="sng" algn="ctr">
                      <a:solidFill>
                        <a:srgbClr val="1C202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C202C"/>
                      </a:solidFill>
                      <a:prstDash val="solid"/>
                      <a:round/>
                      <a:headEnd type="none" w="med" len="med"/>
                      <a:tailEnd type="none" w="med" len="med"/>
                    </a:lnB>
                    <a:solidFill>
                      <a:srgbClr val="1E2433"/>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DOBOT Magician E6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Robot objetivo; prestado (referencia USD 6 995)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C20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PC de entrenamiento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GTX 1080, 8 núcleos; prestada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Computadora portátil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Desarrollo y evaluación; ya disponible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Software abierto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ROS 2, MoveIt 2, OMPL, Gazebo, PyBullet, PyTorch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Impresión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Informe y diapositivas a doble cara (estimado)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20.00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Mano de obra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Dos estudiantes; no monetizada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algn="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332581">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4B0B0"/>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4B0B0"/>
                      </a:solidFill>
                      <a:prstDash val="solid"/>
                      <a:round/>
                      <a:headEnd type="none" w="med" len="med"/>
                      <a:tailEnd type="none" w="med" len="med"/>
                    </a:lnB>
                    <a:solidFill>
                      <a:srgbClr val="F6DCDC"/>
                    </a:solidFill>
                  </a:tcPr>
                </a:tc>
                <a:tc>
                  <a:txBody>
                    <a:bodyPr/>
                    <a:lstStyle/>
                    <a:p>
                      <a:pP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Estimado, por confirmar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0B0"/>
                      </a:solidFill>
                      <a:prstDash val="solid"/>
                      <a:round/>
                      <a:headEnd type="none" w="med" len="med"/>
                      <a:tailEnd type="none" w="med" len="med"/>
                    </a:lnL>
                    <a:lnR w="12700" cap="flat" cmpd="sng" algn="ctr">
                      <a:solidFill>
                        <a:srgbClr val="C4B0B0"/>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4B0B0"/>
                      </a:solidFill>
                      <a:prstDash val="solid"/>
                      <a:round/>
                      <a:headEnd type="none" w="med" len="med"/>
                      <a:tailEnd type="none" w="med" len="med"/>
                    </a:lnB>
                    <a:solidFill>
                      <a:srgbClr val="F6DCDC"/>
                    </a:solidFill>
                  </a:tcPr>
                </a:tc>
                <a:tc>
                  <a:txBody>
                    <a:bodyPr/>
                    <a:lstStyle/>
                    <a:p>
                      <a:pPr algn="r"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20.00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0B0"/>
                      </a:solidFill>
                      <a:prstDash val="solid"/>
                      <a:round/>
                      <a:headEnd type="none" w="med" len="med"/>
                      <a:tailEnd type="none" w="med" len="med"/>
                    </a:lnL>
                    <a:lnR w="12700" cap="flat" cmpd="sng" algn="ctr">
                      <a:solidFill>
                        <a:srgbClr val="C4B0B0"/>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4B0B0"/>
                      </a:solidFill>
                      <a:prstDash val="solid"/>
                      <a:round/>
                      <a:headEnd type="none" w="med" len="med"/>
                      <a:tailEnd type="none" w="med" len="med"/>
                    </a:lnB>
                    <a:solidFill>
                      <a:srgbClr val="F6DCDC"/>
                    </a:solidFill>
                  </a:tcPr>
                </a:tc>
              </a:tr>
            </a:tbl>
          </a:graphicData>
        </a:graphic>
      </p:graphicFrame>
      <p:sp>
        <p:nvSpPr>
          <p:cNvPr id="5" name="Shape 2"/>
          <p:cNvSpPr/>
          <p:nvPr/>
        </p:nvSpPr>
        <p:spPr>
          <a:xfrm>
            <a:off x="8512175" y="1382316"/>
            <a:ext cx="2863850" cy="976511"/>
          </a:xfrm>
          <a:prstGeom prst="roundRect">
            <a:avLst>
              <a:gd name="adj" fmla="val 10079"/>
            </a:avLst>
          </a:prstGeom>
          <a:solidFill>
            <a:srgbClr val="FFFFFF"/>
          </a:solidFill>
          <a:ln w="6350">
            <a:solidFill>
              <a:srgbClr val="E3DFD6"/>
            </a:solidFill>
            <a:prstDash val="solid"/>
          </a:ln>
        </p:spPr>
      </p:sp>
      <p:sp>
        <p:nvSpPr>
          <p:cNvPr id="6" name="Text 3"/>
          <p:cNvSpPr/>
          <p:nvPr/>
        </p:nvSpPr>
        <p:spPr>
          <a:xfrm>
            <a:off x="8693150" y="1537891"/>
            <a:ext cx="2576957"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8A0000"/>
                </a:solidFill>
                <a:latin typeface="Source Serif 4" pitchFamily="18" charset="0"/>
                <a:ea typeface="Source Serif 4" pitchFamily="18" charset="-122"/>
                <a:cs typeface="Source Serif 4" pitchFamily="18" charset="-120"/>
              </a:rPr>
              <a:t>S/ 0</a:t>
            </a:r>
            <a:endParaRPr lang="en-US" sz="3200" dirty="0"/>
          </a:p>
        </p:txBody>
      </p:sp>
      <p:sp>
        <p:nvSpPr>
          <p:cNvPr id="7" name="Text 4"/>
          <p:cNvSpPr/>
          <p:nvPr/>
        </p:nvSpPr>
        <p:spPr>
          <a:xfrm>
            <a:off x="8693150" y="1989931"/>
            <a:ext cx="25769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invertidos hasta la fecha</a:t>
            </a:r>
            <a:endParaRPr lang="en-US" sz="1200" dirty="0"/>
          </a:p>
        </p:txBody>
      </p:sp>
      <p:sp>
        <p:nvSpPr>
          <p:cNvPr id="8" name="Shape 5"/>
          <p:cNvSpPr/>
          <p:nvPr/>
        </p:nvSpPr>
        <p:spPr>
          <a:xfrm>
            <a:off x="8512175" y="2492177"/>
            <a:ext cx="2863850" cy="976511"/>
          </a:xfrm>
          <a:prstGeom prst="roundRect">
            <a:avLst>
              <a:gd name="adj" fmla="val 10079"/>
            </a:avLst>
          </a:prstGeom>
          <a:solidFill>
            <a:srgbClr val="FFFFFF"/>
          </a:solidFill>
          <a:ln w="6350">
            <a:solidFill>
              <a:srgbClr val="E3DFD6"/>
            </a:solidFill>
            <a:prstDash val="solid"/>
          </a:ln>
        </p:spPr>
      </p:sp>
      <p:sp>
        <p:nvSpPr>
          <p:cNvPr id="9" name="Text 6"/>
          <p:cNvSpPr/>
          <p:nvPr/>
        </p:nvSpPr>
        <p:spPr>
          <a:xfrm>
            <a:off x="8693150" y="2647752"/>
            <a:ext cx="2576957"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8A0000"/>
                </a:solidFill>
                <a:latin typeface="Source Serif 4" pitchFamily="18" charset="0"/>
                <a:ea typeface="Source Serif 4" pitchFamily="18" charset="-122"/>
                <a:cs typeface="Source Serif 4" pitchFamily="18" charset="-120"/>
              </a:rPr>
              <a:t>S/ 20</a:t>
            </a:r>
            <a:endParaRPr lang="en-US" sz="3200" dirty="0"/>
          </a:p>
        </p:txBody>
      </p:sp>
      <p:sp>
        <p:nvSpPr>
          <p:cNvPr id="10" name="Text 7"/>
          <p:cNvSpPr/>
          <p:nvPr/>
        </p:nvSpPr>
        <p:spPr>
          <a:xfrm>
            <a:off x="8693150" y="3099792"/>
            <a:ext cx="25769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por invertir (estimado)</a:t>
            </a:r>
            <a:endParaRPr lang="en-US" sz="12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Lo que provee la universidad o el profesor cuenta como costo cero, según el reglamento.</a:t>
            </a:r>
            <a:endParaRPr lang="en-US" sz="1200" dirty="0"/>
          </a:p>
        </p:txBody>
      </p:sp>
      <p:sp>
        <p:nvSpPr>
          <p:cNvPr id="12" name="Text 9"/>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20</a:t>
            </a:r>
            <a:endParaRPr lang="en-US" sz="1200" dirty="0"/>
          </a:p>
        </p:txBody>
      </p:sp>
      <p:pic>
        <p:nvPicPr>
          <p:cNvPr id="13" name="Image 0" descr="Escudo UNI">    </p:cNvPr>
          <p:cNvPicPr>
            <a:picLocks noChangeAspect="1"/>
          </p:cNvPicPr>
          <p:nvPr/>
        </p:nvPicPr>
        <p:blipFill>
          <a:blip r:embed="rId1"/>
          <a:srcRect l="0" r="0" t="-499" b="-499"/>
          <a:stretch/>
        </p:blipFill>
        <p:spPr>
          <a:xfrm>
            <a:off x="11049000" y="6146800"/>
            <a:ext cx="330200" cy="406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9 · PRODUCTO FINAL · DIAGRAMA PICTÓRICO</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Lo que se implementa en el curso</a:t>
            </a:r>
            <a:endParaRPr lang="en-US" sz="2800" dirty="0"/>
          </a:p>
        </p:txBody>
      </p:sp>
      <p:sp>
        <p:nvSpPr>
          <p:cNvPr id="4" name="Shape 2"/>
          <p:cNvSpPr/>
          <p:nvPr/>
        </p:nvSpPr>
        <p:spPr>
          <a:xfrm>
            <a:off x="815975" y="1356916"/>
            <a:ext cx="10560050" cy="4267200"/>
          </a:xfrm>
          <a:prstGeom prst="roundRect">
            <a:avLst>
              <a:gd name="adj" fmla="val 2307"/>
            </a:avLst>
          </a:prstGeom>
          <a:solidFill>
            <a:srgbClr val="FFFFFF"/>
          </a:solidFill>
          <a:ln w="6350">
            <a:solidFill>
              <a:srgbClr val="E3DFD6"/>
            </a:solidFill>
            <a:prstDash val="solid"/>
          </a:ln>
        </p:spPr>
      </p:sp>
      <p:pic>
        <p:nvPicPr>
          <p:cNvPr id="5" name="Image 0" descr="Diagrama pictórico con lo que se implementa en el curso resaltado en granate y el E6 físico en gris como trabajo adicional">    </p:cNvPr>
          <p:cNvPicPr>
            <a:picLocks noChangeAspect="1"/>
          </p:cNvPicPr>
          <p:nvPr/>
        </p:nvPicPr>
        <p:blipFill>
          <a:blip r:embed="rId1"/>
          <a:srcRect l="0" r="0" t="-9" b="-9"/>
          <a:stretch/>
        </p:blipFill>
        <p:spPr>
          <a:xfrm>
            <a:off x="1714500" y="1448991"/>
            <a:ext cx="8763000" cy="4083050"/>
          </a:xfrm>
          <a:prstGeom prst="rect">
            <a:avLst/>
          </a:prstGeom>
        </p:spPr>
      </p:pic>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Granate: se implementa · gris discontinuo: trabajo adicional fuera de alcance.</a:t>
            </a:r>
            <a:endParaRPr lang="en-US" sz="1200" dirty="0"/>
          </a:p>
        </p:txBody>
      </p:sp>
      <p:sp>
        <p:nvSpPr>
          <p:cNvPr id="7" name="Text 4"/>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21</a:t>
            </a:r>
            <a:endParaRPr lang="en-US" sz="1200" dirty="0"/>
          </a:p>
        </p:txBody>
      </p:sp>
      <p:pic>
        <p:nvPicPr>
          <p:cNvPr id="8"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9 · PRODUCTO FINAL · METODOLOGÍA</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Etapas 1 a 7 en el curso; la 8 es adicional</a:t>
            </a:r>
            <a:endParaRPr lang="en-US" sz="2800" dirty="0"/>
          </a:p>
        </p:txBody>
      </p:sp>
      <p:sp>
        <p:nvSpPr>
          <p:cNvPr id="4" name="Shape 2"/>
          <p:cNvSpPr/>
          <p:nvPr/>
        </p:nvSpPr>
        <p:spPr>
          <a:xfrm>
            <a:off x="815975" y="1369616"/>
            <a:ext cx="10560050" cy="3289300"/>
          </a:xfrm>
          <a:prstGeom prst="roundRect">
            <a:avLst>
              <a:gd name="adj" fmla="val 2992"/>
            </a:avLst>
          </a:prstGeom>
          <a:solidFill>
            <a:srgbClr val="FFFFFF"/>
          </a:solidFill>
          <a:ln w="6350">
            <a:solidFill>
              <a:srgbClr val="E3DFD6"/>
            </a:solidFill>
            <a:prstDash val="solid"/>
          </a:ln>
        </p:spPr>
      </p:sp>
      <p:pic>
        <p:nvPicPr>
          <p:cNvPr id="5" name="Image 0" descr="Diagrama de las ocho etapas con las etapas 1 a 7 resaltadas en granate y la etapa 8 en gris">    </p:cNvPr>
          <p:cNvPicPr>
            <a:picLocks noChangeAspect="1"/>
          </p:cNvPicPr>
          <p:nvPr/>
        </p:nvPicPr>
        <p:blipFill>
          <a:blip r:embed="rId1"/>
          <a:srcRect l="0" r="0" t="-9" b="-9"/>
          <a:stretch/>
        </p:blipFill>
        <p:spPr>
          <a:xfrm>
            <a:off x="1333500" y="1461691"/>
            <a:ext cx="9525000" cy="3105150"/>
          </a:xfrm>
          <a:prstGeom prst="rect">
            <a:avLst/>
          </a:prstGeom>
        </p:spPr>
      </p:pic>
      <p:sp>
        <p:nvSpPr>
          <p:cNvPr id="6" name="Text 3"/>
          <p:cNvSpPr/>
          <p:nvPr/>
        </p:nvSpPr>
        <p:spPr>
          <a:xfrm>
            <a:off x="812800" y="4827191"/>
            <a:ext cx="10566400" cy="665361"/>
          </a:xfrm>
          <a:prstGeom prst="rect">
            <a:avLst/>
          </a:prstGeom>
          <a:solidFill>
            <a:srgbClr val="F1ECE4"/>
          </a:solidFill>
          <a:ln/>
        </p:spPr>
        <p:txBody>
          <a:bodyPr wrap="square" lIns="215900" tIns="101600" rIns="0" bIns="7620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Al final del curso: modelo y entorno, línea base, políticas SAC con evaluación estadística, demostración en vivo en simulación, diseño de la integración con el E6, informe y repositorio.</a:t>
            </a:r>
            <a:endParaRPr lang="en-US" sz="1300" dirty="0"/>
          </a:p>
        </p:txBody>
      </p:sp>
      <p:sp>
        <p:nvSpPr>
          <p:cNvPr id="7" name="Shape 4"/>
          <p:cNvSpPr/>
          <p:nvPr/>
        </p:nvSpPr>
        <p:spPr>
          <a:xfrm>
            <a:off x="831850" y="4827191"/>
            <a:ext cx="0" cy="665361"/>
          </a:xfrm>
          <a:prstGeom prst="line">
            <a:avLst/>
          </a:prstGeom>
          <a:noFill/>
          <a:ln w="38100">
            <a:solidFill>
              <a:srgbClr val="8A0000"/>
            </a:solidFill>
            <a:prstDash val="solid"/>
          </a:ln>
        </p:spPr>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9" name="Text 6"/>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22</a:t>
            </a:r>
            <a:endParaRPr lang="en-US" sz="1200" dirty="0"/>
          </a:p>
        </p:txBody>
      </p:sp>
      <p:pic>
        <p:nvPicPr>
          <p:cNvPr id="10" name="Image 1" descr="Escudo UNI">    </p:cNvPr>
          <p:cNvPicPr>
            <a:picLocks noChangeAspect="1"/>
          </p:cNvPicPr>
          <p:nvPr/>
        </p:nvPicPr>
        <p:blipFill>
          <a:blip r:embed="rId2"/>
          <a:srcRect l="0" r="0" t="-499" b="-499"/>
          <a:stretch/>
        </p:blipFill>
        <p:spPr>
          <a:xfrm>
            <a:off x="11049000" y="6146800"/>
            <a:ext cx="330200" cy="406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8A0000"/>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6DCDC"/>
                </a:solidFill>
                <a:latin typeface="IBM Plex Sans" pitchFamily="34" charset="0"/>
                <a:ea typeface="IBM Plex Sans" pitchFamily="34" charset="-122"/>
                <a:cs typeface="IBM Plex Sans" pitchFamily="34" charset="-120"/>
              </a:rPr>
              <a:t>10 · CONCLUSIONES</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BFAF7"/>
                </a:solidFill>
                <a:latin typeface="Source Serif 4" pitchFamily="18" charset="0"/>
                <a:ea typeface="Source Serif 4" pitchFamily="18" charset="-122"/>
                <a:cs typeface="Source Serif 4" pitchFamily="18" charset="-120"/>
              </a:rPr>
              <a:t>Lo que aprendimos en esta primera etapa</a:t>
            </a:r>
            <a:endParaRPr lang="en-US" sz="2800" dirty="0"/>
          </a:p>
        </p:txBody>
      </p:sp>
      <p:sp>
        <p:nvSpPr>
          <p:cNvPr id="4" name="Text 2"/>
          <p:cNvSpPr/>
          <p:nvPr/>
        </p:nvSpPr>
        <p:spPr>
          <a:xfrm>
            <a:off x="812800" y="1417241"/>
            <a:ext cx="45720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6DCDC"/>
                </a:solidFill>
                <a:latin typeface="Source Serif 4" pitchFamily="18" charset="0"/>
                <a:ea typeface="Source Serif 4" pitchFamily="18" charset="-122"/>
                <a:cs typeface="Source Serif 4" pitchFamily="18" charset="-120"/>
              </a:rPr>
              <a:t>1</a:t>
            </a:r>
            <a:endParaRPr lang="en-US" sz="2400" dirty="0"/>
          </a:p>
        </p:txBody>
      </p:sp>
      <p:sp>
        <p:nvSpPr>
          <p:cNvPr id="5" name="Text 3"/>
          <p:cNvSpPr/>
          <p:nvPr/>
        </p:nvSpPr>
        <p:spPr>
          <a:xfrm>
            <a:off x="1371600" y="1417241"/>
            <a:ext cx="1030782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BFAF7"/>
                </a:solidFill>
                <a:latin typeface="IBM Plex Sans" pitchFamily="34" charset="0"/>
                <a:ea typeface="IBM Plex Sans" pitchFamily="34" charset="-122"/>
                <a:cs typeface="IBM Plex Sans" pitchFamily="34" charset="-120"/>
              </a:rPr>
              <a:t>El problema es real y está poco cubierto en el Perú; las soluciones comerciales dependen de licencias o de una GPU a bordo.</a:t>
            </a:r>
            <a:endParaRPr lang="en-US" sz="1500" dirty="0"/>
          </a:p>
        </p:txBody>
      </p:sp>
      <p:sp>
        <p:nvSpPr>
          <p:cNvPr id="6" name="Text 4"/>
          <p:cNvSpPr/>
          <p:nvPr/>
        </p:nvSpPr>
        <p:spPr>
          <a:xfrm>
            <a:off x="812800" y="2064941"/>
            <a:ext cx="45720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6DCDC"/>
                </a:solidFill>
                <a:latin typeface="Source Serif 4" pitchFamily="18" charset="0"/>
                <a:ea typeface="Source Serif 4" pitchFamily="18" charset="-122"/>
                <a:cs typeface="Source Serif 4" pitchFamily="18" charset="-120"/>
              </a:rPr>
              <a:t>2</a:t>
            </a:r>
            <a:endParaRPr lang="en-US" sz="2400" dirty="0"/>
          </a:p>
        </p:txBody>
      </p:sp>
      <p:sp>
        <p:nvSpPr>
          <p:cNvPr id="7" name="Text 5"/>
          <p:cNvSpPr/>
          <p:nvPr/>
        </p:nvSpPr>
        <p:spPr>
          <a:xfrm>
            <a:off x="1371600" y="2064941"/>
            <a:ext cx="1030782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BFAF7"/>
                </a:solidFill>
                <a:latin typeface="IBM Plex Sans" pitchFamily="34" charset="0"/>
                <a:ea typeface="IBM Plex Sans" pitchFamily="34" charset="-122"/>
                <a:cs typeface="IBM Plex Sans" pitchFamily="34" charset="-120"/>
              </a:rPr>
              <a:t>Ya existe la infraestructura: modelo del E6, entorno, línea base y tres entrenamientos de 1 M de pasos.</a:t>
            </a:r>
            <a:endParaRPr lang="en-US" sz="1500" dirty="0"/>
          </a:p>
        </p:txBody>
      </p:sp>
      <p:sp>
        <p:nvSpPr>
          <p:cNvPr id="8" name="Text 6"/>
          <p:cNvSpPr/>
          <p:nvPr/>
        </p:nvSpPr>
        <p:spPr>
          <a:xfrm>
            <a:off x="812800" y="2552601"/>
            <a:ext cx="45720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6DCDC"/>
                </a:solidFill>
                <a:latin typeface="Source Serif 4" pitchFamily="18" charset="0"/>
                <a:ea typeface="Source Serif 4" pitchFamily="18" charset="-122"/>
                <a:cs typeface="Source Serif 4" pitchFamily="18" charset="-120"/>
              </a:rPr>
              <a:t>3</a:t>
            </a:r>
            <a:endParaRPr lang="en-US" sz="2400" dirty="0"/>
          </a:p>
        </p:txBody>
      </p:sp>
      <p:sp>
        <p:nvSpPr>
          <p:cNvPr id="9" name="Text 7"/>
          <p:cNvSpPr/>
          <p:nvPr/>
        </p:nvSpPr>
        <p:spPr>
          <a:xfrm>
            <a:off x="1371600" y="2552601"/>
            <a:ext cx="1030782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BFAF7"/>
                </a:solidFill>
                <a:latin typeface="IBM Plex Sans" pitchFamily="34" charset="0"/>
                <a:ea typeface="IBM Plex Sans" pitchFamily="34" charset="-122"/>
                <a:cs typeface="IBM Plex Sans" pitchFamily="34" charset="-120"/>
              </a:rPr>
              <a:t>La política aún no iguala a OMPL (66 % frente a 99 % de éxito, con mucha variación entre semillas), pero usa unas 5 veces menos cómputo y deja más holgura.</a:t>
            </a:r>
            <a:endParaRPr lang="en-US" sz="1500" dirty="0"/>
          </a:p>
        </p:txBody>
      </p:sp>
      <p:sp>
        <p:nvSpPr>
          <p:cNvPr id="10" name="Text 8"/>
          <p:cNvSpPr/>
          <p:nvPr/>
        </p:nvSpPr>
        <p:spPr>
          <a:xfrm>
            <a:off x="812800" y="3200301"/>
            <a:ext cx="45720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6DCDC"/>
                </a:solidFill>
                <a:latin typeface="Source Serif 4" pitchFamily="18" charset="0"/>
                <a:ea typeface="Source Serif 4" pitchFamily="18" charset="-122"/>
                <a:cs typeface="Source Serif 4" pitchFamily="18" charset="-120"/>
              </a:rPr>
              <a:t>4</a:t>
            </a:r>
            <a:endParaRPr lang="en-US" sz="2400" dirty="0"/>
          </a:p>
        </p:txBody>
      </p:sp>
      <p:sp>
        <p:nvSpPr>
          <p:cNvPr id="11" name="Text 9"/>
          <p:cNvSpPr/>
          <p:nvPr/>
        </p:nvSpPr>
        <p:spPr>
          <a:xfrm>
            <a:off x="1371600" y="3200301"/>
            <a:ext cx="1030782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BFAF7"/>
                </a:solidFill>
                <a:latin typeface="IBM Plex Sans" pitchFamily="34" charset="0"/>
                <a:ea typeface="IBM Plex Sans" pitchFamily="34" charset="-122"/>
                <a:cs typeface="IBM Plex Sans" pitchFamily="34" charset="-120"/>
              </a:rPr>
              <a:t>Sigue: mejorar muestreo y recompensa, validar con más escenas, diseñar la integración con el E6 y preparar la demostración en vivo.</a:t>
            </a:r>
            <a:endParaRPr lang="en-US" sz="15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DCDC"/>
                </a:solidFill>
                <a:latin typeface="IBM Plex Sans" pitchFamily="34" charset="0"/>
                <a:ea typeface="IBM Plex Sans" pitchFamily="34" charset="-122"/>
                <a:cs typeface="IBM Plex Sans" pitchFamily="34" charset="-120"/>
              </a:rPr>
              <a:t>Gracias. ¿Preguntas?</a:t>
            </a:r>
            <a:endParaRPr lang="en-US" sz="1200" dirty="0"/>
          </a:p>
        </p:txBody>
      </p:sp>
      <p:sp>
        <p:nvSpPr>
          <p:cNvPr id="13" name="Text 11"/>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DCDC"/>
                </a:solidFill>
                <a:latin typeface="IBM Plex Sans" pitchFamily="34" charset="0"/>
                <a:ea typeface="IBM Plex Sans" pitchFamily="34" charset="-122"/>
                <a:cs typeface="IBM Plex Sans" pitchFamily="34" charset="-120"/>
              </a:rPr>
              <a:t>23</a:t>
            </a:r>
            <a:endParaRPr lang="en-US" sz="1200" dirty="0"/>
          </a:p>
        </p:txBody>
      </p:sp>
      <p:pic>
        <p:nvPicPr>
          <p:cNvPr id="14" name="Image 0" descr="Escudo UNI">    </p:cNvPr>
          <p:cNvPicPr>
            <a:picLocks noChangeAspect="1"/>
          </p:cNvPicPr>
          <p:nvPr/>
        </p:nvPicPr>
        <p:blipFill>
          <a:blip r:embed="rId1">
            <a:alphaModFix amt="95000"/>
          </a:blip>
          <a:srcRect l="0" r="0" t="-499" b="-499"/>
          <a:stretch/>
        </p:blipFill>
        <p:spPr>
          <a:xfrm>
            <a:off x="11049000" y="6146800"/>
            <a:ext cx="330200" cy="406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0000"/>
                </a:solidFill>
                <a:latin typeface="IBM Plex Sans" pitchFamily="34" charset="0"/>
                <a:ea typeface="IBM Plex Sans" pitchFamily="34" charset="-122"/>
                <a:cs typeface="IBM Plex Sans" pitchFamily="34" charset="-120"/>
              </a:rPr>
              <a:t>11 · REFERENCIAS BIBLIOGRÁFICAS</a:t>
            </a:r>
            <a:endParaRPr lang="en-US" sz="1200" dirty="0"/>
          </a:p>
        </p:txBody>
      </p:sp>
      <p:sp>
        <p:nvSpPr>
          <p:cNvPr id="3" name="Text 1"/>
          <p:cNvSpPr/>
          <p:nvPr>
            <p:ph type="title"/>
          </p:nvPr>
        </p:nvSpPr>
        <p:spPr>
          <a:xfrm>
            <a:off x="812800" y="8102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2433"/>
                </a:solidFill>
                <a:latin typeface="Source Serif 4" pitchFamily="18" charset="0"/>
                <a:ea typeface="Source Serif 4" pitchFamily="18" charset="-122"/>
                <a:cs typeface="Source Serif 4" pitchFamily="18" charset="-120"/>
              </a:rPr>
              <a:t>Fuentes principales</a:t>
            </a:r>
            <a:endParaRPr lang="en-US" sz="2800" dirty="0"/>
          </a:p>
        </p:txBody>
      </p:sp>
      <p:sp>
        <p:nvSpPr>
          <p:cNvPr id="4" name="Text 2"/>
          <p:cNvSpPr/>
          <p:nvPr/>
        </p:nvSpPr>
        <p:spPr>
          <a:xfrm>
            <a:off x="812800" y="13918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Mao et al. (2025), </a:t>
            </a:r>
            <a:r>
              <a:rPr lang="en-US" sz="1200" i="1" dirty="0">
                <a:solidFill>
                  <a:srgbClr val="1E2433"/>
                </a:solidFill>
                <a:latin typeface="IBM Plex Sans" pitchFamily="34" charset="0"/>
                <a:ea typeface="IBM Plex Sans" pitchFamily="34" charset="-122"/>
                <a:cs typeface="IBM Plex Sans" pitchFamily="34" charset="-120"/>
              </a:rPr>
              <a:t>Experimental Technology and Management</a:t>
            </a:r>
            <a:r>
              <a:rPr lang="en-US" sz="1200" dirty="0">
                <a:solidFill>
                  <a:srgbClr val="1E2433"/>
                </a:solidFill>
                <a:latin typeface="IBM Plex Sans" pitchFamily="34" charset="0"/>
                <a:ea typeface="IBM Plex Sans" pitchFamily="34" charset="-122"/>
                <a:cs typeface="IBM Plex Sans" pitchFamily="34" charset="-120"/>
              </a:rPr>
              <a:t>.</a:t>
            </a:r>
            <a:endParaRPr lang="en-US" sz="1200" dirty="0"/>
          </a:p>
        </p:txBody>
      </p:sp>
      <p:sp>
        <p:nvSpPr>
          <p:cNvPr id="5" name="Text 3"/>
          <p:cNvSpPr/>
          <p:nvPr/>
        </p:nvSpPr>
        <p:spPr>
          <a:xfrm>
            <a:off x="812800" y="16813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Fidalgo Astorquia et al. (2025), </a:t>
            </a:r>
            <a:r>
              <a:rPr lang="en-US" sz="1200" i="1" dirty="0">
                <a:solidFill>
                  <a:srgbClr val="1E2433"/>
                </a:solidFill>
                <a:latin typeface="IBM Plex Sans" pitchFamily="34" charset="0"/>
                <a:ea typeface="IBM Plex Sans" pitchFamily="34" charset="-122"/>
                <a:cs typeface="IBM Plex Sans" pitchFamily="34" charset="-120"/>
              </a:rPr>
              <a:t>Sensors</a:t>
            </a:r>
            <a:r>
              <a:rPr lang="en-US" sz="1200" dirty="0">
                <a:solidFill>
                  <a:srgbClr val="1E2433"/>
                </a:solidFill>
                <a:latin typeface="IBM Plex Sans" pitchFamily="34" charset="0"/>
                <a:ea typeface="IBM Plex Sans" pitchFamily="34" charset="-122"/>
                <a:cs typeface="IBM Plex Sans" pitchFamily="34" charset="-120"/>
              </a:rPr>
              <a:t> 25(17).</a:t>
            </a:r>
            <a:endParaRPr lang="en-US" sz="1200" dirty="0"/>
          </a:p>
        </p:txBody>
      </p:sp>
      <p:sp>
        <p:nvSpPr>
          <p:cNvPr id="6" name="Text 4"/>
          <p:cNvSpPr/>
          <p:nvPr/>
        </p:nvSpPr>
        <p:spPr>
          <a:xfrm>
            <a:off x="812800" y="19708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Jurgenson y Tamar (2019), </a:t>
            </a:r>
            <a:r>
              <a:rPr lang="en-US" sz="1200" i="1" dirty="0">
                <a:solidFill>
                  <a:srgbClr val="1E2433"/>
                </a:solidFill>
                <a:latin typeface="IBM Plex Sans" pitchFamily="34" charset="0"/>
                <a:ea typeface="IBM Plex Sans" pitchFamily="34" charset="-122"/>
                <a:cs typeface="IBM Plex Sans" pitchFamily="34" charset="-120"/>
              </a:rPr>
              <a:t>RSS</a:t>
            </a:r>
            <a:r>
              <a:rPr lang="en-US" sz="1200" dirty="0">
                <a:solidFill>
                  <a:srgbClr val="1E2433"/>
                </a:solidFill>
                <a:latin typeface="IBM Plex Sans" pitchFamily="34" charset="0"/>
                <a:ea typeface="IBM Plex Sans" pitchFamily="34" charset="-122"/>
                <a:cs typeface="IBM Plex Sans" pitchFamily="34" charset="-120"/>
              </a:rPr>
              <a:t>.</a:t>
            </a:r>
            <a:endParaRPr lang="en-US" sz="1200" dirty="0"/>
          </a:p>
        </p:txBody>
      </p:sp>
      <p:sp>
        <p:nvSpPr>
          <p:cNvPr id="7" name="Text 5"/>
          <p:cNvSpPr/>
          <p:nvPr/>
        </p:nvSpPr>
        <p:spPr>
          <a:xfrm>
            <a:off x="812800" y="226040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Liu (2024), tesis, University of Toronto.</a:t>
            </a:r>
            <a:endParaRPr lang="en-US" sz="1200" dirty="0"/>
          </a:p>
        </p:txBody>
      </p:sp>
      <p:sp>
        <p:nvSpPr>
          <p:cNvPr id="8" name="Text 6"/>
          <p:cNvSpPr/>
          <p:nvPr/>
        </p:nvSpPr>
        <p:spPr>
          <a:xfrm>
            <a:off x="812800" y="254992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Haarnoja et al. (2018), </a:t>
            </a:r>
            <a:r>
              <a:rPr lang="en-US" sz="1200" i="1" dirty="0">
                <a:solidFill>
                  <a:srgbClr val="1E2433"/>
                </a:solidFill>
                <a:latin typeface="IBM Plex Sans" pitchFamily="34" charset="0"/>
                <a:ea typeface="IBM Plex Sans" pitchFamily="34" charset="-122"/>
                <a:cs typeface="IBM Plex Sans" pitchFamily="34" charset="-120"/>
              </a:rPr>
              <a:t>ICML</a:t>
            </a:r>
            <a:r>
              <a:rPr lang="en-US" sz="1200" dirty="0">
                <a:solidFill>
                  <a:srgbClr val="1E2433"/>
                </a:solidFill>
                <a:latin typeface="IBM Plex Sans" pitchFamily="34" charset="0"/>
                <a:ea typeface="IBM Plex Sans" pitchFamily="34" charset="-122"/>
                <a:cs typeface="IBM Plex Sans" pitchFamily="34" charset="-120"/>
              </a:rPr>
              <a:t>: Soft Actor-Critic.</a:t>
            </a:r>
            <a:endParaRPr lang="en-US" sz="1200" dirty="0"/>
          </a:p>
        </p:txBody>
      </p:sp>
      <p:sp>
        <p:nvSpPr>
          <p:cNvPr id="9" name="Text 7"/>
          <p:cNvSpPr/>
          <p:nvPr/>
        </p:nvSpPr>
        <p:spPr>
          <a:xfrm>
            <a:off x="812800" y="283944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Raffin et al. (2021), </a:t>
            </a:r>
            <a:r>
              <a:rPr lang="en-US" sz="1200" i="1" dirty="0">
                <a:solidFill>
                  <a:srgbClr val="1E2433"/>
                </a:solidFill>
                <a:latin typeface="IBM Plex Sans" pitchFamily="34" charset="0"/>
                <a:ea typeface="IBM Plex Sans" pitchFamily="34" charset="-122"/>
                <a:cs typeface="IBM Plex Sans" pitchFamily="34" charset="-120"/>
              </a:rPr>
              <a:t>JMLR</a:t>
            </a:r>
            <a:r>
              <a:rPr lang="en-US" sz="1200" dirty="0">
                <a:solidFill>
                  <a:srgbClr val="1E2433"/>
                </a:solidFill>
                <a:latin typeface="IBM Plex Sans" pitchFamily="34" charset="0"/>
                <a:ea typeface="IBM Plex Sans" pitchFamily="34" charset="-122"/>
                <a:cs typeface="IBM Plex Sans" pitchFamily="34" charset="-120"/>
              </a:rPr>
              <a:t>: Stable-Baselines3.</a:t>
            </a:r>
            <a:endParaRPr lang="en-US" sz="1200" dirty="0"/>
          </a:p>
        </p:txBody>
      </p:sp>
      <p:sp>
        <p:nvSpPr>
          <p:cNvPr id="10" name="Text 8"/>
          <p:cNvSpPr/>
          <p:nvPr/>
        </p:nvSpPr>
        <p:spPr>
          <a:xfrm>
            <a:off x="812800" y="312896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Kuffner y LaValle (2000), </a:t>
            </a:r>
            <a:r>
              <a:rPr lang="en-US" sz="1200" i="1" dirty="0">
                <a:solidFill>
                  <a:srgbClr val="1E2433"/>
                </a:solidFill>
                <a:latin typeface="IBM Plex Sans" pitchFamily="34" charset="0"/>
                <a:ea typeface="IBM Plex Sans" pitchFamily="34" charset="-122"/>
                <a:cs typeface="IBM Plex Sans" pitchFamily="34" charset="-120"/>
              </a:rPr>
              <a:t>ICRA</a:t>
            </a:r>
            <a:r>
              <a:rPr lang="en-US" sz="1200" dirty="0">
                <a:solidFill>
                  <a:srgbClr val="1E2433"/>
                </a:solidFill>
                <a:latin typeface="IBM Plex Sans" pitchFamily="34" charset="0"/>
                <a:ea typeface="IBM Plex Sans" pitchFamily="34" charset="-122"/>
                <a:cs typeface="IBM Plex Sans" pitchFamily="34" charset="-120"/>
              </a:rPr>
              <a:t>: RRT-Connect.</a:t>
            </a:r>
            <a:endParaRPr lang="en-US" sz="1200" dirty="0"/>
          </a:p>
        </p:txBody>
      </p:sp>
      <p:sp>
        <p:nvSpPr>
          <p:cNvPr id="11" name="Text 9"/>
          <p:cNvSpPr/>
          <p:nvPr/>
        </p:nvSpPr>
        <p:spPr>
          <a:xfrm>
            <a:off x="812800" y="341848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Bohlin y Kavraki (2000), </a:t>
            </a:r>
            <a:r>
              <a:rPr lang="en-US" sz="1200" i="1" dirty="0">
                <a:solidFill>
                  <a:srgbClr val="1E2433"/>
                </a:solidFill>
                <a:latin typeface="IBM Plex Sans" pitchFamily="34" charset="0"/>
                <a:ea typeface="IBM Plex Sans" pitchFamily="34" charset="-122"/>
                <a:cs typeface="IBM Plex Sans" pitchFamily="34" charset="-120"/>
              </a:rPr>
              <a:t>ICRA</a:t>
            </a:r>
            <a:r>
              <a:rPr lang="en-US" sz="1200" dirty="0">
                <a:solidFill>
                  <a:srgbClr val="1E2433"/>
                </a:solidFill>
                <a:latin typeface="IBM Plex Sans" pitchFamily="34" charset="0"/>
                <a:ea typeface="IBM Plex Sans" pitchFamily="34" charset="-122"/>
                <a:cs typeface="IBM Plex Sans" pitchFamily="34" charset="-120"/>
              </a:rPr>
              <a:t>: Lazy PRM.</a:t>
            </a:r>
            <a:endParaRPr lang="en-US" sz="1200" dirty="0"/>
          </a:p>
        </p:txBody>
      </p:sp>
      <p:sp>
        <p:nvSpPr>
          <p:cNvPr id="12" name="Text 10"/>
          <p:cNvSpPr/>
          <p:nvPr/>
        </p:nvSpPr>
        <p:spPr>
          <a:xfrm>
            <a:off x="6248400" y="13918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Şucan, Moll y Kavraki (2012), </a:t>
            </a:r>
            <a:r>
              <a:rPr lang="en-US" sz="1200" i="1" dirty="0">
                <a:solidFill>
                  <a:srgbClr val="1E2433"/>
                </a:solidFill>
                <a:latin typeface="IBM Plex Sans" pitchFamily="34" charset="0"/>
                <a:ea typeface="IBM Plex Sans" pitchFamily="34" charset="-122"/>
                <a:cs typeface="IBM Plex Sans" pitchFamily="34" charset="-120"/>
              </a:rPr>
              <a:t>IEEE RAM</a:t>
            </a:r>
            <a:r>
              <a:rPr lang="en-US" sz="1200" dirty="0">
                <a:solidFill>
                  <a:srgbClr val="1E2433"/>
                </a:solidFill>
                <a:latin typeface="IBM Plex Sans" pitchFamily="34" charset="0"/>
                <a:ea typeface="IBM Plex Sans" pitchFamily="34" charset="-122"/>
                <a:cs typeface="IBM Plex Sans" pitchFamily="34" charset="-120"/>
              </a:rPr>
              <a:t>: OMPL.</a:t>
            </a:r>
            <a:endParaRPr lang="en-US" sz="1200" dirty="0"/>
          </a:p>
        </p:txBody>
      </p:sp>
      <p:sp>
        <p:nvSpPr>
          <p:cNvPr id="13" name="Text 11"/>
          <p:cNvSpPr/>
          <p:nvPr/>
        </p:nvSpPr>
        <p:spPr>
          <a:xfrm>
            <a:off x="6248400" y="16813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Wilcoxon (1945), </a:t>
            </a:r>
            <a:r>
              <a:rPr lang="en-US" sz="1200" i="1" dirty="0">
                <a:solidFill>
                  <a:srgbClr val="1E2433"/>
                </a:solidFill>
                <a:latin typeface="IBM Plex Sans" pitchFamily="34" charset="0"/>
                <a:ea typeface="IBM Plex Sans" pitchFamily="34" charset="-122"/>
                <a:cs typeface="IBM Plex Sans" pitchFamily="34" charset="-120"/>
              </a:rPr>
              <a:t>Biometrics Bulletin</a:t>
            </a:r>
            <a:r>
              <a:rPr lang="en-US" sz="1200" dirty="0">
                <a:solidFill>
                  <a:srgbClr val="1E2433"/>
                </a:solidFill>
                <a:latin typeface="IBM Plex Sans" pitchFamily="34" charset="0"/>
                <a:ea typeface="IBM Plex Sans" pitchFamily="34" charset="-122"/>
                <a:cs typeface="IBM Plex Sans" pitchFamily="34" charset="-120"/>
              </a:rPr>
              <a:t>.</a:t>
            </a:r>
            <a:endParaRPr lang="en-US" sz="1200" dirty="0"/>
          </a:p>
        </p:txBody>
      </p:sp>
      <p:sp>
        <p:nvSpPr>
          <p:cNvPr id="14" name="Text 12"/>
          <p:cNvSpPr/>
          <p:nvPr/>
        </p:nvSpPr>
        <p:spPr>
          <a:xfrm>
            <a:off x="6248400" y="19708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IFR (2025), </a:t>
            </a:r>
            <a:r>
              <a:rPr lang="en-US" sz="1200" i="1" dirty="0">
                <a:solidFill>
                  <a:srgbClr val="1E2433"/>
                </a:solidFill>
                <a:latin typeface="IBM Plex Sans" pitchFamily="34" charset="0"/>
                <a:ea typeface="IBM Plex Sans" pitchFamily="34" charset="-122"/>
                <a:cs typeface="IBM Plex Sans" pitchFamily="34" charset="-120"/>
              </a:rPr>
              <a:t>World Robotics 2025</a:t>
            </a:r>
            <a:r>
              <a:rPr lang="en-US" sz="1200" dirty="0">
                <a:solidFill>
                  <a:srgbClr val="1E2433"/>
                </a:solidFill>
                <a:latin typeface="IBM Plex Sans" pitchFamily="34" charset="0"/>
                <a:ea typeface="IBM Plex Sans" pitchFamily="34" charset="-122"/>
                <a:cs typeface="IBM Plex Sans" pitchFamily="34" charset="-120"/>
              </a:rPr>
              <a:t>.</a:t>
            </a:r>
            <a:endParaRPr lang="en-US" sz="1200" dirty="0"/>
          </a:p>
        </p:txBody>
      </p:sp>
      <p:sp>
        <p:nvSpPr>
          <p:cNvPr id="15" name="Text 13"/>
          <p:cNvSpPr/>
          <p:nvPr/>
        </p:nvSpPr>
        <p:spPr>
          <a:xfrm>
            <a:off x="6248400" y="226040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PRODUCE (2024), Estudio del sector metalmecánico.</a:t>
            </a:r>
            <a:endParaRPr lang="en-US" sz="1200" dirty="0"/>
          </a:p>
        </p:txBody>
      </p:sp>
      <p:sp>
        <p:nvSpPr>
          <p:cNvPr id="16" name="Text 14"/>
          <p:cNvSpPr/>
          <p:nvPr/>
        </p:nvSpPr>
        <p:spPr>
          <a:xfrm>
            <a:off x="6248400" y="254992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Realtime Robotics, RapidPlan.</a:t>
            </a:r>
            <a:endParaRPr lang="en-US" sz="1200" dirty="0"/>
          </a:p>
        </p:txBody>
      </p:sp>
      <p:sp>
        <p:nvSpPr>
          <p:cNvPr id="17" name="Text 15"/>
          <p:cNvSpPr/>
          <p:nvPr/>
        </p:nvSpPr>
        <p:spPr>
          <a:xfrm>
            <a:off x="6248400" y="283944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NVIDIA, cuMotion en Isaac Manipulator.</a:t>
            </a:r>
            <a:endParaRPr lang="en-US" sz="1200" dirty="0"/>
          </a:p>
        </p:txBody>
      </p:sp>
      <p:sp>
        <p:nvSpPr>
          <p:cNvPr id="18" name="Text 16"/>
          <p:cNvSpPr/>
          <p:nvPr/>
        </p:nvSpPr>
        <p:spPr>
          <a:xfrm>
            <a:off x="6248400" y="312896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RoboDK, planificador libre de colisión.</a:t>
            </a:r>
            <a:endParaRPr lang="en-US" sz="1200" dirty="0"/>
          </a:p>
        </p:txBody>
      </p:sp>
      <p:sp>
        <p:nvSpPr>
          <p:cNvPr id="19" name="Text 17"/>
          <p:cNvSpPr/>
          <p:nvPr/>
        </p:nvSpPr>
        <p:spPr>
          <a:xfrm>
            <a:off x="6248400" y="341848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3"/>
                </a:solidFill>
                <a:latin typeface="IBM Plex Sans" pitchFamily="34" charset="0"/>
                <a:ea typeface="IBM Plex Sans" pitchFamily="34" charset="-122"/>
                <a:cs typeface="IBM Plex Sans" pitchFamily="34" charset="-120"/>
              </a:rPr>
              <a:t>RobotLAB, ficha del DOBOT Magician E6.</a:t>
            </a:r>
            <a:endParaRPr lang="en-US" sz="1200" dirty="0"/>
          </a:p>
        </p:txBody>
      </p:sp>
      <p:sp>
        <p:nvSpPr>
          <p:cNvPr id="20" name="Text 18"/>
          <p:cNvSpPr/>
          <p:nvPr/>
        </p:nvSpPr>
        <p:spPr>
          <a:xfrm>
            <a:off x="812800" y="3822303"/>
            <a:ext cx="10566400" cy="408880"/>
          </a:xfrm>
          <a:prstGeom prst="rect">
            <a:avLst/>
          </a:prstGeom>
          <a:solidFill>
            <a:srgbClr val="F1ECE4"/>
          </a:solidFill>
          <a:ln/>
        </p:spPr>
        <p:txBody>
          <a:bodyPr wrap="square" lIns="215900" tIns="88900" rIns="0" bIns="63500" rtlCol="0" anchor="t">
            <a:normAutofit/>
          </a:bodyPr>
          <a:lstStyle/>
          <a:p>
            <a:pPr algn="l" indent="0" marL="0">
              <a:lnSpc>
                <a:spcPts val="1820"/>
              </a:lnSpc>
              <a:buNone/>
            </a:pPr>
            <a:r>
              <a:rPr lang="en-US" sz="1300" dirty="0">
                <a:solidFill>
                  <a:srgbClr val="1E2433"/>
                </a:solidFill>
                <a:latin typeface="IBM Plex Sans" pitchFamily="34" charset="0"/>
                <a:ea typeface="IBM Plex Sans" pitchFamily="34" charset="-122"/>
                <a:cs typeface="IBM Plex Sans" pitchFamily="34" charset="-120"/>
              </a:rPr>
              <a:t>La lista completa, en formato IEEE, está en el informe técnico.</a:t>
            </a:r>
            <a:endParaRPr lang="en-US" sz="1300" dirty="0"/>
          </a:p>
        </p:txBody>
      </p:sp>
      <p:sp>
        <p:nvSpPr>
          <p:cNvPr id="21" name="Shape 19"/>
          <p:cNvSpPr/>
          <p:nvPr/>
        </p:nvSpPr>
        <p:spPr>
          <a:xfrm>
            <a:off x="831850" y="3822303"/>
            <a:ext cx="0" cy="408880"/>
          </a:xfrm>
          <a:prstGeom prst="line">
            <a:avLst/>
          </a:prstGeom>
          <a:noFill/>
          <a:ln w="38100">
            <a:solidFill>
              <a:srgbClr val="8A0000"/>
            </a:solidFill>
            <a:prstDash val="solid"/>
          </a:ln>
        </p:spPr>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UNI · FIM · Proyecto Mecatrónico · Presentación 1</a:t>
            </a:r>
            <a:endParaRPr lang="en-US" sz="1200" dirty="0"/>
          </a:p>
        </p:txBody>
      </p:sp>
      <p:sp>
        <p:nvSpPr>
          <p:cNvPr id="23" name="Text 21"/>
          <p:cNvSpPr/>
          <p:nvPr/>
        </p:nvSpPr>
        <p:spPr>
          <a:xfrm>
            <a:off x="99568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80"/>
                </a:solidFill>
                <a:latin typeface="IBM Plex Sans" pitchFamily="34" charset="0"/>
                <a:ea typeface="IBM Plex Sans" pitchFamily="34" charset="-122"/>
                <a:cs typeface="IBM Plex Sans" pitchFamily="34" charset="-120"/>
              </a:rPr>
              <a:t>24</a:t>
            </a:r>
            <a:endParaRPr lang="en-US" sz="1200" dirty="0"/>
          </a:p>
        </p:txBody>
      </p:sp>
      <p:pic>
        <p:nvPicPr>
          <p:cNvPr id="24" name="Image 0" descr="Escudo UNI">    </p:cNvPr>
          <p:cNvPicPr>
            <a:picLocks noChangeAspect="1"/>
          </p:cNvPicPr>
          <p:nvPr/>
        </p:nvPicPr>
        <p:blipFill>
          <a:blip r:embed="rId1"/>
          <a:srcRect l="0" r="0" t="-499" b="-499"/>
          <a:stretch/>
        </p:blipFill>
        <p:spPr>
          <a:xfrm>
            <a:off x="11049000" y="6146800"/>
            <a:ext cx="330200" cy="406400"/>
          </a:xfrm>
          <a:prstGeom prst="rect">
            <a:avLst/>
          </a:prstGeom>
        </p:spPr>
      </p:pic>
    </p:spTree>
  </p:cSld>
  <p:clrMapOvr>
    <a:masterClrMapping/>
  </p:clrMapOvr>
</p:sld>
</file>

<file path=ppt/theme/theme1.xml><?xml version="1.0" encoding="utf-8"?>
<a:theme xmlns:a="http://schemas.openxmlformats.org/drawingml/2006/main" name="Presentación 1 – Proyecto Mecatrónico">
  <a:themeElements>
    <a:clrScheme name="Presentación 1 – Proyecto Mecatrónico">
      <a:dk1>
        <a:srgbClr val="1E2433"/>
      </a:dk1>
      <a:lt1>
        <a:srgbClr val="FBFAF7"/>
      </a:lt1>
      <a:dk2>
        <a:srgbClr val="555A64"/>
      </a:dk2>
      <a:lt2>
        <a:srgbClr val="E5E5E3"/>
      </a:lt2>
      <a:accent1>
        <a:srgbClr val="8A0000"/>
      </a:accent1>
      <a:accent2>
        <a:srgbClr val="1B6B3A"/>
      </a:accent2>
      <a:accent3>
        <a:srgbClr val="FBEBC8"/>
      </a:accent3>
      <a:accent4>
        <a:srgbClr val="F0A8A8"/>
      </a:accent4>
      <a:accent5>
        <a:srgbClr val="7A4E00"/>
      </a:accent5>
      <a:accent6>
        <a:srgbClr val="8A5A00"/>
      </a:accent6>
      <a:hlink>
        <a:srgbClr val="0563C1"/>
      </a:hlink>
      <a:folHlink>
        <a:srgbClr val="954F72"/>
      </a:folHlink>
    </a:clrScheme>
    <a:fontScheme name="Presentación 1 – Proyecto Mecatrónico">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1 – Proyecto Mecatrónico</dc:title>
  <dc:subject/>
  <dc:creator/>
  <cp:lastModifiedBy/>
  <cp:revision>1</cp:revision>
  <dcterms:created xsi:type="dcterms:W3CDTF">2026-10-16T04:28:34Z</dcterms:created>
  <dcterms:modified xsi:type="dcterms:W3CDTF">2026-10-16T04:28:34Z</dcterms:modified>
</cp:coreProperties>
</file>