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Presentar el tema en una frase: comparamos un planificador clásico con una política aprendida para que un robot de 6 grados de libertad evite obstáculos. Todo en simulación.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Contexto. Dos familias: planificadores de muestreo (MoveIt 2 con OMPL) y políticas aprendidas con refuerzo. La pregunta no es cuál gana, sino qué se gana y qué se pierde.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DOBOT Magician E6, seis articulaciones. Celda de mecanizado con mesa, bandeja y utillaje. La tarea es recoger una pieza y depositarla, con un obstáculo en el camino. Solo simulación: PyBullet para entrenar, Gazebo y MoveIt para la línea base. El robot real queda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El contrato de escenarios es compartido: PyBullet, MoveIt y Gazebo ven exactamente la misma geometría. Las 100 escenas de evaluación son fijas y se usan una sola vez por modelo elegido; la validación es otro conjunto distinto. Cinco métricas.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Dos planificadores. RRT-Connect acierta 296 de 300 consultas y LazyPRM* 99 de 100, sin ninguna colisión. El precio es el cómputo: unos 100 ms con RRT-Connect y 5 s con LazyPRM*. Además pasan muy cerca de los obstáculos, alrededor de 4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En cada paso de 30 ms el robot observa 43 números y elige un cambio de ángulo para cada articulación. La recompensa premia acercarse a la meta, orientar bien y ser preciso al final, y castiga acercarse demasiado al obstáculo, los movimientos bruscos y chocar. Episodios de hasta 300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Soft Actor-Critic es un algoritmo off-policy de actor y crítico para acciones continuas. Su idea central es maximizar no solo la recompensa sino también la entropía de la política: así explora más y es más estable. Usa dos críticos y toma el mínimo para no sobreestimar, y ajusta solo su temperatura.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Primero el valor objetivo, que usa el mínimo de los dos críticos y resta la entropía. Cada crítico minimiza el error cuadrático frente a ese valor. El actor minimiza alfa por log pi menos el mínimo de Q, con la acción reparametrizada y pasada por tanh. La temperatura se ajusta para alcanzar una entropía objetivo de menos 6, la dimensión de la acción. Las redes objetivo se actualizan de forma suave con tau 0.005.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Cada corrida es un entrenamiento completo con una semilla. Dentro de una corrida hay 4 entornos de simulación en paralelo que alimentan el búfer de repetición, y SAC actualiza la red en la GPU. En la PC potente se lanzan varias corridas a la vez: tres semillas de sac_v1 y tres de sac_v1c. Cada 50 000 pasos se valida en 50 escenas y se guarda el mejor modelo. La evaluación en las 100 escenas se hace una sola vez al final. Una corrida de 1 millón de pasos tarda unas 3 h 45 min; las seis, unas 6 h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Video de tres paneles, uno por semilla, con la misma escena: un cilindro grande justo en el camino. Muestra la política guardada a 100 mil, 300 mil, 600 mil y 1 millón de pasos. A 100 y 300 mil ninguna acierta. A 600 mil la semilla 2 ya rodea el obstáculo. A 1 millón también la 0. La semilla 1 nunca lo consigue en esta escena. Aclarar que no es el entrenamiento en vivo sino los puntos guardados. Archivo aparte: video_semillas.mp4.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Con tres semillas de sac_v1 y las 100 escenas de evaluación: éxito medio 66 por ciento, entre 43 y 87 según la semilla, frente a casi 99 de los planificadores. El cómputo baja de unos 98 a 19 milisegundos, cinco veces menos. La holgura al obstáculo sube de 4 a 30 milímetros. El tiempo de ejecución no tiene diferencia significativa. La longitud articular es mejor en la línea base. Prueba de Wilcoxon pareada.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El éxito cae con el tamaño del obstáculo en las tres semillas; la semilla 2 pasa de 100 por ciento con obstáculos pequeños a 62 con los más grandes. Los fallos son tiempos agotados: el robot termina a 3 a 7 centímetros de la meta sin chocar. Las semillas coinciden en 43 escenas que aciertan y en 13 que no acierta ninguna. Fuera de distribución: tres obstáculos y utillaje nuevo dan 0 por ciento; el paso estrecho entre 0 y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El diagnóstico apunta a los obstáculos grandes y a la precisión final. Tres experimentos, cada uno con tres semillas y elegido por validación: v2a cambia el muestreo del entrenamiento para dar más peso a lo difícil y quita las escenas vacías; v2b añade una recompensa contra quedarse parado; v3 amplía la variedad de obstáculos para la generalización. Además, más semillas y una validación de 200 escenas.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Tres ideas: rápida y con holgura; menos fiable y variable entre semillas; el camino de mejora está claro. Abrir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640080"/>
            <a:ext cx="6400800" cy="365760"/>
          </a:xfrm>
          <a:prstGeom prst="rect">
            <a:avLst/>
          </a:prstGeom>
          <a:noFill/>
          <a:ln/>
        </p:spPr>
        <p:txBody>
          <a:bodyPr wrap="square" lIns="0" tIns="0" rIns="0" bIns="0" rtlCol="0" anchor="ctr"/>
          <a:lstStyle/>
          <a:p>
            <a:pPr indent="0" marL="0">
              <a:buNone/>
            </a:pPr>
            <a:r>
              <a:rPr lang="en-US" sz="1400" b="1" spc="300" kern="0" dirty="0">
                <a:solidFill>
                  <a:srgbClr val="EB6834"/>
                </a:solidFill>
                <a:latin typeface="Calibri" pitchFamily="34" charset="0"/>
                <a:ea typeface="Calibri" pitchFamily="34" charset="-122"/>
                <a:cs typeface="Calibri" pitchFamily="34" charset="-120"/>
              </a:rPr>
              <a:t>PROYECTO MECATRÓNICO · UNI</a:t>
            </a:r>
            <a:endParaRPr lang="en-US" sz="1400" dirty="0"/>
          </a:p>
        </p:txBody>
      </p:sp>
      <p:sp>
        <p:nvSpPr>
          <p:cNvPr id="3" name="Título"/>
          <p:cNvSpPr txBox="1"/>
          <p:nvPr/>
        </p:nvSpPr>
        <p:spPr>
          <a:xfrm>
            <a:off x="548640" y="1371600"/>
            <a:ext cx="603504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Evasión de obstáculos con un manipulador de 6 GDL</a:t>
            </a:r>
            <a:endParaRPr lang="en-US" sz="4000" dirty="0"/>
          </a:p>
        </p:txBody>
      </p:sp>
      <p:sp>
        <p:nvSpPr>
          <p:cNvPr id="4" name="Text 2"/>
          <p:cNvSpPr txBox="1"/>
          <p:nvPr/>
        </p:nvSpPr>
        <p:spPr>
          <a:xfrm>
            <a:off x="548640" y="3291840"/>
            <a:ext cx="5852160" cy="1097280"/>
          </a:xfrm>
          <a:prstGeom prst="rect">
            <a:avLst/>
          </a:prstGeom>
          <a:noFill/>
          <a:ln/>
        </p:spPr>
        <p:txBody>
          <a:bodyPr wrap="square" lIns="0" tIns="0" rIns="0" bIns="0" rtlCol="0" anchor="t"/>
          <a:lstStyle/>
          <a:p>
            <a:pPr indent="0" marL="0">
              <a:buNone/>
            </a:pPr>
            <a:r>
              <a:rPr lang="en-US" sz="2000" dirty="0">
                <a:solidFill>
                  <a:srgbClr val="C9C8C0"/>
                </a:solidFill>
                <a:latin typeface="Calibri" pitchFamily="34" charset="0"/>
                <a:ea typeface="Calibri" pitchFamily="34" charset="-122"/>
                <a:cs typeface="Calibri" pitchFamily="34" charset="-120"/>
              </a:rPr>
              <a:t>Planificación clásica frente a aprendizaje por refuerzo (SAC) con el DOBOT Magician E6, en simulación</a:t>
            </a:r>
            <a:endParaRPr lang="en-US" sz="2000" dirty="0"/>
          </a:p>
        </p:txBody>
      </p:sp>
      <p:sp>
        <p:nvSpPr>
          <p:cNvPr id="5" name="Autores"/>
          <p:cNvSpPr txBox="1"/>
          <p:nvPr/>
        </p:nvSpPr>
        <p:spPr>
          <a:xfrm>
            <a:off x="548640" y="5120640"/>
            <a:ext cx="58521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Caleb Camargo · Leonardo</a:t>
            </a:r>
            <a:endParaRPr lang="en-US" sz="1800" dirty="0"/>
          </a:p>
        </p:txBody>
      </p:sp>
      <p:sp>
        <p:nvSpPr>
          <p:cNvPr id="6" name="Text 4"/>
          <p:cNvSpPr txBox="1"/>
          <p:nvPr/>
        </p:nvSpPr>
        <p:spPr>
          <a:xfrm>
            <a:off x="548640" y="5532120"/>
            <a:ext cx="5852160" cy="365760"/>
          </a:xfrm>
          <a:prstGeom prst="rect">
            <a:avLst/>
          </a:prstGeom>
          <a:noFill/>
          <a:ln/>
        </p:spPr>
        <p:txBody>
          <a:bodyPr wrap="square" lIns="0" tIns="0" rIns="0" bIns="0" rtlCol="0" anchor="ctr"/>
          <a:lstStyle/>
          <a:p>
            <a:pPr indent="0" marL="0">
              <a:buNone/>
            </a:pPr>
            <a:r>
              <a:rPr lang="en-US" sz="1600" dirty="0">
                <a:solidFill>
                  <a:srgbClr val="C9C8C0"/>
                </a:solidFill>
                <a:latin typeface="Calibri" pitchFamily="34" charset="0"/>
                <a:ea typeface="Calibri" pitchFamily="34" charset="-122"/>
                <a:cs typeface="Calibri" pitchFamily="34" charset="-120"/>
              </a:rPr>
              <a:t>Octubre de 2026</a:t>
            </a:r>
            <a:endParaRPr lang="en-US" sz="1600" dirty="0"/>
          </a:p>
        </p:txBody>
      </p:sp>
      <p:pic>
        <p:nvPicPr>
          <p:cNvPr id="7" name="Escena de la celda" descr="/home/calebcamargo/UNI/10mo_CICLO/PROYECTO MECATRONICO/docs/presentacion/img/escena_panel.png">    </p:cNvPr>
          <p:cNvPicPr>
            <a:picLocks noChangeAspect="1"/>
          </p:cNvPicPr>
          <p:nvPr/>
        </p:nvPicPr>
        <p:blipFill>
          <a:blip r:embed="rId1"/>
          <a:srcRect l="0" r="0" t="0" b="0"/>
          <a:stretch/>
        </p:blipFill>
        <p:spPr>
          <a:xfrm>
            <a:off x="6949440" y="822960"/>
            <a:ext cx="4480560" cy="5212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El problema: evadir obstáculos con 6 grados de libertad</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2 / 14</a:t>
            </a:r>
            <a:endParaRPr lang="en-US" sz="1100" dirty="0"/>
          </a:p>
        </p:txBody>
      </p:sp>
      <p:sp>
        <p:nvSpPr>
          <p:cNvPr id="5" name="Text 2"/>
          <p:cNvSpPr txBox="1"/>
          <p:nvPr/>
        </p:nvSpPr>
        <p:spPr>
          <a:xfrm>
            <a:off x="548640" y="1463040"/>
            <a:ext cx="6035040" cy="43891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B1F24"/>
                </a:solidFill>
                <a:latin typeface="Calibri" pitchFamily="34" charset="0"/>
                <a:ea typeface="Calibri" pitchFamily="34" charset="-122"/>
                <a:cs typeface="Calibri" pitchFamily="34" charset="-120"/>
              </a:rPr>
              <a:t>Un manipulador debe llevar su herramienta de un punto a otro sin chocar con la celda ni con obstáculos nuevos.</a:t>
            </a:r>
            <a:endParaRPr lang="en-US" sz="2000" dirty="0"/>
          </a:p>
          <a:p>
            <a:pPr marL="228600" indent="-228600">
              <a:spcAft>
                <a:spcPts val="1000"/>
              </a:spcAft>
              <a:buSzPct val="100000"/>
              <a:buChar char="•"/>
            </a:pPr>
            <a:r>
              <a:rPr lang="en-US" sz="2000" dirty="0">
                <a:solidFill>
                  <a:srgbClr val="1B1F24"/>
                </a:solidFill>
                <a:latin typeface="Calibri" pitchFamily="34" charset="0"/>
                <a:ea typeface="Calibri" pitchFamily="34" charset="-122"/>
                <a:cs typeface="Calibri" pitchFamily="34" charset="-120"/>
              </a:rPr>
              <a:t>Enfoque clásico: planificadores de muestreo (MoveIt 2 + OMPL). Calculan una ruta en cada consulta.</a:t>
            </a:r>
            <a:endParaRPr lang="en-US" sz="2000" dirty="0"/>
          </a:p>
          <a:p>
            <a:pPr marL="228600" indent="-228600">
              <a:spcAft>
                <a:spcPts val="1000"/>
              </a:spcAft>
              <a:buSzPct val="100000"/>
              <a:buChar char="•"/>
            </a:pPr>
            <a:r>
              <a:rPr lang="en-US" sz="2000" dirty="0">
                <a:solidFill>
                  <a:srgbClr val="1B1F24"/>
                </a:solidFill>
                <a:latin typeface="Calibri" pitchFamily="34" charset="0"/>
                <a:ea typeface="Calibri" pitchFamily="34" charset="-122"/>
                <a:cs typeface="Calibri" pitchFamily="34" charset="-120"/>
              </a:rPr>
              <a:t>Enfoque aprendido: una política entrenada con refuerzo (SAC) que decide en cada paso.</a:t>
            </a:r>
            <a:endParaRPr lang="en-US" sz="2000" dirty="0"/>
          </a:p>
          <a:p>
            <a:pPr marL="228600" indent="-228600">
              <a:spcAft>
                <a:spcPts val="1000"/>
              </a:spcAft>
              <a:buSzPct val="100000"/>
              <a:buChar char="•"/>
            </a:pPr>
            <a:r>
              <a:rPr lang="en-US" sz="2000" dirty="0">
                <a:solidFill>
                  <a:srgbClr val="1B1F24"/>
                </a:solidFill>
                <a:latin typeface="Calibri" pitchFamily="34" charset="0"/>
                <a:ea typeface="Calibri" pitchFamily="34" charset="-122"/>
                <a:cs typeface="Calibri" pitchFamily="34" charset="-120"/>
              </a:rPr>
              <a:t>La política responde en milisegundos, pero ¿es igual de fiable?</a:t>
            </a:r>
            <a:endParaRPr lang="en-US" sz="2000" dirty="0"/>
          </a:p>
        </p:txBody>
      </p:sp>
      <p:sp>
        <p:nvSpPr>
          <p:cNvPr id="6" name="Pregunta"/>
          <p:cNvSpPr/>
          <p:nvPr/>
        </p:nvSpPr>
        <p:spPr>
          <a:xfrm>
            <a:off x="7040880" y="1554480"/>
            <a:ext cx="4572000" cy="4206240"/>
          </a:xfrm>
          <a:prstGeom prst="roundRect">
            <a:avLst>
              <a:gd name="adj" fmla="val 2174"/>
            </a:avLst>
          </a:prstGeom>
          <a:solidFill>
            <a:srgbClr val="1B1F24"/>
          </a:solidFill>
          <a:ln w="12700">
            <a:solidFill>
              <a:srgbClr val="1B1F24"/>
            </a:solidFill>
            <a:prstDash val="solid"/>
          </a:ln>
        </p:spPr>
      </p:sp>
      <p:sp>
        <p:nvSpPr>
          <p:cNvPr id="7" name="Text 4"/>
          <p:cNvSpPr txBox="1"/>
          <p:nvPr/>
        </p:nvSpPr>
        <p:spPr>
          <a:xfrm>
            <a:off x="7315200" y="1828800"/>
            <a:ext cx="4023360" cy="365760"/>
          </a:xfrm>
          <a:prstGeom prst="rect">
            <a:avLst/>
          </a:prstGeom>
          <a:noFill/>
          <a:ln/>
        </p:spPr>
        <p:txBody>
          <a:bodyPr wrap="square" lIns="0" tIns="0" rIns="0" bIns="0" rtlCol="0" anchor="ctr"/>
          <a:lstStyle/>
          <a:p>
            <a:pPr indent="0" marL="0">
              <a:buNone/>
            </a:pPr>
            <a:r>
              <a:rPr lang="en-US" sz="1300" b="1" spc="200" kern="0" dirty="0">
                <a:solidFill>
                  <a:srgbClr val="EB6834"/>
                </a:solidFill>
                <a:latin typeface="Calibri" pitchFamily="34" charset="0"/>
                <a:ea typeface="Calibri" pitchFamily="34" charset="-122"/>
                <a:cs typeface="Calibri" pitchFamily="34" charset="-120"/>
              </a:rPr>
              <a:t>PREGUNTA DE INVESTIGACIÓN</a:t>
            </a:r>
            <a:endParaRPr lang="en-US" sz="1300" dirty="0"/>
          </a:p>
        </p:txBody>
      </p:sp>
      <p:sp>
        <p:nvSpPr>
          <p:cNvPr id="8" name="Text 5"/>
          <p:cNvSpPr txBox="1"/>
          <p:nvPr/>
        </p:nvSpPr>
        <p:spPr>
          <a:xfrm>
            <a:off x="7315200" y="2286000"/>
            <a:ext cx="4023360" cy="32004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¿Qué compromiso hay entre éxito, tiempo de cómputo y holgura al sustituir el planificador por una política aprendida, y cómo generaliza ante obstáculos nuevos?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El robot, la celda y la tarea</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3 / 14</a:t>
            </a:r>
            <a:endParaRPr lang="en-US" sz="1100" dirty="0"/>
          </a:p>
        </p:txBody>
      </p:sp>
      <p:sp>
        <p:nvSpPr>
          <p:cNvPr id="5" name="Marca Robot"/>
          <p:cNvSpPr/>
          <p:nvPr/>
        </p:nvSpPr>
        <p:spPr>
          <a:xfrm>
            <a:off x="548640" y="1600200"/>
            <a:ext cx="457200" cy="457200"/>
          </a:xfrm>
          <a:prstGeom prst="ellipse">
            <a:avLst/>
          </a:prstGeom>
          <a:solidFill>
            <a:srgbClr val="2A78D6"/>
          </a:solidFill>
          <a:ln w="12700">
            <a:solidFill>
              <a:srgbClr val="2A78D6"/>
            </a:solidFill>
            <a:prstDash val="solid"/>
          </a:ln>
        </p:spPr>
      </p:sp>
      <p:sp>
        <p:nvSpPr>
          <p:cNvPr id="6" name="Text 3"/>
          <p:cNvSpPr txBox="1"/>
          <p:nvPr/>
        </p:nvSpPr>
        <p:spPr>
          <a:xfrm>
            <a:off x="1234440" y="1554480"/>
            <a:ext cx="4937760" cy="320040"/>
          </a:xfrm>
          <a:prstGeom prst="rect">
            <a:avLst/>
          </a:prstGeom>
          <a:noFill/>
          <a:ln/>
        </p:spPr>
        <p:txBody>
          <a:bodyPr wrap="square" lIns="0" tIns="0" rIns="0" bIns="0" rtlCol="0" anchor="ctr"/>
          <a:lstStyle/>
          <a:p>
            <a:pPr indent="0" marL="0">
              <a:buNone/>
            </a:pPr>
            <a:r>
              <a:rPr lang="en-US" sz="2000" b="1" dirty="0">
                <a:solidFill>
                  <a:srgbClr val="1B1F24"/>
                </a:solidFill>
                <a:latin typeface="Calibri" pitchFamily="34" charset="0"/>
                <a:ea typeface="Calibri" pitchFamily="34" charset="-122"/>
                <a:cs typeface="Calibri" pitchFamily="34" charset="-120"/>
              </a:rPr>
              <a:t>Robot</a:t>
            </a:r>
            <a:endParaRPr lang="en-US" sz="2000" dirty="0"/>
          </a:p>
        </p:txBody>
      </p:sp>
      <p:sp>
        <p:nvSpPr>
          <p:cNvPr id="7" name="Text 4"/>
          <p:cNvSpPr txBox="1"/>
          <p:nvPr/>
        </p:nvSpPr>
        <p:spPr>
          <a:xfrm>
            <a:off x="1234440" y="1920240"/>
            <a:ext cx="4937760" cy="68580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DOBOT Magician E6, 6 GDL</a:t>
            </a:r>
            <a:endParaRPr lang="en-US" sz="1600" dirty="0"/>
          </a:p>
        </p:txBody>
      </p:sp>
      <p:sp>
        <p:nvSpPr>
          <p:cNvPr id="8" name="Marca Celda"/>
          <p:cNvSpPr/>
          <p:nvPr/>
        </p:nvSpPr>
        <p:spPr>
          <a:xfrm>
            <a:off x="548640" y="2788920"/>
            <a:ext cx="457200" cy="457200"/>
          </a:xfrm>
          <a:prstGeom prst="ellipse">
            <a:avLst/>
          </a:prstGeom>
          <a:solidFill>
            <a:srgbClr val="1A8C3C"/>
          </a:solidFill>
          <a:ln w="12700">
            <a:solidFill>
              <a:srgbClr val="1A8C3C"/>
            </a:solidFill>
            <a:prstDash val="solid"/>
          </a:ln>
        </p:spPr>
      </p:sp>
      <p:sp>
        <p:nvSpPr>
          <p:cNvPr id="9" name="Text 6"/>
          <p:cNvSpPr txBox="1"/>
          <p:nvPr/>
        </p:nvSpPr>
        <p:spPr>
          <a:xfrm>
            <a:off x="1234440" y="2743200"/>
            <a:ext cx="4937760" cy="320040"/>
          </a:xfrm>
          <a:prstGeom prst="rect">
            <a:avLst/>
          </a:prstGeom>
          <a:noFill/>
          <a:ln/>
        </p:spPr>
        <p:txBody>
          <a:bodyPr wrap="square" lIns="0" tIns="0" rIns="0" bIns="0" rtlCol="0" anchor="ctr"/>
          <a:lstStyle/>
          <a:p>
            <a:pPr indent="0" marL="0">
              <a:buNone/>
            </a:pPr>
            <a:r>
              <a:rPr lang="en-US" sz="2000" b="1" dirty="0">
                <a:solidFill>
                  <a:srgbClr val="1B1F24"/>
                </a:solidFill>
                <a:latin typeface="Calibri" pitchFamily="34" charset="0"/>
                <a:ea typeface="Calibri" pitchFamily="34" charset="-122"/>
                <a:cs typeface="Calibri" pitchFamily="34" charset="-120"/>
              </a:rPr>
              <a:t>Celda</a:t>
            </a:r>
            <a:endParaRPr lang="en-US" sz="2000" dirty="0"/>
          </a:p>
        </p:txBody>
      </p:sp>
      <p:sp>
        <p:nvSpPr>
          <p:cNvPr id="10" name="Text 7"/>
          <p:cNvSpPr txBox="1"/>
          <p:nvPr/>
        </p:nvSpPr>
        <p:spPr>
          <a:xfrm>
            <a:off x="1234440" y="3108960"/>
            <a:ext cx="4937760" cy="68580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Mesa, centro CNC, bandeja y utillaje</a:t>
            </a:r>
            <a:endParaRPr lang="en-US" sz="1600" dirty="0"/>
          </a:p>
        </p:txBody>
      </p:sp>
      <p:sp>
        <p:nvSpPr>
          <p:cNvPr id="11" name="Marca Tarea"/>
          <p:cNvSpPr/>
          <p:nvPr/>
        </p:nvSpPr>
        <p:spPr>
          <a:xfrm>
            <a:off x="548640" y="3977640"/>
            <a:ext cx="457200" cy="457200"/>
          </a:xfrm>
          <a:prstGeom prst="ellipse">
            <a:avLst/>
          </a:prstGeom>
          <a:solidFill>
            <a:srgbClr val="EB6834"/>
          </a:solidFill>
          <a:ln w="12700">
            <a:solidFill>
              <a:srgbClr val="EB6834"/>
            </a:solidFill>
            <a:prstDash val="solid"/>
          </a:ln>
        </p:spPr>
      </p:sp>
      <p:sp>
        <p:nvSpPr>
          <p:cNvPr id="12" name="Text 9"/>
          <p:cNvSpPr txBox="1"/>
          <p:nvPr/>
        </p:nvSpPr>
        <p:spPr>
          <a:xfrm>
            <a:off x="1234440" y="3931920"/>
            <a:ext cx="4937760" cy="320040"/>
          </a:xfrm>
          <a:prstGeom prst="rect">
            <a:avLst/>
          </a:prstGeom>
          <a:noFill/>
          <a:ln/>
        </p:spPr>
        <p:txBody>
          <a:bodyPr wrap="square" lIns="0" tIns="0" rIns="0" bIns="0" rtlCol="0" anchor="ctr"/>
          <a:lstStyle/>
          <a:p>
            <a:pPr indent="0" marL="0">
              <a:buNone/>
            </a:pPr>
            <a:r>
              <a:rPr lang="en-US" sz="2000" b="1" dirty="0">
                <a:solidFill>
                  <a:srgbClr val="1B1F24"/>
                </a:solidFill>
                <a:latin typeface="Calibri" pitchFamily="34" charset="0"/>
                <a:ea typeface="Calibri" pitchFamily="34" charset="-122"/>
                <a:cs typeface="Calibri" pitchFamily="34" charset="-120"/>
              </a:rPr>
              <a:t>Tarea</a:t>
            </a:r>
            <a:endParaRPr lang="en-US" sz="2000" dirty="0"/>
          </a:p>
        </p:txBody>
      </p:sp>
      <p:sp>
        <p:nvSpPr>
          <p:cNvPr id="13" name="Text 10"/>
          <p:cNvSpPr txBox="1"/>
          <p:nvPr/>
        </p:nvSpPr>
        <p:spPr>
          <a:xfrm>
            <a:off x="1234440" y="4297680"/>
            <a:ext cx="4937760" cy="68580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Recoger y depositar con un obstáculo en el camino (prisma, cilindro o esfera)</a:t>
            </a:r>
            <a:endParaRPr lang="en-US" sz="1600" dirty="0"/>
          </a:p>
        </p:txBody>
      </p:sp>
      <p:sp>
        <p:nvSpPr>
          <p:cNvPr id="14" name="Marca Alcance"/>
          <p:cNvSpPr/>
          <p:nvPr/>
        </p:nvSpPr>
        <p:spPr>
          <a:xfrm>
            <a:off x="548640" y="5166360"/>
            <a:ext cx="457200" cy="457200"/>
          </a:xfrm>
          <a:prstGeom prst="ellipse">
            <a:avLst/>
          </a:prstGeom>
          <a:solidFill>
            <a:srgbClr val="52514E"/>
          </a:solidFill>
          <a:ln w="12700">
            <a:solidFill>
              <a:srgbClr val="52514E"/>
            </a:solidFill>
            <a:prstDash val="solid"/>
          </a:ln>
        </p:spPr>
      </p:sp>
      <p:sp>
        <p:nvSpPr>
          <p:cNvPr id="15" name="Text 12"/>
          <p:cNvSpPr txBox="1"/>
          <p:nvPr/>
        </p:nvSpPr>
        <p:spPr>
          <a:xfrm>
            <a:off x="1234440" y="5120640"/>
            <a:ext cx="4937760" cy="320040"/>
          </a:xfrm>
          <a:prstGeom prst="rect">
            <a:avLst/>
          </a:prstGeom>
          <a:noFill/>
          <a:ln/>
        </p:spPr>
        <p:txBody>
          <a:bodyPr wrap="square" lIns="0" tIns="0" rIns="0" bIns="0" rtlCol="0" anchor="ctr"/>
          <a:lstStyle/>
          <a:p>
            <a:pPr indent="0" marL="0">
              <a:buNone/>
            </a:pPr>
            <a:r>
              <a:rPr lang="en-US" sz="2000" b="1" dirty="0">
                <a:solidFill>
                  <a:srgbClr val="1B1F24"/>
                </a:solidFill>
                <a:latin typeface="Calibri" pitchFamily="34" charset="0"/>
                <a:ea typeface="Calibri" pitchFamily="34" charset="-122"/>
                <a:cs typeface="Calibri" pitchFamily="34" charset="-120"/>
              </a:rPr>
              <a:t>Alcance</a:t>
            </a:r>
            <a:endParaRPr lang="en-US" sz="2000" dirty="0"/>
          </a:p>
        </p:txBody>
      </p:sp>
      <p:sp>
        <p:nvSpPr>
          <p:cNvPr id="16" name="Text 13"/>
          <p:cNvSpPr txBox="1"/>
          <p:nvPr/>
        </p:nvSpPr>
        <p:spPr>
          <a:xfrm>
            <a:off x="1234440" y="5486400"/>
            <a:ext cx="4937760" cy="68580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Solo simulación: PyBullet (RL) y Gazebo + MoveIt (línea base). Robot real: trabajo futuro</a:t>
            </a:r>
            <a:endParaRPr lang="en-US" sz="1600" dirty="0"/>
          </a:p>
        </p:txBody>
      </p:sp>
      <p:pic>
        <p:nvPicPr>
          <p:cNvPr id="17" name="Escena de la celda" descr="/home/calebcamargo/UNI/10mo_CICLO/PROYECTO MECATRONICO/docs/presentacion/img/escena_panel.png">    </p:cNvPr>
          <p:cNvPicPr>
            <a:picLocks noChangeAspect="1"/>
          </p:cNvPicPr>
          <p:nvPr/>
        </p:nvPicPr>
        <p:blipFill>
          <a:blip r:embed="rId1"/>
          <a:srcRect l="0" r="0" t="0" b="0"/>
          <a:stretch/>
        </p:blipFill>
        <p:spPr>
          <a:xfrm>
            <a:off x="6766560" y="1463040"/>
            <a:ext cx="4846320" cy="4846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Una misma vara de medir para los dos enfoques</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4 / 14</a:t>
            </a:r>
            <a:endParaRPr lang="en-US" sz="1100" dirty="0"/>
          </a:p>
        </p:txBody>
      </p:sp>
      <p:sp>
        <p:nvSpPr>
          <p:cNvPr id="5" name="Tarjeta Escenas de evaluación"/>
          <p:cNvSpPr/>
          <p:nvPr/>
        </p:nvSpPr>
        <p:spPr>
          <a:xfrm>
            <a:off x="548640" y="1463040"/>
            <a:ext cx="3291840" cy="2011680"/>
          </a:xfrm>
          <a:prstGeom prst="roundRect">
            <a:avLst>
              <a:gd name="adj" fmla="val 3636"/>
            </a:avLst>
          </a:prstGeom>
          <a:solidFill>
            <a:srgbClr val="F3F4F6"/>
          </a:solidFill>
          <a:ln w="12700">
            <a:solidFill>
              <a:srgbClr val="F3F4F6"/>
            </a:solidFill>
            <a:prstDash val="solid"/>
          </a:ln>
        </p:spPr>
      </p:sp>
      <p:sp>
        <p:nvSpPr>
          <p:cNvPr id="6" name="Text 3"/>
          <p:cNvSpPr txBox="1"/>
          <p:nvPr/>
        </p:nvSpPr>
        <p:spPr>
          <a:xfrm>
            <a:off x="777240" y="1600200"/>
            <a:ext cx="283464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Escenas de evaluación</a:t>
            </a:r>
            <a:endParaRPr lang="en-US" sz="1400" dirty="0"/>
          </a:p>
        </p:txBody>
      </p:sp>
      <p:sp>
        <p:nvSpPr>
          <p:cNvPr id="7" name="Text 4"/>
          <p:cNvSpPr txBox="1"/>
          <p:nvPr/>
        </p:nvSpPr>
        <p:spPr>
          <a:xfrm>
            <a:off x="777240" y="1920240"/>
            <a:ext cx="2834640" cy="731520"/>
          </a:xfrm>
          <a:prstGeom prst="rect">
            <a:avLst/>
          </a:prstGeom>
          <a:noFill/>
          <a:ln/>
        </p:spPr>
        <p:txBody>
          <a:bodyPr wrap="square" lIns="0" tIns="0" rIns="0" bIns="0" rtlCol="0" anchor="ctr"/>
          <a:lstStyle/>
          <a:p>
            <a:pPr indent="0" marL="0">
              <a:buNone/>
            </a:pPr>
            <a:r>
              <a:rPr lang="en-US" sz="4000" b="1" dirty="0">
                <a:solidFill>
                  <a:srgbClr val="1B1F24"/>
                </a:solidFill>
                <a:latin typeface="Calibri" pitchFamily="34" charset="0"/>
                <a:ea typeface="Calibri" pitchFamily="34" charset="-122"/>
                <a:cs typeface="Calibri" pitchFamily="34" charset="-120"/>
              </a:rPr>
              <a:t>100</a:t>
            </a:r>
            <a:endParaRPr lang="en-US" sz="4000" dirty="0"/>
          </a:p>
        </p:txBody>
      </p:sp>
      <p:sp>
        <p:nvSpPr>
          <p:cNvPr id="8" name="Text 5"/>
          <p:cNvSpPr txBox="1"/>
          <p:nvPr/>
        </p:nvSpPr>
        <p:spPr>
          <a:xfrm>
            <a:off x="777240" y="2651760"/>
            <a:ext cx="2834640" cy="73152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fijas, semilla 1000; las mismas para ambos métodos</a:t>
            </a:r>
            <a:endParaRPr lang="en-US" sz="1400" dirty="0"/>
          </a:p>
        </p:txBody>
      </p:sp>
      <p:sp>
        <p:nvSpPr>
          <p:cNvPr id="9" name="Tarjeta Contrato"/>
          <p:cNvSpPr/>
          <p:nvPr/>
        </p:nvSpPr>
        <p:spPr>
          <a:xfrm>
            <a:off x="548640" y="3749040"/>
            <a:ext cx="3291840" cy="2011680"/>
          </a:xfrm>
          <a:prstGeom prst="roundRect">
            <a:avLst>
              <a:gd name="adj" fmla="val 3636"/>
            </a:avLst>
          </a:prstGeom>
          <a:solidFill>
            <a:srgbClr val="F3F4F6"/>
          </a:solidFill>
          <a:ln w="12700">
            <a:solidFill>
              <a:srgbClr val="F3F4F6"/>
            </a:solidFill>
            <a:prstDash val="solid"/>
          </a:ln>
        </p:spPr>
      </p:sp>
      <p:sp>
        <p:nvSpPr>
          <p:cNvPr id="10" name="Text 7"/>
          <p:cNvSpPr txBox="1"/>
          <p:nvPr/>
        </p:nvSpPr>
        <p:spPr>
          <a:xfrm>
            <a:off x="777240" y="3886200"/>
            <a:ext cx="283464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Contrato</a:t>
            </a:r>
            <a:endParaRPr lang="en-US" sz="1400" dirty="0"/>
          </a:p>
        </p:txBody>
      </p:sp>
      <p:sp>
        <p:nvSpPr>
          <p:cNvPr id="11" name="Text 8"/>
          <p:cNvSpPr txBox="1"/>
          <p:nvPr/>
        </p:nvSpPr>
        <p:spPr>
          <a:xfrm>
            <a:off x="777240" y="4206240"/>
            <a:ext cx="2834640" cy="731520"/>
          </a:xfrm>
          <a:prstGeom prst="rect">
            <a:avLst/>
          </a:prstGeom>
          <a:noFill/>
          <a:ln/>
        </p:spPr>
        <p:txBody>
          <a:bodyPr wrap="square" lIns="0" tIns="0" rIns="0" bIns="0" rtlCol="0" anchor="ctr"/>
          <a:lstStyle/>
          <a:p>
            <a:pPr indent="0" marL="0">
              <a:buNone/>
            </a:pPr>
            <a:r>
              <a:rPr lang="en-US" sz="4000" b="1" dirty="0">
                <a:solidFill>
                  <a:srgbClr val="1B1F24"/>
                </a:solidFill>
                <a:latin typeface="Calibri" pitchFamily="34" charset="0"/>
                <a:ea typeface="Calibri" pitchFamily="34" charset="-122"/>
                <a:cs typeface="Calibri" pitchFamily="34" charset="-120"/>
              </a:rPr>
              <a:t>19</a:t>
            </a:r>
            <a:endParaRPr lang="en-US" sz="4000" dirty="0"/>
          </a:p>
        </p:txBody>
      </p:sp>
      <p:sp>
        <p:nvSpPr>
          <p:cNvPr id="12" name="Text 9"/>
          <p:cNvSpPr txBox="1"/>
          <p:nvPr/>
        </p:nvSpPr>
        <p:spPr>
          <a:xfrm>
            <a:off x="777240" y="4937760"/>
            <a:ext cx="2834640" cy="73152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variantes de 8 escenarios; 5 fuera de distribución</a:t>
            </a:r>
            <a:endParaRPr lang="en-US" sz="1400" dirty="0"/>
          </a:p>
        </p:txBody>
      </p:sp>
      <p:sp>
        <p:nvSpPr>
          <p:cNvPr id="13" name="Etiqueta M1"/>
          <p:cNvSpPr/>
          <p:nvPr/>
        </p:nvSpPr>
        <p:spPr>
          <a:xfrm>
            <a:off x="4389120" y="1463040"/>
            <a:ext cx="731520" cy="640080"/>
          </a:xfrm>
          <a:prstGeom prst="roundRect">
            <a:avLst>
              <a:gd name="adj" fmla="val 11429"/>
            </a:avLst>
          </a:prstGeom>
          <a:solidFill>
            <a:srgbClr val="1B1F24"/>
          </a:solidFill>
          <a:ln w="12700">
            <a:solidFill>
              <a:srgbClr val="1B1F24"/>
            </a:solidFill>
            <a:prstDash val="solid"/>
          </a:ln>
        </p:spPr>
      </p:sp>
      <p:sp>
        <p:nvSpPr>
          <p:cNvPr id="14" name="Text 11"/>
          <p:cNvSpPr txBox="1"/>
          <p:nvPr/>
        </p:nvSpPr>
        <p:spPr>
          <a:xfrm>
            <a:off x="4389120" y="1463040"/>
            <a:ext cx="73152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M1</a:t>
            </a:r>
            <a:endParaRPr lang="en-US" sz="1800" dirty="0"/>
          </a:p>
        </p:txBody>
      </p:sp>
      <p:sp>
        <p:nvSpPr>
          <p:cNvPr id="15" name="Text 12"/>
          <p:cNvSpPr txBox="1"/>
          <p:nvPr/>
        </p:nvSpPr>
        <p:spPr>
          <a:xfrm>
            <a:off x="5349240" y="1463040"/>
            <a:ext cx="6217920" cy="6400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Éxito  </a:t>
            </a:r>
            <a:pPr indent="0" marL="0">
              <a:buNone/>
            </a:pPr>
            <a:r>
              <a:rPr lang="en-US" sz="1800" dirty="0">
                <a:solidFill>
                  <a:srgbClr val="52514E"/>
                </a:solidFill>
                <a:latin typeface="Calibri" pitchFamily="34" charset="0"/>
                <a:ea typeface="Calibri" pitchFamily="34" charset="-122"/>
                <a:cs typeface="Calibri" pitchFamily="34" charset="-120"/>
              </a:rPr>
              <a:t>llega a 5 mm y 0.05 rad, sin colisión, en 300 pasos</a:t>
            </a:r>
            <a:endParaRPr lang="en-US" sz="1800" dirty="0"/>
          </a:p>
        </p:txBody>
      </p:sp>
      <p:sp>
        <p:nvSpPr>
          <p:cNvPr id="16" name="Etiqueta M2"/>
          <p:cNvSpPr/>
          <p:nvPr/>
        </p:nvSpPr>
        <p:spPr>
          <a:xfrm>
            <a:off x="4389120" y="2331720"/>
            <a:ext cx="731520" cy="640080"/>
          </a:xfrm>
          <a:prstGeom prst="roundRect">
            <a:avLst>
              <a:gd name="adj" fmla="val 11429"/>
            </a:avLst>
          </a:prstGeom>
          <a:solidFill>
            <a:srgbClr val="1B1F24"/>
          </a:solidFill>
          <a:ln w="12700">
            <a:solidFill>
              <a:srgbClr val="1B1F24"/>
            </a:solidFill>
            <a:prstDash val="solid"/>
          </a:ln>
        </p:spPr>
      </p:sp>
      <p:sp>
        <p:nvSpPr>
          <p:cNvPr id="17" name="Text 14"/>
          <p:cNvSpPr txBox="1"/>
          <p:nvPr/>
        </p:nvSpPr>
        <p:spPr>
          <a:xfrm>
            <a:off x="4389120" y="2331720"/>
            <a:ext cx="73152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M2</a:t>
            </a:r>
            <a:endParaRPr lang="en-US" sz="1800" dirty="0"/>
          </a:p>
        </p:txBody>
      </p:sp>
      <p:sp>
        <p:nvSpPr>
          <p:cNvPr id="18" name="Text 15"/>
          <p:cNvSpPr txBox="1"/>
          <p:nvPr/>
        </p:nvSpPr>
        <p:spPr>
          <a:xfrm>
            <a:off x="5349240" y="2331720"/>
            <a:ext cx="6217920" cy="6400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Colisiones  </a:t>
            </a:r>
            <a:pPr indent="0" marL="0">
              <a:buNone/>
            </a:pPr>
            <a:r>
              <a:rPr lang="en-US" sz="1800" dirty="0">
                <a:solidFill>
                  <a:srgbClr val="52514E"/>
                </a:solidFill>
                <a:latin typeface="Calibri" pitchFamily="34" charset="0"/>
                <a:ea typeface="Calibri" pitchFamily="34" charset="-122"/>
                <a:cs typeface="Calibri" pitchFamily="34" charset="-120"/>
              </a:rPr>
              <a:t>contacto con la celda o el obstáculo</a:t>
            </a:r>
            <a:endParaRPr lang="en-US" sz="1800" dirty="0"/>
          </a:p>
        </p:txBody>
      </p:sp>
      <p:sp>
        <p:nvSpPr>
          <p:cNvPr id="19" name="Etiqueta M3"/>
          <p:cNvSpPr/>
          <p:nvPr/>
        </p:nvSpPr>
        <p:spPr>
          <a:xfrm>
            <a:off x="4389120" y="3200400"/>
            <a:ext cx="731520" cy="640080"/>
          </a:xfrm>
          <a:prstGeom prst="roundRect">
            <a:avLst>
              <a:gd name="adj" fmla="val 11429"/>
            </a:avLst>
          </a:prstGeom>
          <a:solidFill>
            <a:srgbClr val="1B1F24"/>
          </a:solidFill>
          <a:ln w="12700">
            <a:solidFill>
              <a:srgbClr val="1B1F24"/>
            </a:solidFill>
            <a:prstDash val="solid"/>
          </a:ln>
        </p:spPr>
      </p:sp>
      <p:sp>
        <p:nvSpPr>
          <p:cNvPr id="20" name="Text 17"/>
          <p:cNvSpPr txBox="1"/>
          <p:nvPr/>
        </p:nvSpPr>
        <p:spPr>
          <a:xfrm>
            <a:off x="4389120" y="3200400"/>
            <a:ext cx="73152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M3</a:t>
            </a:r>
            <a:endParaRPr lang="en-US" sz="1800" dirty="0"/>
          </a:p>
        </p:txBody>
      </p:sp>
      <p:sp>
        <p:nvSpPr>
          <p:cNvPr id="21" name="Text 18"/>
          <p:cNvSpPr txBox="1"/>
          <p:nvPr/>
        </p:nvSpPr>
        <p:spPr>
          <a:xfrm>
            <a:off x="5349240" y="3200400"/>
            <a:ext cx="6217920" cy="6400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Longitud  </a:t>
            </a:r>
            <a:pPr indent="0" marL="0">
              <a:buNone/>
            </a:pPr>
            <a:r>
              <a:rPr lang="en-US" sz="1800" dirty="0">
                <a:solidFill>
                  <a:srgbClr val="52514E"/>
                </a:solidFill>
                <a:latin typeface="Calibri" pitchFamily="34" charset="0"/>
                <a:ea typeface="Calibri" pitchFamily="34" charset="-122"/>
                <a:cs typeface="Calibri" pitchFamily="34" charset="-120"/>
              </a:rPr>
              <a:t>de la trayectoria, cartesiana y articular</a:t>
            </a:r>
            <a:endParaRPr lang="en-US" sz="1800" dirty="0"/>
          </a:p>
        </p:txBody>
      </p:sp>
      <p:sp>
        <p:nvSpPr>
          <p:cNvPr id="22" name="Etiqueta M4"/>
          <p:cNvSpPr/>
          <p:nvPr/>
        </p:nvSpPr>
        <p:spPr>
          <a:xfrm>
            <a:off x="4389120" y="4069080"/>
            <a:ext cx="731520" cy="640080"/>
          </a:xfrm>
          <a:prstGeom prst="roundRect">
            <a:avLst>
              <a:gd name="adj" fmla="val 11429"/>
            </a:avLst>
          </a:prstGeom>
          <a:solidFill>
            <a:srgbClr val="1B1F24"/>
          </a:solidFill>
          <a:ln w="12700">
            <a:solidFill>
              <a:srgbClr val="1B1F24"/>
            </a:solidFill>
            <a:prstDash val="solid"/>
          </a:ln>
        </p:spPr>
      </p:sp>
      <p:sp>
        <p:nvSpPr>
          <p:cNvPr id="23" name="Text 20"/>
          <p:cNvSpPr txBox="1"/>
          <p:nvPr/>
        </p:nvSpPr>
        <p:spPr>
          <a:xfrm>
            <a:off x="4389120" y="4069080"/>
            <a:ext cx="73152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M4</a:t>
            </a:r>
            <a:endParaRPr lang="en-US" sz="1800" dirty="0"/>
          </a:p>
        </p:txBody>
      </p:sp>
      <p:sp>
        <p:nvSpPr>
          <p:cNvPr id="24" name="Text 21"/>
          <p:cNvSpPr txBox="1"/>
          <p:nvPr/>
        </p:nvSpPr>
        <p:spPr>
          <a:xfrm>
            <a:off x="5349240" y="4069080"/>
            <a:ext cx="6217920" cy="6400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Tiempo  </a:t>
            </a:r>
            <a:pPr indent="0" marL="0">
              <a:buNone/>
            </a:pPr>
            <a:r>
              <a:rPr lang="en-US" sz="1800" dirty="0">
                <a:solidFill>
                  <a:srgbClr val="52514E"/>
                </a:solidFill>
                <a:latin typeface="Calibri" pitchFamily="34" charset="0"/>
                <a:ea typeface="Calibri" pitchFamily="34" charset="-122"/>
                <a:cs typeface="Calibri" pitchFamily="34" charset="-120"/>
              </a:rPr>
              <a:t>de cómputo y de ejecución</a:t>
            </a:r>
            <a:endParaRPr lang="en-US" sz="1800" dirty="0"/>
          </a:p>
        </p:txBody>
      </p:sp>
      <p:sp>
        <p:nvSpPr>
          <p:cNvPr id="25" name="Etiqueta M5"/>
          <p:cNvSpPr/>
          <p:nvPr/>
        </p:nvSpPr>
        <p:spPr>
          <a:xfrm>
            <a:off x="4389120" y="4937760"/>
            <a:ext cx="731520" cy="640080"/>
          </a:xfrm>
          <a:prstGeom prst="roundRect">
            <a:avLst>
              <a:gd name="adj" fmla="val 11429"/>
            </a:avLst>
          </a:prstGeom>
          <a:solidFill>
            <a:srgbClr val="1B1F24"/>
          </a:solidFill>
          <a:ln w="12700">
            <a:solidFill>
              <a:srgbClr val="1B1F24"/>
            </a:solidFill>
            <a:prstDash val="solid"/>
          </a:ln>
        </p:spPr>
      </p:sp>
      <p:sp>
        <p:nvSpPr>
          <p:cNvPr id="26" name="Text 23"/>
          <p:cNvSpPr txBox="1"/>
          <p:nvPr/>
        </p:nvSpPr>
        <p:spPr>
          <a:xfrm>
            <a:off x="4389120" y="4937760"/>
            <a:ext cx="73152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M5</a:t>
            </a:r>
            <a:endParaRPr lang="en-US" sz="1800" dirty="0"/>
          </a:p>
        </p:txBody>
      </p:sp>
      <p:sp>
        <p:nvSpPr>
          <p:cNvPr id="27" name="Text 24"/>
          <p:cNvSpPr txBox="1"/>
          <p:nvPr/>
        </p:nvSpPr>
        <p:spPr>
          <a:xfrm>
            <a:off x="5349240" y="4937760"/>
            <a:ext cx="6217920" cy="6400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Holgura  </a:t>
            </a:r>
            <a:pPr indent="0" marL="0">
              <a:buNone/>
            </a:pPr>
            <a:r>
              <a:rPr lang="en-US" sz="1800" dirty="0">
                <a:solidFill>
                  <a:srgbClr val="52514E"/>
                </a:solidFill>
                <a:latin typeface="Calibri" pitchFamily="34" charset="0"/>
                <a:ea typeface="Calibri" pitchFamily="34" charset="-122"/>
                <a:cs typeface="Calibri" pitchFamily="34" charset="-120"/>
              </a:rPr>
              <a:t>distancia mínima al obstáculo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Línea base clásica: MoveIt 2 con OMPL</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5 / 14</a:t>
            </a:r>
            <a:endParaRPr lang="en-US" sz="1100" dirty="0"/>
          </a:p>
        </p:txBody>
      </p:sp>
      <p:sp>
        <p:nvSpPr>
          <p:cNvPr id="5" name="Tarjeta RRT-Connect"/>
          <p:cNvSpPr/>
          <p:nvPr/>
        </p:nvSpPr>
        <p:spPr>
          <a:xfrm>
            <a:off x="548640" y="1554480"/>
            <a:ext cx="3566160" cy="2194560"/>
          </a:xfrm>
          <a:prstGeom prst="roundRect">
            <a:avLst>
              <a:gd name="adj" fmla="val 3333"/>
            </a:avLst>
          </a:prstGeom>
          <a:solidFill>
            <a:srgbClr val="F3F4F6"/>
          </a:solidFill>
          <a:ln w="12700">
            <a:solidFill>
              <a:srgbClr val="F3F4F6"/>
            </a:solidFill>
            <a:prstDash val="solid"/>
          </a:ln>
        </p:spPr>
      </p:sp>
      <p:sp>
        <p:nvSpPr>
          <p:cNvPr id="6" name="Text 3"/>
          <p:cNvSpPr txBox="1"/>
          <p:nvPr/>
        </p:nvSpPr>
        <p:spPr>
          <a:xfrm>
            <a:off x="777240" y="1691640"/>
            <a:ext cx="310896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RRT-Connect</a:t>
            </a:r>
            <a:endParaRPr lang="en-US" sz="1400" dirty="0"/>
          </a:p>
        </p:txBody>
      </p:sp>
      <p:sp>
        <p:nvSpPr>
          <p:cNvPr id="7" name="Text 4"/>
          <p:cNvSpPr txBox="1"/>
          <p:nvPr/>
        </p:nvSpPr>
        <p:spPr>
          <a:xfrm>
            <a:off x="777240" y="2011680"/>
            <a:ext cx="3108960" cy="731520"/>
          </a:xfrm>
          <a:prstGeom prst="rect">
            <a:avLst/>
          </a:prstGeom>
          <a:noFill/>
          <a:ln/>
        </p:spPr>
        <p:txBody>
          <a:bodyPr wrap="square" lIns="0" tIns="0" rIns="0" bIns="0" rtlCol="0" anchor="ctr"/>
          <a:lstStyle/>
          <a:p>
            <a:pPr indent="0" marL="0">
              <a:buNone/>
            </a:pPr>
            <a:r>
              <a:rPr lang="en-US" sz="4000" b="1" dirty="0">
                <a:solidFill>
                  <a:srgbClr val="2A78D6"/>
                </a:solidFill>
                <a:latin typeface="Calibri" pitchFamily="34" charset="0"/>
                <a:ea typeface="Calibri" pitchFamily="34" charset="-122"/>
                <a:cs typeface="Calibri" pitchFamily="34" charset="-120"/>
              </a:rPr>
              <a:t>98.7 %</a:t>
            </a:r>
            <a:endParaRPr lang="en-US" sz="4000" dirty="0"/>
          </a:p>
        </p:txBody>
      </p:sp>
      <p:sp>
        <p:nvSpPr>
          <p:cNvPr id="8" name="Text 5"/>
          <p:cNvSpPr txBox="1"/>
          <p:nvPr/>
        </p:nvSpPr>
        <p:spPr>
          <a:xfrm>
            <a:off x="777240" y="2743200"/>
            <a:ext cx="3108960" cy="91440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296 de 300 consultas · cómputo 103 ms</a:t>
            </a:r>
            <a:endParaRPr lang="en-US" sz="1400" dirty="0"/>
          </a:p>
        </p:txBody>
      </p:sp>
      <p:sp>
        <p:nvSpPr>
          <p:cNvPr id="9" name="Tarjeta LazyPRM*"/>
          <p:cNvSpPr/>
          <p:nvPr/>
        </p:nvSpPr>
        <p:spPr>
          <a:xfrm>
            <a:off x="4389120" y="1554480"/>
            <a:ext cx="3566160" cy="2194560"/>
          </a:xfrm>
          <a:prstGeom prst="roundRect">
            <a:avLst>
              <a:gd name="adj" fmla="val 3333"/>
            </a:avLst>
          </a:prstGeom>
          <a:solidFill>
            <a:srgbClr val="F3F4F6"/>
          </a:solidFill>
          <a:ln w="12700">
            <a:solidFill>
              <a:srgbClr val="F3F4F6"/>
            </a:solidFill>
            <a:prstDash val="solid"/>
          </a:ln>
        </p:spPr>
      </p:sp>
      <p:sp>
        <p:nvSpPr>
          <p:cNvPr id="10" name="Text 7"/>
          <p:cNvSpPr txBox="1"/>
          <p:nvPr/>
        </p:nvSpPr>
        <p:spPr>
          <a:xfrm>
            <a:off x="4617720" y="1691640"/>
            <a:ext cx="310896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LazyPRM*</a:t>
            </a:r>
            <a:endParaRPr lang="en-US" sz="1400" dirty="0"/>
          </a:p>
        </p:txBody>
      </p:sp>
      <p:sp>
        <p:nvSpPr>
          <p:cNvPr id="11" name="Text 8"/>
          <p:cNvSpPr txBox="1"/>
          <p:nvPr/>
        </p:nvSpPr>
        <p:spPr>
          <a:xfrm>
            <a:off x="4617720" y="2011680"/>
            <a:ext cx="3108960" cy="731520"/>
          </a:xfrm>
          <a:prstGeom prst="rect">
            <a:avLst/>
          </a:prstGeom>
          <a:noFill/>
          <a:ln/>
        </p:spPr>
        <p:txBody>
          <a:bodyPr wrap="square" lIns="0" tIns="0" rIns="0" bIns="0" rtlCol="0" anchor="ctr"/>
          <a:lstStyle/>
          <a:p>
            <a:pPr indent="0" marL="0">
              <a:buNone/>
            </a:pPr>
            <a:r>
              <a:rPr lang="en-US" sz="4000" b="1" dirty="0">
                <a:solidFill>
                  <a:srgbClr val="1A8C3C"/>
                </a:solidFill>
                <a:latin typeface="Calibri" pitchFamily="34" charset="0"/>
                <a:ea typeface="Calibri" pitchFamily="34" charset="-122"/>
                <a:cs typeface="Calibri" pitchFamily="34" charset="-120"/>
              </a:rPr>
              <a:t>99 %</a:t>
            </a:r>
            <a:endParaRPr lang="en-US" sz="4000" dirty="0"/>
          </a:p>
        </p:txBody>
      </p:sp>
      <p:sp>
        <p:nvSpPr>
          <p:cNvPr id="12" name="Text 9"/>
          <p:cNvSpPr txBox="1"/>
          <p:nvPr/>
        </p:nvSpPr>
        <p:spPr>
          <a:xfrm>
            <a:off x="4617720" y="2743200"/>
            <a:ext cx="3108960" cy="91440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99 de 100 consultas · cómputo 5043 ms</a:t>
            </a:r>
            <a:endParaRPr lang="en-US" sz="1400" dirty="0"/>
          </a:p>
        </p:txBody>
      </p:sp>
      <p:sp>
        <p:nvSpPr>
          <p:cNvPr id="13" name="Tarjeta Colisiones"/>
          <p:cNvSpPr/>
          <p:nvPr/>
        </p:nvSpPr>
        <p:spPr>
          <a:xfrm>
            <a:off x="8229600" y="1554480"/>
            <a:ext cx="3200400" cy="2194560"/>
          </a:xfrm>
          <a:prstGeom prst="roundRect">
            <a:avLst>
              <a:gd name="adj" fmla="val 3333"/>
            </a:avLst>
          </a:prstGeom>
          <a:solidFill>
            <a:srgbClr val="F3F4F6"/>
          </a:solidFill>
          <a:ln w="12700">
            <a:solidFill>
              <a:srgbClr val="F3F4F6"/>
            </a:solidFill>
            <a:prstDash val="solid"/>
          </a:ln>
        </p:spPr>
      </p:sp>
      <p:sp>
        <p:nvSpPr>
          <p:cNvPr id="14" name="Text 11"/>
          <p:cNvSpPr txBox="1"/>
          <p:nvPr/>
        </p:nvSpPr>
        <p:spPr>
          <a:xfrm>
            <a:off x="8458200" y="1691640"/>
            <a:ext cx="274320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Colisiones</a:t>
            </a:r>
            <a:endParaRPr lang="en-US" sz="1400" dirty="0"/>
          </a:p>
        </p:txBody>
      </p:sp>
      <p:sp>
        <p:nvSpPr>
          <p:cNvPr id="15" name="Text 12"/>
          <p:cNvSpPr txBox="1"/>
          <p:nvPr/>
        </p:nvSpPr>
        <p:spPr>
          <a:xfrm>
            <a:off x="8458200" y="2011680"/>
            <a:ext cx="2743200" cy="731520"/>
          </a:xfrm>
          <a:prstGeom prst="rect">
            <a:avLst/>
          </a:prstGeom>
          <a:noFill/>
          <a:ln/>
        </p:spPr>
        <p:txBody>
          <a:bodyPr wrap="square" lIns="0" tIns="0" rIns="0" bIns="0" rtlCol="0" anchor="ctr"/>
          <a:lstStyle/>
          <a:p>
            <a:pPr indent="0" marL="0">
              <a:buNone/>
            </a:pPr>
            <a:r>
              <a:rPr lang="en-US" sz="4000" b="1" dirty="0">
                <a:solidFill>
                  <a:srgbClr val="1B1F24"/>
                </a:solidFill>
                <a:latin typeface="Calibri" pitchFamily="34" charset="0"/>
                <a:ea typeface="Calibri" pitchFamily="34" charset="-122"/>
                <a:cs typeface="Calibri" pitchFamily="34" charset="-120"/>
              </a:rPr>
              <a:t>0</a:t>
            </a:r>
            <a:endParaRPr lang="en-US" sz="4000" dirty="0"/>
          </a:p>
        </p:txBody>
      </p:sp>
      <p:sp>
        <p:nvSpPr>
          <p:cNvPr id="16" name="Text 13"/>
          <p:cNvSpPr txBox="1"/>
          <p:nvPr/>
        </p:nvSpPr>
        <p:spPr>
          <a:xfrm>
            <a:off x="8458200" y="2743200"/>
            <a:ext cx="2743200" cy="91440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en todas las consultas</a:t>
            </a:r>
            <a:endParaRPr lang="en-US" sz="1400" dirty="0"/>
          </a:p>
        </p:txBody>
      </p:sp>
      <p:sp>
        <p:nvSpPr>
          <p:cNvPr id="17" name="Text 14"/>
          <p:cNvSpPr txBox="1"/>
          <p:nvPr/>
        </p:nvSpPr>
        <p:spPr>
          <a:xfrm>
            <a:off x="548640" y="4206240"/>
            <a:ext cx="10515600" cy="201168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rgbClr val="1B1F24"/>
                </a:solidFill>
                <a:latin typeface="Calibri" pitchFamily="34" charset="0"/>
                <a:ea typeface="Calibri" pitchFamily="34" charset="-122"/>
                <a:cs typeface="Calibri" pitchFamily="34" charset="-120"/>
              </a:rPr>
              <a:t>Muy fiables: casi siempre encuentran una ruta libre.</a:t>
            </a:r>
            <a:endParaRPr lang="en-US" sz="2200" dirty="0"/>
          </a:p>
          <a:p>
            <a:pPr marL="228600" indent="-228600">
              <a:spcAft>
                <a:spcPts val="1000"/>
              </a:spcAft>
              <a:buSzPct val="100000"/>
              <a:buChar char="•"/>
            </a:pPr>
            <a:r>
              <a:rPr lang="en-US" sz="2200" dirty="0">
                <a:solidFill>
                  <a:srgbClr val="1B1F24"/>
                </a:solidFill>
                <a:latin typeface="Calibri" pitchFamily="34" charset="0"/>
                <a:ea typeface="Calibri" pitchFamily="34" charset="-122"/>
                <a:cs typeface="Calibri" pitchFamily="34" charset="-120"/>
              </a:rPr>
              <a:t>Cuestan tiempo de cómputo en cada consulta.</a:t>
            </a:r>
            <a:endParaRPr lang="en-US" sz="2200" dirty="0"/>
          </a:p>
          <a:p>
            <a:pPr marL="228600" indent="-228600">
              <a:spcAft>
                <a:spcPts val="1000"/>
              </a:spcAft>
              <a:buSzPct val="100000"/>
              <a:buChar char="•"/>
            </a:pPr>
            <a:r>
              <a:rPr lang="en-US" sz="2200" dirty="0">
                <a:solidFill>
                  <a:srgbClr val="1B1F24"/>
                </a:solidFill>
                <a:latin typeface="Calibri" pitchFamily="34" charset="0"/>
                <a:ea typeface="Calibri" pitchFamily="34" charset="-122"/>
                <a:cs typeface="Calibri" pitchFamily="34" charset="-120"/>
              </a:rPr>
              <a:t>Rozan los obstáculos: holgura mínima de unos 4 mm.</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El aprendizaje por refuerzo como problema de decisión</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6 / 14</a:t>
            </a:r>
            <a:endParaRPr lang="en-US" sz="1100" dirty="0"/>
          </a:p>
        </p:txBody>
      </p:sp>
      <p:sp>
        <p:nvSpPr>
          <p:cNvPr id="5" name="Tarjeta Estado · 43 valores"/>
          <p:cNvSpPr/>
          <p:nvPr/>
        </p:nvSpPr>
        <p:spPr>
          <a:xfrm>
            <a:off x="548640" y="1463040"/>
            <a:ext cx="3566160" cy="2743200"/>
          </a:xfrm>
          <a:prstGeom prst="roundRect">
            <a:avLst>
              <a:gd name="adj" fmla="val 2667"/>
            </a:avLst>
          </a:prstGeom>
          <a:solidFill>
            <a:srgbClr val="F3F4F6"/>
          </a:solidFill>
          <a:ln w="12700">
            <a:solidFill>
              <a:srgbClr val="F3F4F6"/>
            </a:solidFill>
            <a:prstDash val="solid"/>
          </a:ln>
        </p:spPr>
      </p:sp>
      <p:sp>
        <p:nvSpPr>
          <p:cNvPr id="6" name="Text 3"/>
          <p:cNvSpPr txBox="1"/>
          <p:nvPr/>
        </p:nvSpPr>
        <p:spPr>
          <a:xfrm>
            <a:off x="777240" y="1645920"/>
            <a:ext cx="3108960" cy="36576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Estado · 43 valores</a:t>
            </a:r>
            <a:endParaRPr lang="en-US" sz="1800" dirty="0"/>
          </a:p>
        </p:txBody>
      </p:sp>
      <p:sp>
        <p:nvSpPr>
          <p:cNvPr id="7" name="Text 4"/>
          <p:cNvSpPr txBox="1"/>
          <p:nvPr/>
        </p:nvSpPr>
        <p:spPr>
          <a:xfrm>
            <a:off x="777240" y="2103120"/>
            <a:ext cx="3108960" cy="2011680"/>
          </a:xfrm>
          <a:prstGeom prst="rect">
            <a:avLst/>
          </a:prstGeom>
          <a:noFill/>
          <a:ln/>
        </p:spPr>
        <p:txBody>
          <a:bodyPr wrap="square" lIns="0" tIns="0" rIns="0" bIns="0" rtlCol="0" anchor="t"/>
          <a:lstStyle/>
          <a:p>
            <a:pPr indent="0" marL="0">
              <a:buNone/>
            </a:pPr>
            <a:r>
              <a:rPr lang="en-US" sz="1500" dirty="0">
                <a:solidFill>
                  <a:srgbClr val="52514E"/>
                </a:solidFill>
                <a:latin typeface="Calibri" pitchFamily="34" charset="0"/>
                <a:ea typeface="Calibri" pitchFamily="34" charset="-122"/>
                <a:cs typeface="Calibri" pitchFamily="34" charset="-120"/>
              </a:rPr>
              <a:t>Posición y velocidad de las 6 articulaciones, error de posición y orientación hacia la meta, y distancia y dirección a los obstáculos desde 6 eslabones.</a:t>
            </a:r>
            <a:endParaRPr lang="en-US" sz="1500" dirty="0"/>
          </a:p>
        </p:txBody>
      </p:sp>
      <p:sp>
        <p:nvSpPr>
          <p:cNvPr id="8" name="Tarjeta Acción · 6 valores"/>
          <p:cNvSpPr/>
          <p:nvPr/>
        </p:nvSpPr>
        <p:spPr>
          <a:xfrm>
            <a:off x="4297680" y="1463040"/>
            <a:ext cx="3566160" cy="2743200"/>
          </a:xfrm>
          <a:prstGeom prst="roundRect">
            <a:avLst>
              <a:gd name="adj" fmla="val 2667"/>
            </a:avLst>
          </a:prstGeom>
          <a:solidFill>
            <a:srgbClr val="F3F4F6"/>
          </a:solidFill>
          <a:ln w="12700">
            <a:solidFill>
              <a:srgbClr val="F3F4F6"/>
            </a:solidFill>
            <a:prstDash val="solid"/>
          </a:ln>
        </p:spPr>
      </p:sp>
      <p:sp>
        <p:nvSpPr>
          <p:cNvPr id="9" name="Text 6"/>
          <p:cNvSpPr txBox="1"/>
          <p:nvPr/>
        </p:nvSpPr>
        <p:spPr>
          <a:xfrm>
            <a:off x="4526280" y="1645920"/>
            <a:ext cx="3108960" cy="36576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Acción · 6 valores</a:t>
            </a:r>
            <a:endParaRPr lang="en-US" sz="1800" dirty="0"/>
          </a:p>
        </p:txBody>
      </p:sp>
      <p:sp>
        <p:nvSpPr>
          <p:cNvPr id="10" name="Text 7"/>
          <p:cNvSpPr txBox="1"/>
          <p:nvPr/>
        </p:nvSpPr>
        <p:spPr>
          <a:xfrm>
            <a:off x="4526280" y="2103120"/>
            <a:ext cx="3108960" cy="2011680"/>
          </a:xfrm>
          <a:prstGeom prst="rect">
            <a:avLst/>
          </a:prstGeom>
          <a:noFill/>
          <a:ln/>
        </p:spPr>
        <p:txBody>
          <a:bodyPr wrap="square" lIns="0" tIns="0" rIns="0" bIns="0" rtlCol="0" anchor="t"/>
          <a:lstStyle/>
          <a:p>
            <a:pPr indent="0" marL="0">
              <a:buNone/>
            </a:pPr>
            <a:r>
              <a:rPr lang="en-US" sz="1500" dirty="0">
                <a:solidFill>
                  <a:srgbClr val="52514E"/>
                </a:solidFill>
                <a:latin typeface="Calibri" pitchFamily="34" charset="0"/>
                <a:ea typeface="Calibri" pitchFamily="34" charset="-122"/>
                <a:cs typeface="Calibri" pitchFamily="34" charset="-120"/>
              </a:rPr>
              <a:t>Cambio de ángulo Δq de cada articulación, con aceleración acotada (4.72 rad/s²). Un paso cada 30 ms, hasta 300 pasos.</a:t>
            </a:r>
            <a:endParaRPr lang="en-US" sz="1500" dirty="0"/>
          </a:p>
        </p:txBody>
      </p:sp>
      <p:sp>
        <p:nvSpPr>
          <p:cNvPr id="11" name="Tarjeta Recompensa"/>
          <p:cNvSpPr/>
          <p:nvPr/>
        </p:nvSpPr>
        <p:spPr>
          <a:xfrm>
            <a:off x="8138160" y="1463040"/>
            <a:ext cx="3520440" cy="2743200"/>
          </a:xfrm>
          <a:prstGeom prst="roundRect">
            <a:avLst>
              <a:gd name="adj" fmla="val 2667"/>
            </a:avLst>
          </a:prstGeom>
          <a:solidFill>
            <a:srgbClr val="F3F4F6"/>
          </a:solidFill>
          <a:ln w="12700">
            <a:solidFill>
              <a:srgbClr val="F3F4F6"/>
            </a:solidFill>
            <a:prstDash val="solid"/>
          </a:ln>
        </p:spPr>
      </p:sp>
      <p:sp>
        <p:nvSpPr>
          <p:cNvPr id="12" name="Text 9"/>
          <p:cNvSpPr txBox="1"/>
          <p:nvPr/>
        </p:nvSpPr>
        <p:spPr>
          <a:xfrm>
            <a:off x="8366760" y="1645920"/>
            <a:ext cx="3108960" cy="36576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Recompensa</a:t>
            </a:r>
            <a:endParaRPr lang="en-US" sz="1800" dirty="0"/>
          </a:p>
        </p:txBody>
      </p:sp>
      <p:sp>
        <p:nvSpPr>
          <p:cNvPr id="13" name="Text 10"/>
          <p:cNvSpPr txBox="1"/>
          <p:nvPr/>
        </p:nvSpPr>
        <p:spPr>
          <a:xfrm>
            <a:off x="8366760" y="2103120"/>
            <a:ext cx="3108960" cy="2011680"/>
          </a:xfrm>
          <a:prstGeom prst="rect">
            <a:avLst/>
          </a:prstGeom>
          <a:noFill/>
          <a:ln/>
        </p:spPr>
        <p:txBody>
          <a:bodyPr wrap="square" lIns="0" tIns="0" rIns="0" bIns="0" rtlCol="0" anchor="t"/>
          <a:lstStyle/>
          <a:p>
            <a:pPr indent="0" marL="0">
              <a:buNone/>
            </a:pPr>
            <a:r>
              <a:rPr lang="en-US" sz="1500" dirty="0">
                <a:solidFill>
                  <a:srgbClr val="52514E"/>
                </a:solidFill>
                <a:latin typeface="Calibri" pitchFamily="34" charset="0"/>
                <a:ea typeface="Calibri" pitchFamily="34" charset="-122"/>
                <a:cs typeface="Calibri" pitchFamily="34" charset="-120"/>
              </a:rPr>
              <a:t>Progreso hacia la meta, orientación y precisión final; penaliza la proximidad al obstáculo, los tirones y el choque.</a:t>
            </a:r>
            <a:endParaRPr lang="en-US" sz="1500" dirty="0"/>
          </a:p>
        </p:txBody>
      </p:sp>
      <p:pic>
        <p:nvPicPr>
          <p:cNvPr id="14" name="Ecuación de la recompensa" descr="/home/calebcamargo/UNI/10mo_CICLO/PROYECTO MECATRONICO/docs/presentacion/img/eq_recompensa.png">    </p:cNvPr>
          <p:cNvPicPr>
            <a:picLocks noChangeAspect="1"/>
          </p:cNvPicPr>
          <p:nvPr/>
        </p:nvPicPr>
        <p:blipFill>
          <a:blip r:embed="rId1"/>
          <a:stretch>
            <a:fillRect/>
          </a:stretch>
        </p:blipFill>
        <p:spPr>
          <a:xfrm>
            <a:off x="1010359" y="4572000"/>
            <a:ext cx="10140802" cy="640080"/>
          </a:xfrm>
          <a:prstGeom prst="rect">
            <a:avLst/>
          </a:prstGeom>
        </p:spPr>
      </p:pic>
      <p:sp>
        <p:nvSpPr>
          <p:cNvPr id="15" name="Text 11"/>
          <p:cNvSpPr txBox="1"/>
          <p:nvPr/>
        </p:nvSpPr>
        <p:spPr>
          <a:xfrm>
            <a:off x="548640" y="5349240"/>
            <a:ext cx="7589520" cy="32004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Δ = mejora respecto al paso anterior · Φ = potencial de precisión · w_p proximidad · w_s suavidad</a:t>
            </a:r>
            <a:endParaRPr lang="en-US" sz="1300" dirty="0"/>
          </a:p>
        </p:txBody>
      </p:sp>
      <p:pic>
        <p:nvPicPr>
          <p:cNvPr id="16" name="Ecuación del potencial" descr="/home/calebcamargo/UNI/10mo_CICLO/PROYECTO MECATRONICO/docs/presentacion/img/eq_potencial.png">    </p:cNvPr>
          <p:cNvPicPr>
            <a:picLocks noChangeAspect="1"/>
          </p:cNvPicPr>
          <p:nvPr/>
        </p:nvPicPr>
        <p:blipFill>
          <a:blip r:embed="rId2"/>
          <a:stretch>
            <a:fillRect/>
          </a:stretch>
        </p:blipFill>
        <p:spPr>
          <a:xfrm>
            <a:off x="8389483" y="5303520"/>
            <a:ext cx="3063514" cy="45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SAC: maximizar la recompensa y la entropía</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7 / 14</a:t>
            </a:r>
            <a:endParaRPr lang="en-US" sz="1100" dirty="0"/>
          </a:p>
        </p:txBody>
      </p:sp>
      <p:sp>
        <p:nvSpPr>
          <p:cNvPr id="5" name="Text 2"/>
          <p:cNvSpPr txBox="1"/>
          <p:nvPr/>
        </p:nvSpPr>
        <p:spPr>
          <a:xfrm>
            <a:off x="548640" y="1371600"/>
            <a:ext cx="10972800" cy="411480"/>
          </a:xfrm>
          <a:prstGeom prst="rect">
            <a:avLst/>
          </a:prstGeom>
          <a:noFill/>
          <a:ln/>
        </p:spPr>
        <p:txBody>
          <a:bodyPr wrap="square" lIns="0" tIns="0" rIns="0" bIns="0" rtlCol="0" anchor="ctr"/>
          <a:lstStyle/>
          <a:p>
            <a:pPr indent="0" marL="0">
              <a:buNone/>
            </a:pPr>
            <a:r>
              <a:rPr lang="en-US" sz="2000" dirty="0">
                <a:solidFill>
                  <a:srgbClr val="52514E"/>
                </a:solidFill>
                <a:latin typeface="Calibri" pitchFamily="34" charset="0"/>
                <a:ea typeface="Calibri" pitchFamily="34" charset="-122"/>
                <a:cs typeface="Calibri" pitchFamily="34" charset="-120"/>
              </a:rPr>
              <a:t>Soft Actor-Critic · algoritmo off-policy para acciones continuas</a:t>
            </a:r>
            <a:endParaRPr lang="en-US" sz="2000" dirty="0"/>
          </a:p>
        </p:txBody>
      </p:sp>
      <p:sp>
        <p:nvSpPr>
          <p:cNvPr id="6" name="Marco objetivo"/>
          <p:cNvSpPr/>
          <p:nvPr/>
        </p:nvSpPr>
        <p:spPr>
          <a:xfrm>
            <a:off x="548640" y="2011680"/>
            <a:ext cx="11064240" cy="1463040"/>
          </a:xfrm>
          <a:prstGeom prst="roundRect">
            <a:avLst>
              <a:gd name="adj" fmla="val 5000"/>
            </a:avLst>
          </a:prstGeom>
          <a:solidFill>
            <a:srgbClr val="F3F4F6"/>
          </a:solidFill>
          <a:ln w="12700">
            <a:solidFill>
              <a:srgbClr val="F3F4F6"/>
            </a:solidFill>
            <a:prstDash val="solid"/>
          </a:ln>
        </p:spPr>
      </p:sp>
      <p:pic>
        <p:nvPicPr>
          <p:cNvPr id="7" name="Ecuación del objetivo" descr="/home/calebcamargo/UNI/10mo_CICLO/PROYECTO MECATRONICO/docs/presentacion/img/eq_objetivo.png">    </p:cNvPr>
          <p:cNvPicPr>
            <a:picLocks noChangeAspect="1"/>
          </p:cNvPicPr>
          <p:nvPr/>
        </p:nvPicPr>
        <p:blipFill>
          <a:blip r:embed="rId1"/>
          <a:stretch>
            <a:fillRect/>
          </a:stretch>
        </p:blipFill>
        <p:spPr>
          <a:xfrm>
            <a:off x="1583103" y="2148840"/>
            <a:ext cx="8995314" cy="1188720"/>
          </a:xfrm>
          <a:prstGeom prst="rect">
            <a:avLst/>
          </a:prstGeom>
        </p:spPr>
      </p:pic>
      <p:sp>
        <p:nvSpPr>
          <p:cNvPr id="8" name="Text 4"/>
          <p:cNvSpPr txBox="1"/>
          <p:nvPr/>
        </p:nvSpPr>
        <p:spPr>
          <a:xfrm>
            <a:off x="548640" y="3931920"/>
            <a:ext cx="3566160" cy="457200"/>
          </a:xfrm>
          <a:prstGeom prst="rect">
            <a:avLst/>
          </a:prstGeom>
          <a:noFill/>
          <a:ln/>
        </p:spPr>
        <p:txBody>
          <a:bodyPr wrap="square" lIns="0" tIns="0" rIns="0" bIns="0" rtlCol="0" anchor="ctr"/>
          <a:lstStyle/>
          <a:p>
            <a:pPr indent="0" marL="0">
              <a:buNone/>
            </a:pPr>
            <a:r>
              <a:rPr lang="en-US" sz="2200" b="1" dirty="0">
                <a:solidFill>
                  <a:srgbClr val="1B1F24"/>
                </a:solidFill>
                <a:latin typeface="Calibri" pitchFamily="34" charset="0"/>
                <a:ea typeface="Calibri" pitchFamily="34" charset="-122"/>
                <a:cs typeface="Calibri" pitchFamily="34" charset="-120"/>
              </a:rPr>
              <a:t>Explora con intención</a:t>
            </a:r>
            <a:endParaRPr lang="en-US" sz="2200" dirty="0"/>
          </a:p>
        </p:txBody>
      </p:sp>
      <p:sp>
        <p:nvSpPr>
          <p:cNvPr id="9" name="Text 5"/>
          <p:cNvSpPr txBox="1"/>
          <p:nvPr/>
        </p:nvSpPr>
        <p:spPr>
          <a:xfrm>
            <a:off x="548640" y="4480560"/>
            <a:ext cx="3474720" cy="1645920"/>
          </a:xfrm>
          <a:prstGeom prst="rect">
            <a:avLst/>
          </a:prstGeom>
          <a:noFill/>
          <a:ln/>
        </p:spPr>
        <p:txBody>
          <a:bodyPr wrap="square" lIns="0" tIns="0" rIns="0" bIns="0" rtlCol="0" anchor="t"/>
          <a:lstStyle/>
          <a:p>
            <a:pPr indent="0" marL="0">
              <a:buNone/>
            </a:pPr>
            <a:r>
              <a:rPr lang="en-US" sz="1800" dirty="0">
                <a:solidFill>
                  <a:srgbClr val="52514E"/>
                </a:solidFill>
                <a:latin typeface="Calibri" pitchFamily="34" charset="0"/>
                <a:ea typeface="Calibri" pitchFamily="34" charset="-122"/>
                <a:cs typeface="Calibri" pitchFamily="34" charset="-120"/>
              </a:rPr>
              <a:t>El término de entropía α·H empuja a la política a mantenerse variada mientras aprende.</a:t>
            </a:r>
            <a:endParaRPr lang="en-US" sz="1800" dirty="0"/>
          </a:p>
        </p:txBody>
      </p:sp>
      <p:sp>
        <p:nvSpPr>
          <p:cNvPr id="10" name="Text 6"/>
          <p:cNvSpPr txBox="1"/>
          <p:nvPr/>
        </p:nvSpPr>
        <p:spPr>
          <a:xfrm>
            <a:off x="4297680" y="3931920"/>
            <a:ext cx="3566160" cy="457200"/>
          </a:xfrm>
          <a:prstGeom prst="rect">
            <a:avLst/>
          </a:prstGeom>
          <a:noFill/>
          <a:ln/>
        </p:spPr>
        <p:txBody>
          <a:bodyPr wrap="square" lIns="0" tIns="0" rIns="0" bIns="0" rtlCol="0" anchor="ctr"/>
          <a:lstStyle/>
          <a:p>
            <a:pPr indent="0" marL="0">
              <a:buNone/>
            </a:pPr>
            <a:r>
              <a:rPr lang="en-US" sz="2200" b="1" dirty="0">
                <a:solidFill>
                  <a:srgbClr val="1B1F24"/>
                </a:solidFill>
                <a:latin typeface="Calibri" pitchFamily="34" charset="0"/>
                <a:ea typeface="Calibri" pitchFamily="34" charset="-122"/>
                <a:cs typeface="Calibri" pitchFamily="34" charset="-120"/>
              </a:rPr>
              <a:t>Dos críticos</a:t>
            </a:r>
            <a:endParaRPr lang="en-US" sz="2200" dirty="0"/>
          </a:p>
        </p:txBody>
      </p:sp>
      <p:sp>
        <p:nvSpPr>
          <p:cNvPr id="11" name="Text 7"/>
          <p:cNvSpPr txBox="1"/>
          <p:nvPr/>
        </p:nvSpPr>
        <p:spPr>
          <a:xfrm>
            <a:off x="4297680" y="4480560"/>
            <a:ext cx="3474720" cy="1645920"/>
          </a:xfrm>
          <a:prstGeom prst="rect">
            <a:avLst/>
          </a:prstGeom>
          <a:noFill/>
          <a:ln/>
        </p:spPr>
        <p:txBody>
          <a:bodyPr wrap="square" lIns="0" tIns="0" rIns="0" bIns="0" rtlCol="0" anchor="t"/>
          <a:lstStyle/>
          <a:p>
            <a:pPr indent="0" marL="0">
              <a:buNone/>
            </a:pPr>
            <a:r>
              <a:rPr lang="en-US" sz="1800" dirty="0">
                <a:solidFill>
                  <a:srgbClr val="52514E"/>
                </a:solidFill>
                <a:latin typeface="Calibri" pitchFamily="34" charset="0"/>
                <a:ea typeface="Calibri" pitchFamily="34" charset="-122"/>
                <a:cs typeface="Calibri" pitchFamily="34" charset="-120"/>
              </a:rPr>
              <a:t>Q₁ y Q₂ estiman el valor; se usa el mínimo para no sobreestimar.</a:t>
            </a:r>
            <a:endParaRPr lang="en-US" sz="1800" dirty="0"/>
          </a:p>
        </p:txBody>
      </p:sp>
      <p:sp>
        <p:nvSpPr>
          <p:cNvPr id="12" name="Text 8"/>
          <p:cNvSpPr txBox="1"/>
          <p:nvPr/>
        </p:nvSpPr>
        <p:spPr>
          <a:xfrm>
            <a:off x="8046720" y="3931920"/>
            <a:ext cx="3566160" cy="457200"/>
          </a:xfrm>
          <a:prstGeom prst="rect">
            <a:avLst/>
          </a:prstGeom>
          <a:noFill/>
          <a:ln/>
        </p:spPr>
        <p:txBody>
          <a:bodyPr wrap="square" lIns="0" tIns="0" rIns="0" bIns="0" rtlCol="0" anchor="ctr"/>
          <a:lstStyle/>
          <a:p>
            <a:pPr indent="0" marL="0">
              <a:buNone/>
            </a:pPr>
            <a:r>
              <a:rPr lang="en-US" sz="2200" b="1" dirty="0">
                <a:solidFill>
                  <a:srgbClr val="1B1F24"/>
                </a:solidFill>
                <a:latin typeface="Calibri" pitchFamily="34" charset="0"/>
                <a:ea typeface="Calibri" pitchFamily="34" charset="-122"/>
                <a:cs typeface="Calibri" pitchFamily="34" charset="-120"/>
              </a:rPr>
              <a:t>Temperatura automática</a:t>
            </a:r>
            <a:endParaRPr lang="en-US" sz="2200" dirty="0"/>
          </a:p>
        </p:txBody>
      </p:sp>
      <p:sp>
        <p:nvSpPr>
          <p:cNvPr id="13" name="Text 9"/>
          <p:cNvSpPr txBox="1"/>
          <p:nvPr/>
        </p:nvSpPr>
        <p:spPr>
          <a:xfrm>
            <a:off x="8046720" y="4480560"/>
            <a:ext cx="3474720" cy="1645920"/>
          </a:xfrm>
          <a:prstGeom prst="rect">
            <a:avLst/>
          </a:prstGeom>
          <a:noFill/>
          <a:ln/>
        </p:spPr>
        <p:txBody>
          <a:bodyPr wrap="square" lIns="0" tIns="0" rIns="0" bIns="0" rtlCol="0" anchor="t"/>
          <a:lstStyle/>
          <a:p>
            <a:pPr indent="0" marL="0">
              <a:buNone/>
            </a:pPr>
            <a:r>
              <a:rPr lang="en-US" sz="1800" dirty="0">
                <a:solidFill>
                  <a:srgbClr val="52514E"/>
                </a:solidFill>
                <a:latin typeface="Calibri" pitchFamily="34" charset="0"/>
                <a:ea typeface="Calibri" pitchFamily="34" charset="-122"/>
                <a:cs typeface="Calibri" pitchFamily="34" charset="-120"/>
              </a:rPr>
              <a:t>α se ajusta sola hasta alcanzar la entropía objetivo.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SAC: las ecuaciones de aprendizaje</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8 / 14</a:t>
            </a:r>
            <a:endParaRPr lang="en-US" sz="1100" dirty="0"/>
          </a:p>
        </p:txBody>
      </p:sp>
      <p:sp>
        <p:nvSpPr>
          <p:cNvPr id="5" name="Text 2"/>
          <p:cNvSpPr txBox="1"/>
          <p:nvPr/>
        </p:nvSpPr>
        <p:spPr>
          <a:xfrm>
            <a:off x="548640" y="1325880"/>
            <a:ext cx="2103120" cy="640080"/>
          </a:xfrm>
          <a:prstGeom prst="rect">
            <a:avLst/>
          </a:prstGeom>
          <a:noFill/>
          <a:ln/>
        </p:spPr>
        <p:txBody>
          <a:bodyPr wrap="square" lIns="0" tIns="0" rIns="0" bIns="0" rtlCol="0" anchor="ctr"/>
          <a:lstStyle/>
          <a:p>
            <a:pPr indent="0" marL="0">
              <a:buNone/>
            </a:pPr>
            <a:r>
              <a:rPr lang="en-US" sz="1600" b="1" dirty="0">
                <a:solidFill>
                  <a:srgbClr val="52514E"/>
                </a:solidFill>
                <a:latin typeface="Calibri" pitchFamily="34" charset="0"/>
                <a:ea typeface="Calibri" pitchFamily="34" charset="-122"/>
                <a:cs typeface="Calibri" pitchFamily="34" charset="-120"/>
              </a:rPr>
              <a:t>Valor objetivo</a:t>
            </a:r>
            <a:endParaRPr lang="en-US" sz="1600" dirty="0"/>
          </a:p>
        </p:txBody>
      </p:sp>
      <p:pic>
        <p:nvPicPr>
          <p:cNvPr id="6" name="Ecuación Valor objetivo" descr="/home/calebcamargo/UNI/10mo_CICLO/PROYECTO MECATRONICO/docs/presentacion/img/eq_objetivo_suave.png">    </p:cNvPr>
          <p:cNvPicPr>
            <a:picLocks noChangeAspect="1"/>
          </p:cNvPicPr>
          <p:nvPr/>
        </p:nvPicPr>
        <p:blipFill>
          <a:blip r:embed="rId1"/>
          <a:stretch>
            <a:fillRect/>
          </a:stretch>
        </p:blipFill>
        <p:spPr>
          <a:xfrm>
            <a:off x="2834640" y="1371600"/>
            <a:ext cx="6550963" cy="548640"/>
          </a:xfrm>
          <a:prstGeom prst="rect">
            <a:avLst/>
          </a:prstGeom>
        </p:spPr>
      </p:pic>
      <p:sp>
        <p:nvSpPr>
          <p:cNvPr id="7" name="Text 3"/>
          <p:cNvSpPr txBox="1"/>
          <p:nvPr/>
        </p:nvSpPr>
        <p:spPr>
          <a:xfrm>
            <a:off x="548640" y="2167128"/>
            <a:ext cx="2103120" cy="640080"/>
          </a:xfrm>
          <a:prstGeom prst="rect">
            <a:avLst/>
          </a:prstGeom>
          <a:noFill/>
          <a:ln/>
        </p:spPr>
        <p:txBody>
          <a:bodyPr wrap="square" lIns="0" tIns="0" rIns="0" bIns="0" rtlCol="0" anchor="ctr"/>
          <a:lstStyle/>
          <a:p>
            <a:pPr indent="0" marL="0">
              <a:buNone/>
            </a:pPr>
            <a:r>
              <a:rPr lang="en-US" sz="1600" b="1" dirty="0">
                <a:solidFill>
                  <a:srgbClr val="52514E"/>
                </a:solidFill>
                <a:latin typeface="Calibri" pitchFamily="34" charset="0"/>
                <a:ea typeface="Calibri" pitchFamily="34" charset="-122"/>
                <a:cs typeface="Calibri" pitchFamily="34" charset="-120"/>
              </a:rPr>
              <a:t>Crítico (i = 1, 2)</a:t>
            </a:r>
            <a:endParaRPr lang="en-US" sz="1600" dirty="0"/>
          </a:p>
        </p:txBody>
      </p:sp>
      <p:pic>
        <p:nvPicPr>
          <p:cNvPr id="8" name="Ecuación Crítico (i = 1, 2)" descr="/home/calebcamargo/UNI/10mo_CICLO/PROYECTO MECATRONICO/docs/presentacion/img/eq_critico.png">    </p:cNvPr>
          <p:cNvPicPr>
            <a:picLocks noChangeAspect="1"/>
          </p:cNvPicPr>
          <p:nvPr/>
        </p:nvPicPr>
        <p:blipFill>
          <a:blip r:embed="rId2"/>
          <a:stretch>
            <a:fillRect/>
          </a:stretch>
        </p:blipFill>
        <p:spPr>
          <a:xfrm>
            <a:off x="2834640" y="2212848"/>
            <a:ext cx="5327327" cy="548640"/>
          </a:xfrm>
          <a:prstGeom prst="rect">
            <a:avLst/>
          </a:prstGeom>
        </p:spPr>
      </p:pic>
      <p:sp>
        <p:nvSpPr>
          <p:cNvPr id="9" name="Text 4"/>
          <p:cNvSpPr txBox="1"/>
          <p:nvPr/>
        </p:nvSpPr>
        <p:spPr>
          <a:xfrm>
            <a:off x="548640" y="3008376"/>
            <a:ext cx="2103120" cy="640080"/>
          </a:xfrm>
          <a:prstGeom prst="rect">
            <a:avLst/>
          </a:prstGeom>
          <a:noFill/>
          <a:ln/>
        </p:spPr>
        <p:txBody>
          <a:bodyPr wrap="square" lIns="0" tIns="0" rIns="0" bIns="0" rtlCol="0" anchor="ctr"/>
          <a:lstStyle/>
          <a:p>
            <a:pPr indent="0" marL="0">
              <a:buNone/>
            </a:pPr>
            <a:r>
              <a:rPr lang="en-US" sz="1600" b="1" dirty="0">
                <a:solidFill>
                  <a:srgbClr val="52514E"/>
                </a:solidFill>
                <a:latin typeface="Calibri" pitchFamily="34" charset="0"/>
                <a:ea typeface="Calibri" pitchFamily="34" charset="-122"/>
                <a:cs typeface="Calibri" pitchFamily="34" charset="-120"/>
              </a:rPr>
              <a:t>Actor</a:t>
            </a:r>
            <a:endParaRPr lang="en-US" sz="1600" dirty="0"/>
          </a:p>
        </p:txBody>
      </p:sp>
      <p:pic>
        <p:nvPicPr>
          <p:cNvPr id="10" name="Ecuación Actor" descr="/home/calebcamargo/UNI/10mo_CICLO/PROYECTO MECATRONICO/docs/presentacion/img/eq_actor.png">    </p:cNvPr>
          <p:cNvPicPr>
            <a:picLocks noChangeAspect="1"/>
          </p:cNvPicPr>
          <p:nvPr/>
        </p:nvPicPr>
        <p:blipFill>
          <a:blip r:embed="rId3"/>
          <a:stretch>
            <a:fillRect/>
          </a:stretch>
        </p:blipFill>
        <p:spPr>
          <a:xfrm>
            <a:off x="2834640" y="3054096"/>
            <a:ext cx="8699055" cy="548640"/>
          </a:xfrm>
          <a:prstGeom prst="rect">
            <a:avLst/>
          </a:prstGeom>
        </p:spPr>
      </p:pic>
      <p:sp>
        <p:nvSpPr>
          <p:cNvPr id="11" name="Text 5"/>
          <p:cNvSpPr txBox="1"/>
          <p:nvPr/>
        </p:nvSpPr>
        <p:spPr>
          <a:xfrm>
            <a:off x="548640" y="3849624"/>
            <a:ext cx="2103120" cy="640080"/>
          </a:xfrm>
          <a:prstGeom prst="rect">
            <a:avLst/>
          </a:prstGeom>
          <a:noFill/>
          <a:ln/>
        </p:spPr>
        <p:txBody>
          <a:bodyPr wrap="square" lIns="0" tIns="0" rIns="0" bIns="0" rtlCol="0" anchor="ctr"/>
          <a:lstStyle/>
          <a:p>
            <a:pPr indent="0" marL="0">
              <a:buNone/>
            </a:pPr>
            <a:r>
              <a:rPr lang="en-US" sz="1600" b="1" dirty="0">
                <a:solidFill>
                  <a:srgbClr val="52514E"/>
                </a:solidFill>
                <a:latin typeface="Calibri" pitchFamily="34" charset="0"/>
                <a:ea typeface="Calibri" pitchFamily="34" charset="-122"/>
                <a:cs typeface="Calibri" pitchFamily="34" charset="-120"/>
              </a:rPr>
              <a:t>Temperatura α</a:t>
            </a:r>
            <a:endParaRPr lang="en-US" sz="1600" dirty="0"/>
          </a:p>
        </p:txBody>
      </p:sp>
      <p:pic>
        <p:nvPicPr>
          <p:cNvPr id="12" name="Ecuación Temperatura α" descr="/home/calebcamargo/UNI/10mo_CICLO/PROYECTO MECATRONICO/docs/presentacion/img/eq_alfa.png">    </p:cNvPr>
          <p:cNvPicPr>
            <a:picLocks noChangeAspect="1"/>
          </p:cNvPicPr>
          <p:nvPr/>
        </p:nvPicPr>
        <p:blipFill>
          <a:blip r:embed="rId4"/>
          <a:stretch>
            <a:fillRect/>
          </a:stretch>
        </p:blipFill>
        <p:spPr>
          <a:xfrm>
            <a:off x="2834640" y="3895344"/>
            <a:ext cx="8123301" cy="548640"/>
          </a:xfrm>
          <a:prstGeom prst="rect">
            <a:avLst/>
          </a:prstGeom>
        </p:spPr>
      </p:pic>
      <p:sp>
        <p:nvSpPr>
          <p:cNvPr id="13" name="Text 6"/>
          <p:cNvSpPr txBox="1"/>
          <p:nvPr/>
        </p:nvSpPr>
        <p:spPr>
          <a:xfrm>
            <a:off x="548640" y="4690872"/>
            <a:ext cx="2103120" cy="640080"/>
          </a:xfrm>
          <a:prstGeom prst="rect">
            <a:avLst/>
          </a:prstGeom>
          <a:noFill/>
          <a:ln/>
        </p:spPr>
        <p:txBody>
          <a:bodyPr wrap="square" lIns="0" tIns="0" rIns="0" bIns="0" rtlCol="0" anchor="ctr"/>
          <a:lstStyle/>
          <a:p>
            <a:pPr indent="0" marL="0">
              <a:buNone/>
            </a:pPr>
            <a:r>
              <a:rPr lang="en-US" sz="1600" b="1" dirty="0">
                <a:solidFill>
                  <a:srgbClr val="52514E"/>
                </a:solidFill>
                <a:latin typeface="Calibri" pitchFamily="34" charset="0"/>
                <a:ea typeface="Calibri" pitchFamily="34" charset="-122"/>
                <a:cs typeface="Calibri" pitchFamily="34" charset="-120"/>
              </a:rPr>
              <a:t>Redes objetivo</a:t>
            </a:r>
            <a:endParaRPr lang="en-US" sz="1600" dirty="0"/>
          </a:p>
        </p:txBody>
      </p:sp>
      <p:pic>
        <p:nvPicPr>
          <p:cNvPr id="14" name="Ecuación Redes objetivo" descr="/home/calebcamargo/UNI/10mo_CICLO/PROYECTO MECATRONICO/docs/presentacion/img/eq_objetivo_blando.png">    </p:cNvPr>
          <p:cNvPicPr>
            <a:picLocks noChangeAspect="1"/>
          </p:cNvPicPr>
          <p:nvPr/>
        </p:nvPicPr>
        <p:blipFill>
          <a:blip r:embed="rId5"/>
          <a:stretch>
            <a:fillRect/>
          </a:stretch>
        </p:blipFill>
        <p:spPr>
          <a:xfrm>
            <a:off x="2834640" y="4736592"/>
            <a:ext cx="4687788" cy="548640"/>
          </a:xfrm>
          <a:prstGeom prst="rect">
            <a:avLst/>
          </a:prstGeom>
        </p:spPr>
      </p:pic>
      <p:sp>
        <p:nvSpPr>
          <p:cNvPr id="15" name="Hiperparámetros"/>
          <p:cNvSpPr/>
          <p:nvPr/>
        </p:nvSpPr>
        <p:spPr>
          <a:xfrm>
            <a:off x="548640" y="5669280"/>
            <a:ext cx="11064240" cy="640080"/>
          </a:xfrm>
          <a:prstGeom prst="roundRect">
            <a:avLst>
              <a:gd name="adj" fmla="val 11429"/>
            </a:avLst>
          </a:prstGeom>
          <a:solidFill>
            <a:srgbClr val="1B1F24"/>
          </a:solidFill>
          <a:ln w="12700">
            <a:solidFill>
              <a:srgbClr val="1B1F24"/>
            </a:solidFill>
            <a:prstDash val="solid"/>
          </a:ln>
        </p:spPr>
      </p:sp>
      <p:sp>
        <p:nvSpPr>
          <p:cNvPr id="16" name="Text 8"/>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lr 3·10⁻⁴   ·   γ 0.99   ·   búfer 1 M   ·   lote 256   ·   red 256×256   ·   τ 0.005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Cómo se entrena: semillas y corridas en paralelo</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9 / 14</a:t>
            </a:r>
            <a:endParaRPr lang="en-US" sz="1100" dirty="0"/>
          </a:p>
        </p:txBody>
      </p:sp>
      <p:sp>
        <p:nvSpPr>
          <p:cNvPr id="5" name="Paso 4 entornos"/>
          <p:cNvSpPr/>
          <p:nvPr/>
        </p:nvSpPr>
        <p:spPr>
          <a:xfrm>
            <a:off x="548640" y="1417320"/>
            <a:ext cx="2377440" cy="777240"/>
          </a:xfrm>
          <a:prstGeom prst="roundRect">
            <a:avLst>
              <a:gd name="adj" fmla="val 9412"/>
            </a:avLst>
          </a:prstGeom>
          <a:solidFill>
            <a:srgbClr val="2A78D6"/>
          </a:solidFill>
          <a:ln w="12700">
            <a:solidFill>
              <a:srgbClr val="2A78D6"/>
            </a:solidFill>
            <a:prstDash val="solid"/>
          </a:ln>
        </p:spPr>
      </p:sp>
      <p:sp>
        <p:nvSpPr>
          <p:cNvPr id="6" name="Text 3"/>
          <p:cNvSpPr txBox="1"/>
          <p:nvPr/>
        </p:nvSpPr>
        <p:spPr>
          <a:xfrm>
            <a:off x="548640" y="1417320"/>
            <a:ext cx="23774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 entornos</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PyBullet en paralelo</a:t>
            </a:r>
            <a:endParaRPr lang="en-US" sz="1700" dirty="0"/>
          </a:p>
        </p:txBody>
      </p:sp>
      <p:sp>
        <p:nvSpPr>
          <p:cNvPr id="7" name="Text 4"/>
          <p:cNvSpPr txBox="1"/>
          <p:nvPr/>
        </p:nvSpPr>
        <p:spPr>
          <a:xfrm>
            <a:off x="1554480" y="2194560"/>
            <a:ext cx="365760" cy="246888"/>
          </a:xfrm>
          <a:prstGeom prst="rect">
            <a:avLst/>
          </a:prstGeom>
          <a:noFill/>
          <a:ln/>
        </p:spPr>
        <p:txBody>
          <a:bodyPr wrap="square" lIns="0" tIns="0" rIns="0" bIns="0" rtlCol="0" anchor="ctr"/>
          <a:lstStyle/>
          <a:p>
            <a:pPr algn="ctr" indent="0" marL="0">
              <a:buNone/>
            </a:pPr>
            <a:r>
              <a:rPr lang="en-US" sz="1200" dirty="0">
                <a:solidFill>
                  <a:srgbClr val="898781"/>
                </a:solidFill>
                <a:latin typeface="Calibri" pitchFamily="34" charset="0"/>
                <a:ea typeface="Calibri" pitchFamily="34" charset="-122"/>
                <a:cs typeface="Calibri" pitchFamily="34" charset="-120"/>
              </a:rPr>
              <a:t>▼</a:t>
            </a:r>
            <a:endParaRPr lang="en-US" sz="1200" dirty="0"/>
          </a:p>
        </p:txBody>
      </p:sp>
      <p:sp>
        <p:nvSpPr>
          <p:cNvPr id="8" name="Paso Búfer"/>
          <p:cNvSpPr/>
          <p:nvPr/>
        </p:nvSpPr>
        <p:spPr>
          <a:xfrm>
            <a:off x="548640" y="2441448"/>
            <a:ext cx="2377440" cy="777240"/>
          </a:xfrm>
          <a:prstGeom prst="roundRect">
            <a:avLst>
              <a:gd name="adj" fmla="val 9412"/>
            </a:avLst>
          </a:prstGeom>
          <a:solidFill>
            <a:srgbClr val="52514E"/>
          </a:solidFill>
          <a:ln w="12700">
            <a:solidFill>
              <a:srgbClr val="52514E"/>
            </a:solidFill>
            <a:prstDash val="solid"/>
          </a:ln>
        </p:spPr>
      </p:sp>
      <p:sp>
        <p:nvSpPr>
          <p:cNvPr id="9" name="Text 6"/>
          <p:cNvSpPr txBox="1"/>
          <p:nvPr/>
        </p:nvSpPr>
        <p:spPr>
          <a:xfrm>
            <a:off x="548640" y="2441448"/>
            <a:ext cx="23774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Búfer</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1 M de transiciones</a:t>
            </a:r>
            <a:endParaRPr lang="en-US" sz="1700" dirty="0"/>
          </a:p>
        </p:txBody>
      </p:sp>
      <p:sp>
        <p:nvSpPr>
          <p:cNvPr id="10" name="Text 7"/>
          <p:cNvSpPr txBox="1"/>
          <p:nvPr/>
        </p:nvSpPr>
        <p:spPr>
          <a:xfrm>
            <a:off x="1554480" y="3218688"/>
            <a:ext cx="365760" cy="246888"/>
          </a:xfrm>
          <a:prstGeom prst="rect">
            <a:avLst/>
          </a:prstGeom>
          <a:noFill/>
          <a:ln/>
        </p:spPr>
        <p:txBody>
          <a:bodyPr wrap="square" lIns="0" tIns="0" rIns="0" bIns="0" rtlCol="0" anchor="ctr"/>
          <a:lstStyle/>
          <a:p>
            <a:pPr algn="ctr" indent="0" marL="0">
              <a:buNone/>
            </a:pPr>
            <a:r>
              <a:rPr lang="en-US" sz="1200" dirty="0">
                <a:solidFill>
                  <a:srgbClr val="898781"/>
                </a:solidFill>
                <a:latin typeface="Calibri" pitchFamily="34" charset="0"/>
                <a:ea typeface="Calibri" pitchFamily="34" charset="-122"/>
                <a:cs typeface="Calibri" pitchFamily="34" charset="-120"/>
              </a:rPr>
              <a:t>▼</a:t>
            </a:r>
            <a:endParaRPr lang="en-US" sz="1200" dirty="0"/>
          </a:p>
        </p:txBody>
      </p:sp>
      <p:sp>
        <p:nvSpPr>
          <p:cNvPr id="11" name="Paso SAC"/>
          <p:cNvSpPr/>
          <p:nvPr/>
        </p:nvSpPr>
        <p:spPr>
          <a:xfrm>
            <a:off x="548640" y="3465576"/>
            <a:ext cx="2377440" cy="777240"/>
          </a:xfrm>
          <a:prstGeom prst="roundRect">
            <a:avLst>
              <a:gd name="adj" fmla="val 9412"/>
            </a:avLst>
          </a:prstGeom>
          <a:solidFill>
            <a:srgbClr val="EB6834"/>
          </a:solidFill>
          <a:ln w="12700">
            <a:solidFill>
              <a:srgbClr val="EB6834"/>
            </a:solidFill>
            <a:prstDash val="solid"/>
          </a:ln>
        </p:spPr>
      </p:sp>
      <p:sp>
        <p:nvSpPr>
          <p:cNvPr id="12" name="Text 9"/>
          <p:cNvSpPr txBox="1"/>
          <p:nvPr/>
        </p:nvSpPr>
        <p:spPr>
          <a:xfrm>
            <a:off x="548640" y="3465576"/>
            <a:ext cx="23774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SAC</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actualiza la red (GPU)</a:t>
            </a:r>
            <a:endParaRPr lang="en-US" sz="1700" dirty="0"/>
          </a:p>
        </p:txBody>
      </p:sp>
      <p:sp>
        <p:nvSpPr>
          <p:cNvPr id="13" name="Text 10"/>
          <p:cNvSpPr txBox="1"/>
          <p:nvPr/>
        </p:nvSpPr>
        <p:spPr>
          <a:xfrm>
            <a:off x="1554480" y="4242816"/>
            <a:ext cx="365760" cy="246888"/>
          </a:xfrm>
          <a:prstGeom prst="rect">
            <a:avLst/>
          </a:prstGeom>
          <a:noFill/>
          <a:ln/>
        </p:spPr>
        <p:txBody>
          <a:bodyPr wrap="square" lIns="0" tIns="0" rIns="0" bIns="0" rtlCol="0" anchor="ctr"/>
          <a:lstStyle/>
          <a:p>
            <a:pPr algn="ctr" indent="0" marL="0">
              <a:buNone/>
            </a:pPr>
            <a:r>
              <a:rPr lang="en-US" sz="1200" dirty="0">
                <a:solidFill>
                  <a:srgbClr val="898781"/>
                </a:solidFill>
                <a:latin typeface="Calibri" pitchFamily="34" charset="0"/>
                <a:ea typeface="Calibri" pitchFamily="34" charset="-122"/>
                <a:cs typeface="Calibri" pitchFamily="34" charset="-120"/>
              </a:rPr>
              <a:t>▼</a:t>
            </a:r>
            <a:endParaRPr lang="en-US" sz="1200" dirty="0"/>
          </a:p>
        </p:txBody>
      </p:sp>
      <p:sp>
        <p:nvSpPr>
          <p:cNvPr id="14" name="Paso Política"/>
          <p:cNvSpPr/>
          <p:nvPr/>
        </p:nvSpPr>
        <p:spPr>
          <a:xfrm>
            <a:off x="548640" y="4489704"/>
            <a:ext cx="2377440" cy="777240"/>
          </a:xfrm>
          <a:prstGeom prst="roundRect">
            <a:avLst>
              <a:gd name="adj" fmla="val 9412"/>
            </a:avLst>
          </a:prstGeom>
          <a:solidFill>
            <a:srgbClr val="1A8C3C"/>
          </a:solidFill>
          <a:ln w="12700">
            <a:solidFill>
              <a:srgbClr val="1A8C3C"/>
            </a:solidFill>
            <a:prstDash val="solid"/>
          </a:ln>
        </p:spPr>
      </p:sp>
      <p:sp>
        <p:nvSpPr>
          <p:cNvPr id="15" name="Text 12"/>
          <p:cNvSpPr txBox="1"/>
          <p:nvPr/>
        </p:nvSpPr>
        <p:spPr>
          <a:xfrm>
            <a:off x="548640" y="4489704"/>
            <a:ext cx="23774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Política</a:t>
            </a:r>
            <a:endParaRPr lang="en-US" sz="1700" dirty="0"/>
          </a:p>
          <a:p>
            <a:pPr algn="ctr" indent="0" marL="0">
              <a:buNone/>
            </a:pPr>
            <a:r>
              <a:rPr lang="en-US" sz="1200" dirty="0">
                <a:solidFill>
                  <a:srgbClr val="FFFFFF"/>
                </a:solidFill>
                <a:latin typeface="Calibri" pitchFamily="34" charset="0"/>
                <a:ea typeface="Calibri" pitchFamily="34" charset="-122"/>
                <a:cs typeface="Calibri" pitchFamily="34" charset="-120"/>
              </a:rPr>
              <a:t>elige Δq</a:t>
            </a:r>
            <a:endParaRPr lang="en-US" sz="1700" dirty="0"/>
          </a:p>
        </p:txBody>
      </p:sp>
      <p:sp>
        <p:nvSpPr>
          <p:cNvPr id="16" name="Text 13"/>
          <p:cNvSpPr txBox="1"/>
          <p:nvPr/>
        </p:nvSpPr>
        <p:spPr>
          <a:xfrm>
            <a:off x="548640" y="5532120"/>
            <a:ext cx="2377440" cy="320040"/>
          </a:xfrm>
          <a:prstGeom prst="rect">
            <a:avLst/>
          </a:prstGeom>
          <a:noFill/>
          <a:ln/>
        </p:spPr>
        <p:txBody>
          <a:bodyPr wrap="square" lIns="0" tIns="0" rIns="0" bIns="0" rtlCol="0" anchor="ctr"/>
          <a:lstStyle/>
          <a:p>
            <a:pPr algn="ctr" indent="0" marL="0">
              <a:buNone/>
            </a:pPr>
            <a:r>
              <a:rPr lang="en-US" sz="1300" dirty="0">
                <a:solidFill>
                  <a:srgbClr val="52514E"/>
                </a:solidFill>
                <a:latin typeface="Calibri" pitchFamily="34" charset="0"/>
                <a:ea typeface="Calibri" pitchFamily="34" charset="-122"/>
                <a:cs typeface="Calibri" pitchFamily="34" charset="-120"/>
              </a:rPr>
              <a:t>Una corrida = una semilla</a:t>
            </a:r>
            <a:endParaRPr lang="en-US" sz="1300" dirty="0"/>
          </a:p>
        </p:txBody>
      </p:sp>
      <p:sp>
        <p:nvSpPr>
          <p:cNvPr id="17" name="Text 14"/>
          <p:cNvSpPr txBox="1"/>
          <p:nvPr/>
        </p:nvSpPr>
        <p:spPr>
          <a:xfrm>
            <a:off x="3291840" y="1325880"/>
            <a:ext cx="8321040" cy="41148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6 corridas en la PC, 4 a la vez: sac_v1 × semillas 0, 1, 2 y sac_v1c × semillas 0, 1, 2</a:t>
            </a:r>
            <a:endParaRPr lang="en-US" sz="1600" dirty="0"/>
          </a:p>
        </p:txBody>
      </p:sp>
      <p:pic>
        <p:nvPicPr>
          <p:cNvPr id="18" name="Curvas de validación" descr="/home/calebcamargo/UNI/10mo_CICLO/PROYECTO MECATRONICO/docs/presentacion/img/fig_curvas.png">    </p:cNvPr>
          <p:cNvPicPr>
            <a:picLocks noChangeAspect="1"/>
          </p:cNvPicPr>
          <p:nvPr/>
        </p:nvPicPr>
        <p:blipFill>
          <a:blip r:embed="rId1"/>
          <a:stretch>
            <a:fillRect/>
          </a:stretch>
        </p:blipFill>
        <p:spPr>
          <a:xfrm>
            <a:off x="3291840" y="2057400"/>
            <a:ext cx="5120640" cy="2560320"/>
          </a:xfrm>
          <a:prstGeom prst="rect">
            <a:avLst/>
          </a:prstGeom>
        </p:spPr>
      </p:pic>
      <p:sp>
        <p:nvSpPr>
          <p:cNvPr id="19" name="Text 15"/>
          <p:cNvSpPr txBox="1"/>
          <p:nvPr/>
        </p:nvSpPr>
        <p:spPr>
          <a:xfrm>
            <a:off x="3291840" y="4892040"/>
            <a:ext cx="5120640" cy="3200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Éxito en validación (50 escenas) de las tres semillas de sac_v1</a:t>
            </a:r>
            <a:endParaRPr lang="en-US" sz="1200" dirty="0"/>
          </a:p>
        </p:txBody>
      </p:sp>
      <p:sp>
        <p:nvSpPr>
          <p:cNvPr id="20" name="Tarjeta Por corrida"/>
          <p:cNvSpPr/>
          <p:nvPr/>
        </p:nvSpPr>
        <p:spPr>
          <a:xfrm>
            <a:off x="8686800" y="1828800"/>
            <a:ext cx="2971800" cy="1600200"/>
          </a:xfrm>
          <a:prstGeom prst="roundRect">
            <a:avLst>
              <a:gd name="adj" fmla="val 4571"/>
            </a:avLst>
          </a:prstGeom>
          <a:solidFill>
            <a:srgbClr val="F3F4F6"/>
          </a:solidFill>
          <a:ln w="12700">
            <a:solidFill>
              <a:srgbClr val="F3F4F6"/>
            </a:solidFill>
            <a:prstDash val="solid"/>
          </a:ln>
        </p:spPr>
      </p:sp>
      <p:sp>
        <p:nvSpPr>
          <p:cNvPr id="21" name="Text 17"/>
          <p:cNvSpPr txBox="1"/>
          <p:nvPr/>
        </p:nvSpPr>
        <p:spPr>
          <a:xfrm>
            <a:off x="8915400" y="1965960"/>
            <a:ext cx="251460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Por corrida</a:t>
            </a:r>
            <a:endParaRPr lang="en-US" sz="1400" dirty="0"/>
          </a:p>
        </p:txBody>
      </p:sp>
      <p:sp>
        <p:nvSpPr>
          <p:cNvPr id="22" name="Text 18"/>
          <p:cNvSpPr txBox="1"/>
          <p:nvPr/>
        </p:nvSpPr>
        <p:spPr>
          <a:xfrm>
            <a:off x="8915400" y="2286000"/>
            <a:ext cx="2514600" cy="731520"/>
          </a:xfrm>
          <a:prstGeom prst="rect">
            <a:avLst/>
          </a:prstGeom>
          <a:noFill/>
          <a:ln/>
        </p:spPr>
        <p:txBody>
          <a:bodyPr wrap="square" lIns="0" tIns="0" rIns="0" bIns="0" rtlCol="0" anchor="ctr"/>
          <a:lstStyle/>
          <a:p>
            <a:pPr indent="0" marL="0">
              <a:buNone/>
            </a:pPr>
            <a:r>
              <a:rPr lang="en-US" sz="4000" b="1" dirty="0">
                <a:solidFill>
                  <a:srgbClr val="1B1F24"/>
                </a:solidFill>
                <a:latin typeface="Calibri" pitchFamily="34" charset="0"/>
                <a:ea typeface="Calibri" pitchFamily="34" charset="-122"/>
                <a:cs typeface="Calibri" pitchFamily="34" charset="-120"/>
              </a:rPr>
              <a:t>3 h 45</a:t>
            </a:r>
            <a:endParaRPr lang="en-US" sz="4000" dirty="0"/>
          </a:p>
        </p:txBody>
      </p:sp>
      <p:sp>
        <p:nvSpPr>
          <p:cNvPr id="23" name="Text 19"/>
          <p:cNvSpPr txBox="1"/>
          <p:nvPr/>
        </p:nvSpPr>
        <p:spPr>
          <a:xfrm>
            <a:off x="8915400" y="3017520"/>
            <a:ext cx="2514600" cy="32004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1 M de pasos, 4 corridas a la vez</a:t>
            </a:r>
            <a:endParaRPr lang="en-US" sz="1400" dirty="0"/>
          </a:p>
        </p:txBody>
      </p:sp>
      <p:sp>
        <p:nvSpPr>
          <p:cNvPr id="24" name="Tarjeta Las 6 corridas"/>
          <p:cNvSpPr/>
          <p:nvPr/>
        </p:nvSpPr>
        <p:spPr>
          <a:xfrm>
            <a:off x="8686800" y="3657600"/>
            <a:ext cx="2971800" cy="1600200"/>
          </a:xfrm>
          <a:prstGeom prst="roundRect">
            <a:avLst>
              <a:gd name="adj" fmla="val 4571"/>
            </a:avLst>
          </a:prstGeom>
          <a:solidFill>
            <a:srgbClr val="F3F4F6"/>
          </a:solidFill>
          <a:ln w="12700">
            <a:solidFill>
              <a:srgbClr val="F3F4F6"/>
            </a:solidFill>
            <a:prstDash val="solid"/>
          </a:ln>
        </p:spPr>
      </p:sp>
      <p:sp>
        <p:nvSpPr>
          <p:cNvPr id="25" name="Text 21"/>
          <p:cNvSpPr txBox="1"/>
          <p:nvPr/>
        </p:nvSpPr>
        <p:spPr>
          <a:xfrm>
            <a:off x="8915400" y="3794760"/>
            <a:ext cx="2514600" cy="320040"/>
          </a:xfrm>
          <a:prstGeom prst="rect">
            <a:avLst/>
          </a:prstGeom>
          <a:noFill/>
          <a:ln/>
        </p:spPr>
        <p:txBody>
          <a:bodyPr wrap="square" lIns="0" tIns="0" rIns="0" bIns="0" rtlCol="0" anchor="ctr"/>
          <a:lstStyle/>
          <a:p>
            <a:pPr indent="0" marL="0">
              <a:buNone/>
            </a:pPr>
            <a:r>
              <a:rPr lang="en-US" sz="1400" b="1" dirty="0">
                <a:solidFill>
                  <a:srgbClr val="52514E"/>
                </a:solidFill>
                <a:latin typeface="Calibri" pitchFamily="34" charset="0"/>
                <a:ea typeface="Calibri" pitchFamily="34" charset="-122"/>
                <a:cs typeface="Calibri" pitchFamily="34" charset="-120"/>
              </a:rPr>
              <a:t>Las 6 corridas</a:t>
            </a:r>
            <a:endParaRPr lang="en-US" sz="1400" dirty="0"/>
          </a:p>
        </p:txBody>
      </p:sp>
      <p:sp>
        <p:nvSpPr>
          <p:cNvPr id="26" name="Text 22"/>
          <p:cNvSpPr txBox="1"/>
          <p:nvPr/>
        </p:nvSpPr>
        <p:spPr>
          <a:xfrm>
            <a:off x="8915400" y="4114800"/>
            <a:ext cx="2514600" cy="731520"/>
          </a:xfrm>
          <a:prstGeom prst="rect">
            <a:avLst/>
          </a:prstGeom>
          <a:noFill/>
          <a:ln/>
        </p:spPr>
        <p:txBody>
          <a:bodyPr wrap="square" lIns="0" tIns="0" rIns="0" bIns="0" rtlCol="0" anchor="ctr"/>
          <a:lstStyle/>
          <a:p>
            <a:pPr indent="0" marL="0">
              <a:buNone/>
            </a:pPr>
            <a:r>
              <a:rPr lang="en-US" sz="4000" b="1" dirty="0">
                <a:solidFill>
                  <a:srgbClr val="1B1F24"/>
                </a:solidFill>
                <a:latin typeface="Calibri" pitchFamily="34" charset="0"/>
                <a:ea typeface="Calibri" pitchFamily="34" charset="-122"/>
                <a:cs typeface="Calibri" pitchFamily="34" charset="-120"/>
              </a:rPr>
              <a:t>6 h 15</a:t>
            </a:r>
            <a:endParaRPr lang="en-US" sz="4000" dirty="0"/>
          </a:p>
        </p:txBody>
      </p:sp>
      <p:sp>
        <p:nvSpPr>
          <p:cNvPr id="27" name="Text 23"/>
          <p:cNvSpPr txBox="1"/>
          <p:nvPr/>
        </p:nvSpPr>
        <p:spPr>
          <a:xfrm>
            <a:off x="8915400" y="4846320"/>
            <a:ext cx="2514600" cy="320040"/>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GPU GTX 1080</a:t>
            </a:r>
            <a:endParaRPr lang="en-US" sz="1400" dirty="0"/>
          </a:p>
        </p:txBody>
      </p:sp>
      <p:sp>
        <p:nvSpPr>
          <p:cNvPr id="28" name="Text 24"/>
          <p:cNvSpPr txBox="1"/>
          <p:nvPr/>
        </p:nvSpPr>
        <p:spPr>
          <a:xfrm>
            <a:off x="3291840" y="5577840"/>
            <a:ext cx="8321040" cy="365760"/>
          </a:xfrm>
          <a:prstGeom prst="rect">
            <a:avLst/>
          </a:prstGeom>
          <a:noFill/>
          <a:ln/>
        </p:spPr>
        <p:txBody>
          <a:bodyPr wrap="square" lIns="0" tIns="0" rIns="0" bIns="0" rtlCol="0" anchor="ctr"/>
          <a:lstStyle/>
          <a:p>
            <a:pPr indent="0" marL="0">
              <a:buNone/>
            </a:pPr>
            <a:r>
              <a:rPr lang="en-US" sz="1500" dirty="0">
                <a:solidFill>
                  <a:srgbClr val="52514E"/>
                </a:solidFill>
                <a:latin typeface="Calibri" pitchFamily="34" charset="0"/>
                <a:ea typeface="Calibri" pitchFamily="34" charset="-122"/>
                <a:cs typeface="Calibri" pitchFamily="34" charset="-120"/>
              </a:rPr>
              <a:t>Cada 50 000 pasos: validar y guardar mejor.zip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Las tres semillas aprendiendo a rodear el mismo obstáculo</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10 / 14</a:t>
            </a:r>
            <a:endParaRPr lang="en-US" sz="1100" dirty="0"/>
          </a:p>
        </p:txBody>
      </p:sp>
      <p:pic>
        <p:nvPicPr>
          <p:cNvPr id="5" name="Fotograma del video" descr="/home/calebcamargo/UNI/10mo_CICLO/PROYECTO MECATRONICO/docs/presentacion/img/poster_video.png">    </p:cNvPr>
          <p:cNvPicPr>
            <a:picLocks noChangeAspect="1"/>
          </p:cNvPicPr>
          <p:nvPr/>
        </p:nvPicPr>
        <p:blipFill>
          <a:blip r:embed="rId1"/>
          <a:stretch>
            <a:fillRect/>
          </a:stretch>
        </p:blipFill>
        <p:spPr>
          <a:xfrm>
            <a:off x="548640" y="1371600"/>
            <a:ext cx="7680960" cy="4320540"/>
          </a:xfrm>
          <a:prstGeom prst="rect">
            <a:avLst/>
          </a:prstGeom>
        </p:spPr>
      </p:pic>
      <p:sp>
        <p:nvSpPr>
          <p:cNvPr id="6" name="Text 2"/>
          <p:cNvSpPr txBox="1"/>
          <p:nvPr/>
        </p:nvSpPr>
        <p:spPr>
          <a:xfrm>
            <a:off x="548640" y="5806440"/>
            <a:ext cx="7680960" cy="32004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VIDEO · video_semillas.mp4</a:t>
            </a:r>
            <a:endParaRPr lang="en-US" sz="1200" dirty="0"/>
          </a:p>
        </p:txBody>
      </p:sp>
      <p:sp>
        <p:nvSpPr>
          <p:cNvPr id="7" name="Text 3"/>
          <p:cNvSpPr txBox="1"/>
          <p:nvPr/>
        </p:nvSpPr>
        <p:spPr>
          <a:xfrm>
            <a:off x="8595360" y="1371600"/>
            <a:ext cx="3108960" cy="36576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100 k y 300 k pasos</a:t>
            </a:r>
            <a:endParaRPr lang="en-US" sz="1800" dirty="0"/>
          </a:p>
        </p:txBody>
      </p:sp>
      <p:sp>
        <p:nvSpPr>
          <p:cNvPr id="8" name="Text 4"/>
          <p:cNvSpPr txBox="1"/>
          <p:nvPr/>
        </p:nvSpPr>
        <p:spPr>
          <a:xfrm>
            <a:off x="8595360" y="1783080"/>
            <a:ext cx="3108960" cy="82296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Ninguna semilla llega a la meta.</a:t>
            </a:r>
            <a:endParaRPr lang="en-US" sz="1600" dirty="0"/>
          </a:p>
        </p:txBody>
      </p:sp>
      <p:sp>
        <p:nvSpPr>
          <p:cNvPr id="9" name="Text 5"/>
          <p:cNvSpPr txBox="1"/>
          <p:nvPr/>
        </p:nvSpPr>
        <p:spPr>
          <a:xfrm>
            <a:off x="8595360" y="2743200"/>
            <a:ext cx="3108960" cy="36576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600 k pasos</a:t>
            </a:r>
            <a:endParaRPr lang="en-US" sz="1800" dirty="0"/>
          </a:p>
        </p:txBody>
      </p:sp>
      <p:sp>
        <p:nvSpPr>
          <p:cNvPr id="10" name="Text 6"/>
          <p:cNvSpPr txBox="1"/>
          <p:nvPr/>
        </p:nvSpPr>
        <p:spPr>
          <a:xfrm>
            <a:off x="8595360" y="3154680"/>
            <a:ext cx="3108960" cy="82296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La semilla 2 ya rodea el obstáculo.</a:t>
            </a:r>
            <a:endParaRPr lang="en-US" sz="1600" dirty="0"/>
          </a:p>
        </p:txBody>
      </p:sp>
      <p:sp>
        <p:nvSpPr>
          <p:cNvPr id="11" name="Text 7"/>
          <p:cNvSpPr txBox="1"/>
          <p:nvPr/>
        </p:nvSpPr>
        <p:spPr>
          <a:xfrm>
            <a:off x="8595360" y="4114800"/>
            <a:ext cx="3108960" cy="36576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1 M de pasos</a:t>
            </a:r>
            <a:endParaRPr lang="en-US" sz="1800" dirty="0"/>
          </a:p>
        </p:txBody>
      </p:sp>
      <p:sp>
        <p:nvSpPr>
          <p:cNvPr id="12" name="Text 8"/>
          <p:cNvSpPr txBox="1"/>
          <p:nvPr/>
        </p:nvSpPr>
        <p:spPr>
          <a:xfrm>
            <a:off x="8595360" y="4526280"/>
            <a:ext cx="3108960" cy="82296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También la semilla 0. La semilla 1 sigue sin lograrlo.</a:t>
            </a:r>
            <a:endParaRPr lang="en-US" sz="1600" dirty="0"/>
          </a:p>
        </p:txBody>
      </p:sp>
      <p:sp>
        <p:nvSpPr>
          <p:cNvPr id="13" name="Text 9"/>
          <p:cNvSpPr txBox="1"/>
          <p:nvPr/>
        </p:nvSpPr>
        <p:spPr>
          <a:xfrm>
            <a:off x="8595360" y="5440680"/>
            <a:ext cx="3108960" cy="731520"/>
          </a:xfrm>
          <a:prstGeom prst="rect">
            <a:avLst/>
          </a:prstGeom>
          <a:noFill/>
          <a:ln/>
        </p:spPr>
        <p:txBody>
          <a:bodyPr wrap="square" lIns="0" tIns="0" rIns="0" bIns="0" rtlCol="0" anchor="t"/>
          <a:lstStyle/>
          <a:p>
            <a:pPr indent="0" marL="0">
              <a:buNone/>
            </a:pPr>
            <a:r>
              <a:rPr lang="en-US" sz="1200" dirty="0">
                <a:solidFill>
                  <a:srgbClr val="898781"/>
                </a:solidFill>
                <a:latin typeface="Calibri" pitchFamily="34" charset="0"/>
                <a:ea typeface="Calibri" pitchFamily="34" charset="-122"/>
                <a:cs typeface="Calibri" pitchFamily="34" charset="-120"/>
              </a:rPr>
              <a:t>Escena: cilindro con k = 1.48. Son los puntos guardados de cada corrida, no el entrenamiento en vivo.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Más rápida y con más holgura, pero acierta menos</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11 / 14</a:t>
            </a:r>
            <a:endParaRPr lang="en-US" sz="1100" dirty="0"/>
          </a:p>
        </p:txBody>
      </p:sp>
      <p:pic>
        <p:nvPicPr>
          <p:cNvPr id="5" name="Gráfico de éxito" descr="/home/calebcamargo/UNI/10mo_CICLO/PROYECTO MECATRONICO/docs/presentacion/img/fig_exito.png">    </p:cNvPr>
          <p:cNvPicPr>
            <a:picLocks noChangeAspect="1"/>
          </p:cNvPicPr>
          <p:nvPr/>
        </p:nvPicPr>
        <p:blipFill>
          <a:blip r:embed="rId1"/>
          <a:stretch>
            <a:fillRect/>
          </a:stretch>
        </p:blipFill>
        <p:spPr>
          <a:xfrm>
            <a:off x="573258" y="1371600"/>
            <a:ext cx="5802923" cy="3017520"/>
          </a:xfrm>
          <a:prstGeom prst="rect">
            <a:avLst/>
          </a:prstGeom>
        </p:spPr>
      </p:pic>
      <p:pic>
        <p:nvPicPr>
          <p:cNvPr id="6" name="Gráfico de cómputo y holgura" descr="/home/calebcamargo/UNI/10mo_CICLO/PROYECTO MECATRONICO/docs/presentacion/img/fig_computo_holgura.png">    </p:cNvPr>
          <p:cNvPicPr>
            <a:picLocks noChangeAspect="1"/>
          </p:cNvPicPr>
          <p:nvPr/>
        </p:nvPicPr>
        <p:blipFill>
          <a:blip r:embed="rId2"/>
          <a:stretch>
            <a:fillRect/>
          </a:stretch>
        </p:blipFill>
        <p:spPr>
          <a:xfrm>
            <a:off x="6492240" y="1554937"/>
            <a:ext cx="5166360" cy="2376526"/>
          </a:xfrm>
          <a:prstGeom prst="rect">
            <a:avLst/>
          </a:prstGeom>
        </p:spPr>
      </p:pic>
      <p:sp>
        <p:nvSpPr>
          <p:cNvPr id="7" name="Marca Cómputo"/>
          <p:cNvSpPr/>
          <p:nvPr/>
        </p:nvSpPr>
        <p:spPr>
          <a:xfrm>
            <a:off x="548640" y="4937760"/>
            <a:ext cx="274320" cy="274320"/>
          </a:xfrm>
          <a:prstGeom prst="ellipse">
            <a:avLst/>
          </a:prstGeom>
          <a:solidFill>
            <a:srgbClr val="1A8C3C"/>
          </a:solidFill>
          <a:ln w="12700">
            <a:solidFill>
              <a:srgbClr val="1A8C3C"/>
            </a:solidFill>
            <a:prstDash val="solid"/>
          </a:ln>
        </p:spPr>
      </p:sp>
      <p:sp>
        <p:nvSpPr>
          <p:cNvPr id="8" name="Text 3"/>
          <p:cNvSpPr txBox="1"/>
          <p:nvPr/>
        </p:nvSpPr>
        <p:spPr>
          <a:xfrm>
            <a:off x="1005840" y="4846320"/>
            <a:ext cx="5029200" cy="457200"/>
          </a:xfrm>
          <a:prstGeom prst="rect">
            <a:avLst/>
          </a:prstGeom>
          <a:noFill/>
          <a:ln/>
        </p:spPr>
        <p:txBody>
          <a:bodyPr wrap="square" lIns="0" tIns="0" rIns="0" bIns="0" rtlCol="0" anchor="ctr"/>
          <a:lstStyle/>
          <a:p>
            <a:pPr indent="0" marL="0">
              <a:buNone/>
            </a:pPr>
            <a:r>
              <a:rPr lang="en-US" sz="1900" b="1" dirty="0">
                <a:solidFill>
                  <a:srgbClr val="1B1F24"/>
                </a:solidFill>
                <a:latin typeface="Calibri" pitchFamily="34" charset="0"/>
                <a:ea typeface="Calibri" pitchFamily="34" charset="-122"/>
                <a:cs typeface="Calibri" pitchFamily="34" charset="-120"/>
              </a:rPr>
              <a:t>Cómputo  </a:t>
            </a:r>
            <a:pPr indent="0" marL="0">
              <a:buNone/>
            </a:pPr>
            <a:r>
              <a:rPr lang="en-US" sz="1900" dirty="0">
                <a:solidFill>
                  <a:srgbClr val="52514E"/>
                </a:solidFill>
                <a:latin typeface="Calibri" pitchFamily="34" charset="0"/>
                <a:ea typeface="Calibri" pitchFamily="34" charset="-122"/>
                <a:cs typeface="Calibri" pitchFamily="34" charset="-120"/>
              </a:rPr>
              <a:t>5 veces menor (19 ms contra 98 ms)</a:t>
            </a:r>
            <a:endParaRPr lang="en-US" sz="1900" dirty="0"/>
          </a:p>
        </p:txBody>
      </p:sp>
      <p:sp>
        <p:nvSpPr>
          <p:cNvPr id="9" name="Marca Holgura"/>
          <p:cNvSpPr/>
          <p:nvPr/>
        </p:nvSpPr>
        <p:spPr>
          <a:xfrm>
            <a:off x="6172200" y="4937760"/>
            <a:ext cx="274320" cy="274320"/>
          </a:xfrm>
          <a:prstGeom prst="ellipse">
            <a:avLst/>
          </a:prstGeom>
          <a:solidFill>
            <a:srgbClr val="1A8C3C"/>
          </a:solidFill>
          <a:ln w="12700">
            <a:solidFill>
              <a:srgbClr val="1A8C3C"/>
            </a:solidFill>
            <a:prstDash val="solid"/>
          </a:ln>
        </p:spPr>
      </p:sp>
      <p:sp>
        <p:nvSpPr>
          <p:cNvPr id="10" name="Text 5"/>
          <p:cNvSpPr txBox="1"/>
          <p:nvPr/>
        </p:nvSpPr>
        <p:spPr>
          <a:xfrm>
            <a:off x="6629400" y="4846320"/>
            <a:ext cx="5029200" cy="457200"/>
          </a:xfrm>
          <a:prstGeom prst="rect">
            <a:avLst/>
          </a:prstGeom>
          <a:noFill/>
          <a:ln/>
        </p:spPr>
        <p:txBody>
          <a:bodyPr wrap="square" lIns="0" tIns="0" rIns="0" bIns="0" rtlCol="0" anchor="ctr"/>
          <a:lstStyle/>
          <a:p>
            <a:pPr indent="0" marL="0">
              <a:buNone/>
            </a:pPr>
            <a:r>
              <a:rPr lang="en-US" sz="1900" b="1" dirty="0">
                <a:solidFill>
                  <a:srgbClr val="1B1F24"/>
                </a:solidFill>
                <a:latin typeface="Calibri" pitchFamily="34" charset="0"/>
                <a:ea typeface="Calibri" pitchFamily="34" charset="-122"/>
                <a:cs typeface="Calibri" pitchFamily="34" charset="-120"/>
              </a:rPr>
              <a:t>Holgura  </a:t>
            </a:r>
            <a:pPr indent="0" marL="0">
              <a:buNone/>
            </a:pPr>
            <a:r>
              <a:rPr lang="en-US" sz="1900" dirty="0">
                <a:solidFill>
                  <a:srgbClr val="52514E"/>
                </a:solidFill>
                <a:latin typeface="Calibri" pitchFamily="34" charset="0"/>
                <a:ea typeface="Calibri" pitchFamily="34" charset="-122"/>
                <a:cs typeface="Calibri" pitchFamily="34" charset="-120"/>
              </a:rPr>
              <a:t>7 veces mayor (30 mm contra 4 mm)</a:t>
            </a:r>
            <a:endParaRPr lang="en-US" sz="1900" dirty="0"/>
          </a:p>
        </p:txBody>
      </p:sp>
      <p:sp>
        <p:nvSpPr>
          <p:cNvPr id="11" name="Marca Ejecución"/>
          <p:cNvSpPr/>
          <p:nvPr/>
        </p:nvSpPr>
        <p:spPr>
          <a:xfrm>
            <a:off x="548640" y="5806440"/>
            <a:ext cx="274320" cy="274320"/>
          </a:xfrm>
          <a:prstGeom prst="ellipse">
            <a:avLst/>
          </a:prstGeom>
          <a:solidFill>
            <a:srgbClr val="52514E"/>
          </a:solidFill>
          <a:ln w="12700">
            <a:solidFill>
              <a:srgbClr val="52514E"/>
            </a:solidFill>
            <a:prstDash val="solid"/>
          </a:ln>
        </p:spPr>
      </p:sp>
      <p:sp>
        <p:nvSpPr>
          <p:cNvPr id="12" name="Text 7"/>
          <p:cNvSpPr txBox="1"/>
          <p:nvPr/>
        </p:nvSpPr>
        <p:spPr>
          <a:xfrm>
            <a:off x="1005840" y="5715000"/>
            <a:ext cx="5029200" cy="457200"/>
          </a:xfrm>
          <a:prstGeom prst="rect">
            <a:avLst/>
          </a:prstGeom>
          <a:noFill/>
          <a:ln/>
        </p:spPr>
        <p:txBody>
          <a:bodyPr wrap="square" lIns="0" tIns="0" rIns="0" bIns="0" rtlCol="0" anchor="ctr"/>
          <a:lstStyle/>
          <a:p>
            <a:pPr indent="0" marL="0">
              <a:buNone/>
            </a:pPr>
            <a:r>
              <a:rPr lang="en-US" sz="1900" b="1" dirty="0">
                <a:solidFill>
                  <a:srgbClr val="1B1F24"/>
                </a:solidFill>
                <a:latin typeface="Calibri" pitchFamily="34" charset="0"/>
                <a:ea typeface="Calibri" pitchFamily="34" charset="-122"/>
                <a:cs typeface="Calibri" pitchFamily="34" charset="-120"/>
              </a:rPr>
              <a:t>Ejecución  </a:t>
            </a:r>
            <a:pPr indent="0" marL="0">
              <a:buNone/>
            </a:pPr>
            <a:r>
              <a:rPr lang="en-US" sz="1900" dirty="0">
                <a:solidFill>
                  <a:srgbClr val="52514E"/>
                </a:solidFill>
                <a:latin typeface="Calibri" pitchFamily="34" charset="0"/>
                <a:ea typeface="Calibri" pitchFamily="34" charset="-122"/>
                <a:cs typeface="Calibri" pitchFamily="34" charset="-120"/>
              </a:rPr>
              <a:t>Sin diferencia significativa (p = 0.87)</a:t>
            </a:r>
            <a:endParaRPr lang="en-US" sz="1900" dirty="0"/>
          </a:p>
        </p:txBody>
      </p:sp>
      <p:sp>
        <p:nvSpPr>
          <p:cNvPr id="13" name="Marca Éxito"/>
          <p:cNvSpPr/>
          <p:nvPr/>
        </p:nvSpPr>
        <p:spPr>
          <a:xfrm>
            <a:off x="6172200" y="5806440"/>
            <a:ext cx="274320" cy="274320"/>
          </a:xfrm>
          <a:prstGeom prst="ellipse">
            <a:avLst/>
          </a:prstGeom>
          <a:solidFill>
            <a:srgbClr val="EB6834"/>
          </a:solidFill>
          <a:ln w="12700">
            <a:solidFill>
              <a:srgbClr val="EB6834"/>
            </a:solidFill>
            <a:prstDash val="solid"/>
          </a:ln>
        </p:spPr>
      </p:sp>
      <p:sp>
        <p:nvSpPr>
          <p:cNvPr id="14" name="Text 9"/>
          <p:cNvSpPr txBox="1"/>
          <p:nvPr/>
        </p:nvSpPr>
        <p:spPr>
          <a:xfrm>
            <a:off x="6629400" y="5715000"/>
            <a:ext cx="5029200" cy="457200"/>
          </a:xfrm>
          <a:prstGeom prst="rect">
            <a:avLst/>
          </a:prstGeom>
          <a:noFill/>
          <a:ln/>
        </p:spPr>
        <p:txBody>
          <a:bodyPr wrap="square" lIns="0" tIns="0" rIns="0" bIns="0" rtlCol="0" anchor="ctr"/>
          <a:lstStyle/>
          <a:p>
            <a:pPr indent="0" marL="0">
              <a:buNone/>
            </a:pPr>
            <a:r>
              <a:rPr lang="en-US" sz="1900" b="1" dirty="0">
                <a:solidFill>
                  <a:srgbClr val="1B1F24"/>
                </a:solidFill>
                <a:latin typeface="Calibri" pitchFamily="34" charset="0"/>
                <a:ea typeface="Calibri" pitchFamily="34" charset="-122"/>
                <a:cs typeface="Calibri" pitchFamily="34" charset="-120"/>
              </a:rPr>
              <a:t>Éxito  </a:t>
            </a:r>
            <a:pPr indent="0" marL="0">
              <a:buNone/>
            </a:pPr>
            <a:r>
              <a:rPr lang="en-US" sz="1900" dirty="0">
                <a:solidFill>
                  <a:srgbClr val="52514E"/>
                </a:solidFill>
                <a:latin typeface="Calibri" pitchFamily="34" charset="0"/>
                <a:ea typeface="Calibri" pitchFamily="34" charset="-122"/>
                <a:cs typeface="Calibri" pitchFamily="34" charset="-120"/>
              </a:rPr>
              <a:t>66 % de media (43–87 %) contra 99 %</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Dónde falla y cómo generaliza</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12 / 14</a:t>
            </a:r>
            <a:endParaRPr lang="en-US" sz="1100" dirty="0"/>
          </a:p>
        </p:txBody>
      </p:sp>
      <p:pic>
        <p:nvPicPr>
          <p:cNvPr id="5" name="Éxito por tamaño" descr="/home/calebcamargo/UNI/10mo_CICLO/PROYECTO MECATRONICO/docs/presentacion/img/fig_tamano.png">    </p:cNvPr>
          <p:cNvPicPr>
            <a:picLocks noChangeAspect="1"/>
          </p:cNvPicPr>
          <p:nvPr/>
        </p:nvPicPr>
        <p:blipFill>
          <a:blip r:embed="rId1"/>
          <a:stretch>
            <a:fillRect/>
          </a:stretch>
        </p:blipFill>
        <p:spPr>
          <a:xfrm>
            <a:off x="548640" y="1645920"/>
            <a:ext cx="5852160" cy="2926080"/>
          </a:xfrm>
          <a:prstGeom prst="rect">
            <a:avLst/>
          </a:prstGeom>
        </p:spPr>
      </p:pic>
      <p:sp>
        <p:nvSpPr>
          <p:cNvPr id="6" name="Text 2"/>
          <p:cNvSpPr txBox="1"/>
          <p:nvPr/>
        </p:nvSpPr>
        <p:spPr>
          <a:xfrm>
            <a:off x="548640" y="4892040"/>
            <a:ext cx="5852160" cy="3200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Éxito por tamaño del obstáculo y semilla</a:t>
            </a:r>
            <a:endParaRPr lang="en-US" sz="1200" dirty="0"/>
          </a:p>
        </p:txBody>
      </p:sp>
      <p:sp>
        <p:nvSpPr>
          <p:cNvPr id="7" name="Text 3"/>
          <p:cNvSpPr txBox="1"/>
          <p:nvPr/>
        </p:nvSpPr>
        <p:spPr>
          <a:xfrm>
            <a:off x="6766560" y="1417320"/>
            <a:ext cx="4846320" cy="448056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B1F24"/>
                </a:solidFill>
                <a:latin typeface="Calibri" pitchFamily="34" charset="0"/>
                <a:ea typeface="Calibri" pitchFamily="34" charset="-122"/>
                <a:cs typeface="Calibri" pitchFamily="34" charset="-120"/>
              </a:rPr>
              <a:t>Cae con el tamaño: la semilla 2 pasa de 100 % a 62 % con los obstáculos más grandes.</a:t>
            </a:r>
            <a:endParaRPr lang="en-US" sz="1700" dirty="0"/>
          </a:p>
          <a:p>
            <a:pPr marL="228600" indent="-228600">
              <a:spcAft>
                <a:spcPts val="1000"/>
              </a:spcAft>
              <a:buSzPct val="100000"/>
              <a:buChar char="•"/>
            </a:pPr>
            <a:r>
              <a:rPr lang="en-US" sz="1700" dirty="0">
                <a:solidFill>
                  <a:srgbClr val="1B1F24"/>
                </a:solidFill>
                <a:latin typeface="Calibri" pitchFamily="34" charset="0"/>
                <a:ea typeface="Calibri" pitchFamily="34" charset="-122"/>
                <a:cs typeface="Calibri" pitchFamily="34" charset="-120"/>
              </a:rPr>
              <a:t>Los fallos son tiempo agotado: se queda a 3–7 cm de la meta, casi sin chocar.</a:t>
            </a:r>
            <a:endParaRPr lang="en-US" sz="1700" dirty="0"/>
          </a:p>
          <a:p>
            <a:pPr marL="228600" indent="-228600">
              <a:spcAft>
                <a:spcPts val="1000"/>
              </a:spcAft>
              <a:buSzPct val="100000"/>
              <a:buChar char="•"/>
            </a:pPr>
            <a:r>
              <a:rPr lang="en-US" sz="1700" dirty="0">
                <a:solidFill>
                  <a:srgbClr val="1B1F24"/>
                </a:solidFill>
                <a:latin typeface="Calibri" pitchFamily="34" charset="0"/>
                <a:ea typeface="Calibri" pitchFamily="34" charset="-122"/>
                <a:cs typeface="Calibri" pitchFamily="34" charset="-120"/>
              </a:rPr>
              <a:t>Las semillas coinciden en 43 escenas acertadas y 13 falladas; las otras 44 dependen de la semilla.</a:t>
            </a:r>
            <a:endParaRPr lang="en-US" sz="1700" dirty="0"/>
          </a:p>
          <a:p>
            <a:pPr marL="228600" indent="-228600">
              <a:spcAft>
                <a:spcPts val="1000"/>
              </a:spcAft>
              <a:buSzPct val="100000"/>
              <a:buChar char="•"/>
            </a:pPr>
            <a:r>
              <a:rPr lang="en-US" sz="1700" dirty="0">
                <a:solidFill>
                  <a:srgbClr val="1B1F24"/>
                </a:solidFill>
                <a:latin typeface="Calibri" pitchFamily="34" charset="0"/>
                <a:ea typeface="Calibri" pitchFamily="34" charset="-122"/>
                <a:cs typeface="Calibri" pitchFamily="34" charset="-120"/>
              </a:rPr>
              <a:t>Fuera de distribución: tres obstáculos y utillaje nuevo, 0 % en las tres semillas.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ítulo"/>
          <p:cNvSpPr txBox="1"/>
          <p:nvPr/>
        </p:nvSpPr>
        <p:spPr>
          <a:xfrm>
            <a:off x="548640" y="365760"/>
            <a:ext cx="11094415" cy="822960"/>
          </a:xfrm>
          <a:prstGeom prst="rect">
            <a:avLst/>
          </a:prstGeom>
          <a:noFill/>
          <a:ln/>
        </p:spPr>
        <p:txBody>
          <a:bodyPr wrap="square" lIns="0" tIns="0" rIns="0" bIns="0" rtlCol="0" anchor="t"/>
          <a:lstStyle/>
          <a:p>
            <a:pPr indent="0" marL="0">
              <a:buNone/>
            </a:pPr>
            <a:r>
              <a:rPr lang="en-US" sz="3400" b="1" dirty="0">
                <a:solidFill>
                  <a:srgbClr val="1B1F24"/>
                </a:solidFill>
                <a:latin typeface="Calibri" pitchFamily="34" charset="0"/>
                <a:ea typeface="Calibri" pitchFamily="34" charset="-122"/>
                <a:cs typeface="Calibri" pitchFamily="34" charset="-120"/>
              </a:rPr>
              <a:t>Qué sigue</a:t>
            </a:r>
            <a:endParaRPr lang="en-US" sz="3400" dirty="0"/>
          </a:p>
        </p:txBody>
      </p:sp>
      <p:sp>
        <p:nvSpPr>
          <p:cNvPr id="3" name="Número"/>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13 / 14</a:t>
            </a:r>
            <a:endParaRPr lang="en-US" sz="1100" dirty="0"/>
          </a:p>
        </p:txBody>
      </p:sp>
      <p:sp>
        <p:nvSpPr>
          <p:cNvPr id="5" name="Tarjeta sac_v2a"/>
          <p:cNvSpPr/>
          <p:nvPr/>
        </p:nvSpPr>
        <p:spPr>
          <a:xfrm>
            <a:off x="548640" y="1463040"/>
            <a:ext cx="3566160" cy="2651760"/>
          </a:xfrm>
          <a:prstGeom prst="roundRect">
            <a:avLst>
              <a:gd name="adj" fmla="val 2759"/>
            </a:avLst>
          </a:prstGeom>
          <a:solidFill>
            <a:srgbClr val="F3F4F6"/>
          </a:solidFill>
          <a:ln w="12700">
            <a:solidFill>
              <a:srgbClr val="F3F4F6"/>
            </a:solidFill>
            <a:prstDash val="solid"/>
          </a:ln>
        </p:spPr>
      </p:sp>
      <p:sp>
        <p:nvSpPr>
          <p:cNvPr id="6" name="Text 3"/>
          <p:cNvSpPr txBox="1"/>
          <p:nvPr/>
        </p:nvSpPr>
        <p:spPr>
          <a:xfrm>
            <a:off x="822960" y="1691640"/>
            <a:ext cx="3017520" cy="45720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sac_v2a</a:t>
            </a:r>
            <a:endParaRPr lang="en-US" sz="2600" dirty="0"/>
          </a:p>
        </p:txBody>
      </p:sp>
      <p:sp>
        <p:nvSpPr>
          <p:cNvPr id="7" name="Text 4"/>
          <p:cNvSpPr txBox="1"/>
          <p:nvPr/>
        </p:nvSpPr>
        <p:spPr>
          <a:xfrm>
            <a:off x="822960" y="2286000"/>
            <a:ext cx="3017520" cy="4114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Más peso a lo difícil</a:t>
            </a:r>
            <a:endParaRPr lang="en-US" sz="1800" dirty="0"/>
          </a:p>
        </p:txBody>
      </p:sp>
      <p:sp>
        <p:nvSpPr>
          <p:cNvPr id="8" name="Text 5"/>
          <p:cNvSpPr txBox="1"/>
          <p:nvPr/>
        </p:nvSpPr>
        <p:spPr>
          <a:xfrm>
            <a:off x="822960" y="2788920"/>
            <a:ext cx="3017520" cy="155448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Obstáculos con k de 0.8 a 2.0, con más probabilidad arriba, y sin escenas vacías.</a:t>
            </a:r>
            <a:endParaRPr lang="en-US" sz="1600" dirty="0"/>
          </a:p>
        </p:txBody>
      </p:sp>
      <p:sp>
        <p:nvSpPr>
          <p:cNvPr id="9" name="Tarjeta sac_v2b"/>
          <p:cNvSpPr/>
          <p:nvPr/>
        </p:nvSpPr>
        <p:spPr>
          <a:xfrm>
            <a:off x="4297680" y="1463040"/>
            <a:ext cx="3566160" cy="2651760"/>
          </a:xfrm>
          <a:prstGeom prst="roundRect">
            <a:avLst>
              <a:gd name="adj" fmla="val 2759"/>
            </a:avLst>
          </a:prstGeom>
          <a:solidFill>
            <a:srgbClr val="F3F4F6"/>
          </a:solidFill>
          <a:ln w="12700">
            <a:solidFill>
              <a:srgbClr val="F3F4F6"/>
            </a:solidFill>
            <a:prstDash val="solid"/>
          </a:ln>
        </p:spPr>
      </p:sp>
      <p:sp>
        <p:nvSpPr>
          <p:cNvPr id="10" name="Text 7"/>
          <p:cNvSpPr txBox="1"/>
          <p:nvPr/>
        </p:nvSpPr>
        <p:spPr>
          <a:xfrm>
            <a:off x="4572000" y="1691640"/>
            <a:ext cx="3017520" cy="45720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sac_v2b</a:t>
            </a:r>
            <a:endParaRPr lang="en-US" sz="2600" dirty="0"/>
          </a:p>
        </p:txBody>
      </p:sp>
      <p:sp>
        <p:nvSpPr>
          <p:cNvPr id="11" name="Text 8"/>
          <p:cNvSpPr txBox="1"/>
          <p:nvPr/>
        </p:nvSpPr>
        <p:spPr>
          <a:xfrm>
            <a:off x="4572000" y="2286000"/>
            <a:ext cx="3017520" cy="4114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Recompensa v2</a:t>
            </a:r>
            <a:endParaRPr lang="en-US" sz="1800" dirty="0"/>
          </a:p>
        </p:txBody>
      </p:sp>
      <p:sp>
        <p:nvSpPr>
          <p:cNvPr id="12" name="Text 9"/>
          <p:cNvSpPr txBox="1"/>
          <p:nvPr/>
        </p:nvSpPr>
        <p:spPr>
          <a:xfrm>
            <a:off x="4572000" y="2788920"/>
            <a:ext cx="3017520" cy="155448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Se suma una penalización por quedarse parado cerca de la meta.</a:t>
            </a:r>
            <a:endParaRPr lang="en-US" sz="1600" dirty="0"/>
          </a:p>
        </p:txBody>
      </p:sp>
      <p:sp>
        <p:nvSpPr>
          <p:cNvPr id="13" name="Tarjeta sac_v3"/>
          <p:cNvSpPr/>
          <p:nvPr/>
        </p:nvSpPr>
        <p:spPr>
          <a:xfrm>
            <a:off x="8046720" y="1463040"/>
            <a:ext cx="3566160" cy="2651760"/>
          </a:xfrm>
          <a:prstGeom prst="roundRect">
            <a:avLst>
              <a:gd name="adj" fmla="val 2759"/>
            </a:avLst>
          </a:prstGeom>
          <a:solidFill>
            <a:srgbClr val="F3F4F6"/>
          </a:solidFill>
          <a:ln w="12700">
            <a:solidFill>
              <a:srgbClr val="F3F4F6"/>
            </a:solidFill>
            <a:prstDash val="solid"/>
          </a:ln>
        </p:spPr>
      </p:sp>
      <p:sp>
        <p:nvSpPr>
          <p:cNvPr id="14" name="Text 11"/>
          <p:cNvSpPr txBox="1"/>
          <p:nvPr/>
        </p:nvSpPr>
        <p:spPr>
          <a:xfrm>
            <a:off x="8321040" y="1691640"/>
            <a:ext cx="3017520" cy="45720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sac_v3</a:t>
            </a:r>
            <a:endParaRPr lang="en-US" sz="2600" dirty="0"/>
          </a:p>
        </p:txBody>
      </p:sp>
      <p:sp>
        <p:nvSpPr>
          <p:cNvPr id="15" name="Text 12"/>
          <p:cNvSpPr txBox="1"/>
          <p:nvPr/>
        </p:nvSpPr>
        <p:spPr>
          <a:xfrm>
            <a:off x="8321040" y="2286000"/>
            <a:ext cx="3017520" cy="411480"/>
          </a:xfrm>
          <a:prstGeom prst="rect">
            <a:avLst/>
          </a:prstGeom>
          <a:noFill/>
          <a:ln/>
        </p:spPr>
        <p:txBody>
          <a:bodyPr wrap="square" lIns="0" tIns="0" rIns="0" bIns="0" rtlCol="0" anchor="ctr"/>
          <a:lstStyle/>
          <a:p>
            <a:pPr indent="0" marL="0">
              <a:buNone/>
            </a:pPr>
            <a:r>
              <a:rPr lang="en-US" sz="1800" b="1" dirty="0">
                <a:solidFill>
                  <a:srgbClr val="1B1F24"/>
                </a:solidFill>
                <a:latin typeface="Calibri" pitchFamily="34" charset="0"/>
                <a:ea typeface="Calibri" pitchFamily="34" charset="-122"/>
                <a:cs typeface="Calibri" pitchFamily="34" charset="-120"/>
              </a:rPr>
              <a:t>Obstáculos variados</a:t>
            </a:r>
            <a:endParaRPr lang="en-US" sz="1800" dirty="0"/>
          </a:p>
        </p:txBody>
      </p:sp>
      <p:sp>
        <p:nvSpPr>
          <p:cNvPr id="16" name="Text 13"/>
          <p:cNvSpPr txBox="1"/>
          <p:nvPr/>
        </p:nvSpPr>
        <p:spPr>
          <a:xfrm>
            <a:off x="8321040" y="2788920"/>
            <a:ext cx="3017520" cy="1554480"/>
          </a:xfrm>
          <a:prstGeom prst="rect">
            <a:avLst/>
          </a:prstGeom>
          <a:noFill/>
          <a:ln/>
        </p:spPr>
        <p:txBody>
          <a:bodyPr wrap="square" lIns="0" tIns="0" rIns="0" bIns="0" rtlCol="0" anchor="t"/>
          <a:lstStyle/>
          <a:p>
            <a:pPr indent="0" marL="0">
              <a:buNone/>
            </a:pPr>
            <a:r>
              <a:rPr lang="en-US" sz="1600" dirty="0">
                <a:solidFill>
                  <a:srgbClr val="52514E"/>
                </a:solidFill>
                <a:latin typeface="Calibri" pitchFamily="34" charset="0"/>
                <a:ea typeface="Calibri" pitchFamily="34" charset="-122"/>
                <a:cs typeface="Calibri" pitchFamily="34" charset="-120"/>
              </a:rPr>
              <a:t>Varios obstáculos y más formas, para mejorar la generalización.</a:t>
            </a:r>
            <a:endParaRPr lang="en-US" sz="1600" dirty="0"/>
          </a:p>
        </p:txBody>
      </p:sp>
      <p:sp>
        <p:nvSpPr>
          <p:cNvPr id="17" name="Text 14"/>
          <p:cNvSpPr txBox="1"/>
          <p:nvPr/>
        </p:nvSpPr>
        <p:spPr>
          <a:xfrm>
            <a:off x="548640" y="4480560"/>
            <a:ext cx="10972800" cy="164592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rgbClr val="1B1F24"/>
                </a:solidFill>
                <a:latin typeface="Calibri" pitchFamily="34" charset="0"/>
                <a:ea typeface="Calibri" pitchFamily="34" charset="-122"/>
                <a:cs typeface="Calibri" pitchFamily="34" charset="-120"/>
              </a:rPr>
              <a:t>Cada experimento con 3 semillas y selección por validación (200 escenas).</a:t>
            </a:r>
            <a:endParaRPr lang="en-US" sz="2200" dirty="0"/>
          </a:p>
          <a:p>
            <a:pPr marL="228600" indent="-228600">
              <a:spcAft>
                <a:spcPts val="1000"/>
              </a:spcAft>
              <a:buSzPct val="100000"/>
              <a:buChar char="•"/>
            </a:pPr>
            <a:r>
              <a:rPr lang="en-US" sz="2200" dirty="0">
                <a:solidFill>
                  <a:srgbClr val="1B1F24"/>
                </a:solidFill>
                <a:latin typeface="Calibri" pitchFamily="34" charset="0"/>
                <a:ea typeface="Calibri" pitchFamily="34" charset="-122"/>
                <a:cs typeface="Calibri" pitchFamily="34" charset="-120"/>
              </a:rPr>
              <a:t>Después: 5 semillas para afianzar la media y, más adelante, el robot real.</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24"/>
        </a:solidFill>
      </p:bgPr>
    </p:bg>
    <p:spTree>
      <p:nvGrpSpPr>
        <p:cNvPr id="1" name=""/>
        <p:cNvGrpSpPr/>
        <p:nvPr/>
      </p:nvGrpSpPr>
      <p:grpSpPr>
        <a:xfrm>
          <a:off x="0" y="0"/>
          <a:ext cx="0" cy="0"/>
          <a:chOff x="0" y="0"/>
          <a:chExt cx="0" cy="0"/>
        </a:xfrm>
      </p:grpSpPr>
      <p:sp>
        <p:nvSpPr>
          <p:cNvPr id="2" name="Título"/>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Conclusiones</a:t>
            </a:r>
            <a:endParaRPr lang="en-US" sz="3600" dirty="0"/>
          </a:p>
        </p:txBody>
      </p:sp>
      <p:sp>
        <p:nvSpPr>
          <p:cNvPr id="3" name="Text 1"/>
          <p:cNvSpPr txBox="1"/>
          <p:nvPr/>
        </p:nvSpPr>
        <p:spPr>
          <a:xfrm>
            <a:off x="548640" y="1645920"/>
            <a:ext cx="731520" cy="73152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1</a:t>
            </a:r>
            <a:endParaRPr lang="en-US" sz="4000" dirty="0"/>
          </a:p>
        </p:txBody>
      </p:sp>
      <p:sp>
        <p:nvSpPr>
          <p:cNvPr id="4" name="Text 2"/>
          <p:cNvSpPr txBox="1"/>
          <p:nvPr/>
        </p:nvSpPr>
        <p:spPr>
          <a:xfrm>
            <a:off x="1463040" y="1645920"/>
            <a:ext cx="100584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Rápida y con holgura</a:t>
            </a:r>
            <a:endParaRPr lang="en-US" sz="2400" dirty="0"/>
          </a:p>
        </p:txBody>
      </p:sp>
      <p:sp>
        <p:nvSpPr>
          <p:cNvPr id="5" name="Text 3"/>
          <p:cNvSpPr txBox="1"/>
          <p:nvPr/>
        </p:nvSpPr>
        <p:spPr>
          <a:xfrm>
            <a:off x="1463040" y="2148840"/>
            <a:ext cx="10058400" cy="822960"/>
          </a:xfrm>
          <a:prstGeom prst="rect">
            <a:avLst/>
          </a:prstGeom>
          <a:noFill/>
          <a:ln/>
        </p:spPr>
        <p:txBody>
          <a:bodyPr wrap="square" lIns="0" tIns="0" rIns="0" bIns="0" rtlCol="0" anchor="t"/>
          <a:lstStyle/>
          <a:p>
            <a:pPr indent="0" marL="0">
              <a:buNone/>
            </a:pPr>
            <a:r>
              <a:rPr lang="en-US" sz="1800" dirty="0">
                <a:solidFill>
                  <a:srgbClr val="C9C8C0"/>
                </a:solidFill>
                <a:latin typeface="Calibri" pitchFamily="34" charset="0"/>
                <a:ea typeface="Calibri" pitchFamily="34" charset="-122"/>
                <a:cs typeface="Calibri" pitchFamily="34" charset="-120"/>
              </a:rPr>
              <a:t>La política calcula 5 veces más rápido (19 ms contra 98 ms) y deja 7 veces más distancia al obstáculo (30 mm contra 4 mm).</a:t>
            </a:r>
            <a:endParaRPr lang="en-US" sz="1800" dirty="0"/>
          </a:p>
        </p:txBody>
      </p:sp>
      <p:sp>
        <p:nvSpPr>
          <p:cNvPr id="6" name="Text 4"/>
          <p:cNvSpPr txBox="1"/>
          <p:nvPr/>
        </p:nvSpPr>
        <p:spPr>
          <a:xfrm>
            <a:off x="548640" y="3063240"/>
            <a:ext cx="731520" cy="73152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2</a:t>
            </a:r>
            <a:endParaRPr lang="en-US" sz="4000" dirty="0"/>
          </a:p>
        </p:txBody>
      </p:sp>
      <p:sp>
        <p:nvSpPr>
          <p:cNvPr id="7" name="Text 5"/>
          <p:cNvSpPr txBox="1"/>
          <p:nvPr/>
        </p:nvSpPr>
        <p:spPr>
          <a:xfrm>
            <a:off x="1463040" y="3063240"/>
            <a:ext cx="100584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Menos fiable</a:t>
            </a:r>
            <a:endParaRPr lang="en-US" sz="2400" dirty="0"/>
          </a:p>
        </p:txBody>
      </p:sp>
      <p:sp>
        <p:nvSpPr>
          <p:cNvPr id="8" name="Text 6"/>
          <p:cNvSpPr txBox="1"/>
          <p:nvPr/>
        </p:nvSpPr>
        <p:spPr>
          <a:xfrm>
            <a:off x="1463040" y="3566160"/>
            <a:ext cx="10058400" cy="822960"/>
          </a:xfrm>
          <a:prstGeom prst="rect">
            <a:avLst/>
          </a:prstGeom>
          <a:noFill/>
          <a:ln/>
        </p:spPr>
        <p:txBody>
          <a:bodyPr wrap="square" lIns="0" tIns="0" rIns="0" bIns="0" rtlCol="0" anchor="t"/>
          <a:lstStyle/>
          <a:p>
            <a:pPr indent="0" marL="0">
              <a:buNone/>
            </a:pPr>
            <a:r>
              <a:rPr lang="en-US" sz="1800" dirty="0">
                <a:solidFill>
                  <a:srgbClr val="C9C8C0"/>
                </a:solidFill>
                <a:latin typeface="Calibri" pitchFamily="34" charset="0"/>
                <a:ea typeface="Calibri" pitchFamily="34" charset="-122"/>
                <a:cs typeface="Calibri" pitchFamily="34" charset="-120"/>
              </a:rPr>
              <a:t>Acierta 66 % de media (43–87 % según la semilla) frente a 99 % de los planificadores: la variabilidad entre semillas es el gran reto.</a:t>
            </a:r>
            <a:endParaRPr lang="en-US" sz="1800" dirty="0"/>
          </a:p>
        </p:txBody>
      </p:sp>
      <p:sp>
        <p:nvSpPr>
          <p:cNvPr id="9" name="Text 7"/>
          <p:cNvSpPr txBox="1"/>
          <p:nvPr/>
        </p:nvSpPr>
        <p:spPr>
          <a:xfrm>
            <a:off x="548640" y="4480560"/>
            <a:ext cx="731520" cy="73152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3</a:t>
            </a:r>
            <a:endParaRPr lang="en-US" sz="4000" dirty="0"/>
          </a:p>
        </p:txBody>
      </p:sp>
      <p:sp>
        <p:nvSpPr>
          <p:cNvPr id="10" name="Text 8"/>
          <p:cNvSpPr txBox="1"/>
          <p:nvPr/>
        </p:nvSpPr>
        <p:spPr>
          <a:xfrm>
            <a:off x="1463040" y="4480560"/>
            <a:ext cx="100584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Camino de mejora claro</a:t>
            </a:r>
            <a:endParaRPr lang="en-US" sz="2400" dirty="0"/>
          </a:p>
        </p:txBody>
      </p:sp>
      <p:sp>
        <p:nvSpPr>
          <p:cNvPr id="11" name="Text 9"/>
          <p:cNvSpPr txBox="1"/>
          <p:nvPr/>
        </p:nvSpPr>
        <p:spPr>
          <a:xfrm>
            <a:off x="1463040" y="4983480"/>
            <a:ext cx="10058400" cy="822960"/>
          </a:xfrm>
          <a:prstGeom prst="rect">
            <a:avLst/>
          </a:prstGeom>
          <a:noFill/>
          <a:ln/>
        </p:spPr>
        <p:txBody>
          <a:bodyPr wrap="square" lIns="0" tIns="0" rIns="0" bIns="0" rtlCol="0" anchor="t"/>
          <a:lstStyle/>
          <a:p>
            <a:pPr indent="0" marL="0">
              <a:buNone/>
            </a:pPr>
            <a:r>
              <a:rPr lang="en-US" sz="1800" dirty="0">
                <a:solidFill>
                  <a:srgbClr val="C9C8C0"/>
                </a:solidFill>
                <a:latin typeface="Calibri" pitchFamily="34" charset="0"/>
                <a:ea typeface="Calibri" pitchFamily="34" charset="-122"/>
                <a:cs typeface="Calibri" pitchFamily="34" charset="-120"/>
              </a:rPr>
              <a:t>Los fallos se concentran en obstáculos grandes y en la precisión final: ahí se dirigen los siguientes entrenamientos.</a:t>
            </a:r>
            <a:endParaRPr lang="en-US" sz="1800" dirty="0"/>
          </a:p>
        </p:txBody>
      </p:sp>
      <p:sp>
        <p:nvSpPr>
          <p:cNvPr id="12" name="Text 10"/>
          <p:cNvSpPr txBox="1"/>
          <p:nvPr/>
        </p:nvSpPr>
        <p:spPr>
          <a:xfrm>
            <a:off x="548640" y="6126480"/>
            <a:ext cx="5486400" cy="457200"/>
          </a:xfrm>
          <a:prstGeom prst="rect">
            <a:avLst/>
          </a:prstGeom>
          <a:noFill/>
          <a:ln/>
        </p:spPr>
        <p:txBody>
          <a:bodyPr wrap="square" lIns="0" tIns="0" rIns="0" bIns="0" rtlCol="0" anchor="ctr"/>
          <a:lstStyle/>
          <a:p>
            <a:pPr indent="0" marL="0">
              <a:buNone/>
            </a:pPr>
            <a:r>
              <a:rPr lang="en-US" sz="2000" b="1" dirty="0">
                <a:solidFill>
                  <a:srgbClr val="EB6834"/>
                </a:solidFill>
                <a:latin typeface="Calibri" pitchFamily="34" charset="0"/>
                <a:ea typeface="Calibri" pitchFamily="34" charset="-122"/>
                <a:cs typeface="Calibri" pitchFamily="34" charset="-120"/>
              </a:rPr>
              <a:t>Preguntas</a:t>
            </a:r>
            <a:endParaRPr lang="en-US" sz="2000" dirty="0"/>
          </a:p>
        </p:txBody>
      </p:sp>
      <p:sp>
        <p:nvSpPr>
          <p:cNvPr id="13" name="Text 11"/>
          <p:cNvSpPr txBox="1"/>
          <p:nvPr/>
        </p:nvSpPr>
        <p:spPr>
          <a:xfrm>
            <a:off x="10545775" y="6400800"/>
            <a:ext cx="1097280" cy="27432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14 / 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Evasión de obstáculos con un manipulador de 6 GDL: planificación clásica frente a RL</dc:title>
  <dc:subject>PptxGenJS Presentation</dc:subject>
  <dc:creator>Caleb Camargo y Leonardo</dc:creator>
  <cp:lastModifiedBy>Caleb Camargo y Leonardo</cp:lastModifiedBy>
  <cp:revision>1</cp:revision>
  <dcterms:created xsi:type="dcterms:W3CDTF">2026-10-15T00:33:15Z</dcterms:created>
  <dcterms:modified xsi:type="dcterms:W3CDTF">2026-10-15T00:33:15Z</dcterms:modified>
</cp:coreProperties>
</file>